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4" r:id="rId25"/>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framing before I start. This is a progress report on one arm of PPFDaaS — the transciphering arm — not the whole project. I'll spend the first half on architecture, because that's where the design decisions live, and the second half on what I actually measured.
Three things I want you to take away: the client side is done and measured, the server-side pipeline is correct end to end at toy scale, and the memory number we've been planning around turns out to be unsupported.
Likely question — "is this in the Indocrypt draft?" Yes, this arm is scoped in. Amiya is co-writing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context and then I move on. PPFDaaS is the fraud-scoring pipeline: client encrypts, server runs a model on ciphertext, only the client can read the score. That part is built and benchmarked.
What I'm working on now is the first box only — the client's encryption step. Everything to the right of it stays the same in principle. I say "in principle" deliberately, and I'll come back to why on slide 16.
Likely question — "is the rest of PPFDaaS on hold?" No. This is an additive arm; the existing CKKS path still works and is still the baseline we measure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here, both measured on my own machine.
262 kilobytes to carry a handful of transaction values. That size comes entirely from the encryption parameters — the formula on screen has no payload term in it. Putting less data in does not make it smaller.
The second number is the one I care about more: nearly three milliseconds of client CPU just to encode and encrypt, per record. Our stated client is a branch terminal or a phone. That is the constraint that motivates everything after this slide.
Likely question — "why not just pick smaller parameters?" Because the parameters are set by the depth the fraud model needs, not by the upload. We can't shrink them without breaking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sentence: don't upload homomorphic ciphertexts at all.
The client encrypts with an ordinary stream cipher — output roughly the size of the data. Separately, once, it sends its symmetric key encrypted under homomorphic encryption. The server now holds a small ciphertext and an encrypted copy of the key that opens it, so it can run the decryption inside homomorphic encryption and end up holding the HE ciphertext itself.
The important framing: the cost is moved, not removed. The server now does everything the client used to do, plus conversion work. That's the right trade when the client is thin and the server is a datacentre — but it is a trade, and most of this talk is about its price.
Likely question — "does the server learn anything?" No. It only ever holds an encrypted key and encrypted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has to run the cipher's decryption while everything is still encrypted, and that changes the cost model completely. Adding is nearly free inside HE. Multiplying is expensive, and multiplications in sequence eat a fixed budget — run out and the ciphertext is unusable.
So the metric is depth. AES was designed for CPUs where none of that applies, and evaluating it homomorphically is famously miserable. HERA was designed against this cost model instead: one expensive step per round, five rounds, sixteen-element state.
The bottom box is HERA's neat trick. Randomness normally goes into the mixing step, which is costly; HERA puts it in the key schedule where it's almost free.
Correction from the last version: this is five rounds, not four. RtFHeraParams[3] ("128as", the 128-bit target) runs numRound=5 — confirmed both in the ckks_fv source comment and in the six-checkpoint round trace (round_0 through round_5). The client module at tools/transciphering hard-codes HeraRounds=4, which is a config mismatch against the 128-bit requirement — see slide 11.
Likely question — "why should I believe that's still secure?" That's from the HERA paper's own analysis, not something I've verified — it's tagged as source, not as my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everything else is detail.
HERA is a stream cipher. It makes a keystream from the key and a public nonce, and encryption is data plus keystream. Notice what's missing: the keystream never depends on the data. So the server can generate the encrypted keystream before any record exists — and that's where all the expense sits.
When a record actually arrives, homomorphic decryption is one subtraction, plus the repair step. That's it.
Practically: you run the left panel during idle capacity and amortise it.
Likely question — "how many records does one keystream cover?" One keystream block per record batch; you generate as many as you expect to need. I haven't measured the regeneration cadence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schemes looks like accidental complexity. It isn't.
Ciphers need exact integer arithmetic with wraparound — that wraparound is part of what makes a cipher hard to invert. You can't build one out of smooth decimal arithmetic. So the cipher runs in FV. Our fraud model needs decimals — weights, scores — so that's CKKS.
The bridge is cheap for a nice reason: both schemes store ciphertexts in the same container format under the same key. Switching is a relabel. Think of one file two programs can open with different conventions.
Likely question — "genuinely zero cost?" Zero homomorphic operations. There's a scale bookkeeping step, but no ciphertext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arrange values inside one ciphertext. Coefficient layout is the order data is written in; slot layout is the order the model reads in. Row-major versus column-major is a fair analogy.
Three facts collide. The client writes coefficient layout because placing numbers costs it literally nothing. The fraud model can only read slot layout. And the keystream comes out of HERA in slot layout.
So something has to move, twice: the keystream is pushed into coefficient layout offline so it lines up with data as it arrives, and after the subtraction the data is pushed into slot layout for the model.
You don't need to know how the rearranging works to follow the rest of this. You do need to know it isn't free — it's a large part of the memory number on slide 14.
Likely question — "which direction dominates?" The offline one, on current evidence. But the per-level matrix precompute is the part I measured, not the runtime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subtraction the ciphertext is technically correct but used up — no budget left to compute with, and the model hasn't started. There's a standard, well-known, expensive repair that restores that budget, and it runs in four stages.
Stage 2 moves data into slot layout. Stage 4 moves it back, because normal callers expect it that way. We don't — we want slot layout, because that's what the model reads. So we stop after stage 3. That's what "half" means.
This is the neatest thing in the design. In ordinary use those two layout moves are pure overhead, a tax you pay to get your budget back. Here one of them is doing a job we needed anyway.
Likely question — "so layout conversion is free?" The stage-2 conversion comes bundled, yes. The offline keystream conversion is separate and is not free — that's the 4 GB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like you to interrogate. Three phase bands down the page, two actors across.
Phase 1, once per session: the client encrypts its HERA key under homomorphic encryption and uploads it. That's the only HE-sized upload in the system, and the server never learns the key.
Phase 2, offline. I've drawn the client explicitly idle because that idleness is the point — this happens before any data exists. The server evaluates HERA homomorphically, which comes out in slot layout, then rearranges into coefficient layout so it lines up with data as it arrives. Output is an encrypted keystream, sitting there, one fresh block per record — a keystream is never reused across two records.
Phase 3, per record. The client symmetric-encrypts — that's the ~1 KB crossing the boundary. The server subtracts the keystream; that subtraction *is* the homomorphic decryption. Then relabel FV as CKKS, which costs nothing. Then HalfBoot, which restores headroom and lands us in slot layout. Then the model runs exactly as it would have. Score goes back encrypted.
Read the right-hand tags to follow scheme and layout at each point. Ochre fill means expensive-and-precomputed; white means cheap-per-record; dashed means no computation.
Likely question — "why is the rearrange in phase 2 rather than after the subtraction?" Because moving the keystream is data-independent and moving the data isn't. Doing it offline is the whole reason the online path is one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side is done. Go module in tools/transciphering, HERA-16, now r = 5 to match 128as, pushed to main.
1.10 ms to encrypt a single record, 17.5 ms for a sixteen-lane batch, and the upload goes from 262 kilobytes to just over a kilobyte. That's the 249× figure, and it's the one clean win in this talk.
Everything on this slide is measured on my machine — that's what the tag means.
Fixed from the last version: HeraRounds was 4, the 128-bit target needs 5. I bumped it and re-ran both timing benchmarks. Bandwidth is exactly unchanged (1,052 B, 249×), as predicted, since stream-cipher output length never depended on round count — that was the sanity check, and it passed.
A caveat on the new numbers themselves: the raw single-record time moved more than the +20% the round-count math alone predicts (4/5 of the AES-based round-key derivations, which dominate the cost, is a ~1.2× ratio). I isolated this by re-running the unmodified r=4 code on this same machine, right now, before trusting the jump: r=4 measured 0.93 ms here today, not the 0.51 ms saved in results/hera_bench_lane1.json from whenever that was last run. Same-machine, same-moment, the r=4-to-r=5 ratio is ~1.18-1.2×, matching the round-count math. The larger jump against the old saved number is the host running slower today, not the round-count change — this repo has flagged CPU-governor/load variance on this host before. Both r=4 and r=5 numbers are kept in PROJECT_STATE.md with this noted.
A second, more important caveat: the round-constant table (heraRC) this module uses for the MixColumns step only had 4 rows — a fixed public table, sourced from Cho et al.'s Table 3. Rounds don't come with a 5th row for free; I don't have that source, so I did not fabricate a citation for round 5. I added an explicitly-flagged unsourced placeholder row instead — non-zero, so the benchmark doesn't silently collapse to a degenerate all-zero round (which is what a Go zero-fill would have done, and it wouldn't have changed the timing at all, which is exactly why this is easy to miss). It's fine for what this slide measures — wall-clock cost doesn't depend on the constant values, only on the arithmetic shape — but it's not fine for correctness, and correctness was already PENDING here: this module's round-constant scheme is a fixed table, ckks_fv's is nonce-derived via SHAKE256. The two don't interoperate yet regardless of round count. Flagging both gaps in code comments; real Table-3 values or a reconciled scheme are needed before this module is more than a timing benchmark.
The ~9.0× line. That's HERA-16 single-record encrypt (1.10 ms, r=5) against a fresh re-run of the plain-CKKS client encode+encrypt benchmark (the one behind the 2,933 µs figure on slide 3) — both measured today, same host, same session, back to back, Chrome closed. Plain CKKS came out to 9.8 ms mean / 10.5 ms median for the 160-bit chain (artifacts/e2e_latency_breakdown.json). 9,842.7 / 1,096.3 ≈ 8.98×; median-on-median gives 9.11×. Stating ~9.0×.
I want to be direct about why I'm not just quoting 2,933 µs against 1.10 ms: that would be a 2.7× number and it would be wrong, or at least not defensible, because those two numbers were measured on different days on a shared host under unknown and almost certainly different load. I ran this comparison twice, on purpose: once with Chrome open (load avg 5.5, CPU clocked ~1 GHz against a 3.6-4.9 GHz max) and once — this version — with Chrome closed (load avg dropped to ~1). The absolute plain-CKKS number barely moved between the two runs (10.8 ms median with Chrome open, 10.5 ms with it closed) — closing Chrome helped less than expected, because the powersave governor (no root here, can't change it) was already clamping clock speed to roughly the same low floor either way; Chrome was contention on top of that floor, not the floor itself. The ratio moved from ~9.4× to ~9.0×, a ~5% shift — small enough that I trust it as the stable number, and large enough that I wouldn't trust either raw absolute number without the other one next to it. That's the whole reason the ratio is the artifact here, not either raw number, and why I re-ran it rather than just edit the label when Chrome was closed.
Likely question — "does the batch scale linearly?" Roughly, over the range I tested. I haven't pushed it past sixteen lanes.
Likely question — "why did the client ship r = 4 in the first place?" It was set before 80as was ruled out of scope (see slide 18); 80as and 128as differ in round count. Now fixed — see above.
Likely question — "why not re-run under the performance governor to get a clean number?" No root in this environment — see AUDIT.md Phase 1, and the governor_caveat that's been on e2e_latency_breakdown.json since it was first written. Not new to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this one, because it changes what the task actually is.
The work was framed as fixing a library or build issue in the KAIST fork. I went and checked. The fork's go.mod declares Go 1.13, which is what makes people assume it won't build — but under Go 1.25 it compiles with zero source changes. go vet exits clean, go test -c exits clean.
So there is no build problem. The only blocker was ever memory. I've pinned the checkout to a specific SHA with a fetch script and build notes so anyone can reproduce that in one command.
Likely question — "are you sure you built the right thing?" The pinned SHA and the fetch script are in the repo; the toy run on the next slide exercises the same checkout end to end, so it isn't just compiling, it's producing correct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I'm most confident about. I built a shrunk copy of the 128as parameter set — ring dimension down from LogN 16 to LogN 10, but every modulus reused unchanged, so the arithmetic structure is identical and only the ring size changed.
Then I ran the whole server-side path: homomorphic HERA in BFV, HalfBoot, the FV-to-CKKS repack, and a CKKS circuit evaluation. Max absolute error came out at 2.1e-5 against a 5e-2 tolerance. Peak memory 275 megabytes.
Correction from the last version: that fourth stage evaluated a trivial 2x+1 circuit, not the fraud model — I'd overstated it as "CKKS model evaluation" before. The box now says what actually ran. Running the real fraud circuit through this same toy harness is on the priority list (slide 18).
The significance is that the architecture is validated. Every conversion, every layout move, the whole shape of it — it works. What's left is making it fit on a machine, and then plugging in the real model.
Likely question — "does correctness at LogN 10 imply correctness at LogN 16?" Not formally. It rules out structural errors in the pipeline, which is what was actually in doubt. 80as is no longer a caveat here — it's out of scope entirely, since the Indocrypt submission requires 128-bit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instrumented the pinned checkout directly rather than re-deriving the estimate, and it corrected the prior number on both of its factors.
The old anchor was "roughly 364 Galois keys, about 10 GB". Measured: twenty distinct Galois keys. Once you account for the RNS digit count the old estimate left out, that's about 3.2 to 3.5 GB of derived key material — meaningful, but not the dominant cost.
Then something nobody had measured showed up: the layout-conversion matrix precompute, about 4 GB, re-encoded once per RNS level — around twenty-four times — and held resident for the whole run. That one is structural. No amount of Galois-key tuning touches it.
So about 7.5 GB is now explained. The rest is attributed to hera.Crypt, which is where the process was killed, and which I have not instrumented. That's the point of the bar: the 60 GB figure has never had a measurement behind it.
Likely question — "so what is the real number?" I don't know yet. Next slide is my estimate, and it's tagged as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the old scaling estimate — that extrapolation is superseded now that we have the direct measurement, and it's worth saying explicitly that the extrapolation overshot: it predicted 16-19 GB, the actual peak was 9.54 GB.
What's on screen now is the finding I actually didn't expect. Same run, same instrumentation, two different questions — where's the memory, where's the time — and they point at completely different stages. Memory: 97% setup, 3% hera.Crypt. Runtime: 30% setup, 70% hera.Crypt. The stage everyone blamed for the memory problem turns out to be almost irrelevant to memory and dominant in time.
Inside hera.Crypt itself, it's even more concentrated than the round-level split suggests: the cube step — the S-box, the only nonlinear operation per round — is 47.5 of the 51.8 seconds, 92%. linlayer and modswitch are sub-second every round. Five rounds, one expensive step each, and that one step is basically the whole cost.
Caveat worth knowing but not worth slide space: heap_alloc peaked at 10.8 GB, above the 9.54 GB VmHWM, with swap at zero. That rules out paging as the explanation. My working hypothesis is lazily-faulted pages — Go allocates polynomials at full limb count up front but some of that memory is never written, so it shows up in HeapAlloc without ever becoming resident RSS. Tagged as hypothesis, not measured.
Likely question — "does this mean hera.Crypt doesn't matter?" No — it means it doesn't matter for memory. It's 70% of wall-clock time, which is exactly why the cube step deserves the next round of optimization work, not the setup phase.
Likely question — "why is cube so much slower than everything else?" It's the only nonlinear step — two chained ciphertext-ciphertext multiplications per round, each followed by relinearization. Everything else in the round is additions or a public linear transform, both cheap in FV.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caveat I most want on the record, and it matters more than the memory question.
Transciphering does not bolt a stage onto the front of an existing pipeline. HalfBoot only works at much larger encryption parameters — so adopting it moves everything downstream, fraud model included, onto a bigger and slower setting. That's a permanent per-operation tax on work we're already doing, and it's easy to overlook because the 249× headline sits on the client side.
The counterargument is real and I'm not dismissing it: the larger setting has far more SIMD slots, so you can score many more transactions per ciphertext. It's plausible that batching earns the penalty back several times over.
I don't know which way it goes. My honest framing is that this may be a throughput optimisation dressed as a bandwidth optimisation — and that's a question the benchmark answers, not one I can argue.
Likely question — "can we keep the old pipeline for small volumes?" Probably, as two deployment modes. But that's a decision for after we have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changed completely since the last version. Item one from before — instrument hera.Crypt — is done; that's the last several slides. Item two from before — toy-validate 80as — is gone entirely, not deferred: the Indocrypt submission is 128-bit only, so 80as is out of scope, full stop.
One, now: run the cloud benchmark — but the framing has flipped. The question used to be "does this run at all." Now it's "do we even need cloud," because the full-scale path already completes in 74 seconds on the 15 GB host I already have. Confirm that before spending anything on an instance.
Two: the breakeven table. Every cell is still PENDING. No end-to-end HHE-vs-plain-CKKS comparison exists yet, and that's the number the paper actually needs.
Three: batched-reduction correctness at 256-slot blocks. Everything verified so far — the toy run on slide 13, the full-scale run on slides 14 and 15 — is single-block. Batching across slots is a different code path and it hasn't been exercised.
Four: run the real fraud circuit in the toy harness. The toy harness proves the pipeline shape works; it does that with a trivial 2x+1 circuit, not the model. This is what turns architectural validation into a validated result.
Likely question — "why did 80as disappear instead of dropping to a lower priority?" Because it's not a timing decision, it's a scope decision — the paper doesn't need it, so toy-validating it would be effort spent on the wrong parameter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ask changed completely since the last version — last time I was asking for time to measure before we spent on cloud. That measurement is done now, so the ask is different.
First: no cloud instance is needed. The full-scale path — LogN 16, 128as, the actual parameter set — completes in 74 seconds on the 15 GB host I already have. That's not an estimate, it's what happened when I ran it. There's nothing to provision.
Second: the preflight gate in run_benchmark.sh needs fixing regardless of whether we ever use it. It currently refuses to start below roughly 90 GB — 9.4 times the measured peak. As written, it would reject a job that already runs on my laptop-class host. I'd like to revise that number before it costs anyone a debugging session.
That's the whole ask, and it's smaller than last time. Happy to take questions — and I'd particularly welcome pushback on slide 17, the architectural cost, because that's where I'm least sure my framing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this finding didn't have a home in the last version, and it closes a gap the deck otherwise leaves open: does the client's feature precision actually survive being pushed through a fixed-point HE pipeline?
I quantised the input features to a range of bit depths, re-scored them through the same float LR surrogate — no retraining, no weight quantisation, just feature precision — and compared against the float baseline (AUC 0.9794, AUPRC 0.8238). 10 bits is the lowest depth where AUC degradation stays under 0.005 absolute. The plaintext modulus is 26 bits, so that leaves 16 bits of margin unused by feature precision alone.
The logit-delta numbers make the margin concrete: at 10 bits the worst-case logit shift is 8.5e-3; by 26 bits it's down to 1.3e-7 — five orders of magnitude of unused precision.
There is no single operating threshold in the codebase, so I computed three and show all of them rather than picking one: max-F1, and two recall-anchored points. All three come from the float baseline's precision-recall curve — none is production-authoritative, and I say that on the slide.
The one number that actually matters for a fraud system isn't AUC, it's which fraud cases quantisation causes you to miss. At 10 bits, across all three operating points, that number is zero versus the float baseline.
Likely question — "why show three thresholds instead of picking one?" Because there isn't one to pick — I checked spec.md, bank_client, and inference_service_160.cpp. Showing three is more honest than pretending one is authoritative.
Likely question — "does this mean we could go below 10 bits?" I didn't test below 10 — that's the lowest depth in the sweep, and it already clears the tolerance with room to spare. If bandwidth or ciphertext-slot pressure ever makes it worth testing, the headroom argument on this slide is exactly why it's worth trying.</a:t>
            </a:r>
            <a:endParaRPr lang="en-US" dirty="0"/>
          </a:p>
        </p:txBody>
      </p:sp>
      <p:sp>
        <p:nvSpPr>
          <p:cNvPr id="4" name="Slide Number Placeholder 3"/>
          <p:cNvSpPr>
            <a:spLocks noGrp="1"/>
          </p:cNvSpPr>
          <p:nvPr>
            <p:ph type="sldNum" sz="quarter" idx="10"/>
          </p:nvPr>
        </p:nvSpPr>
        <p:spPr/>
        <p:txBody>
          <a:bodyPr/>
          <a:lstStyle/>
          <a:p>
            <a:fld id="{F7021451-1387-4CA6-816F-3879F97B5CBD}" type="slidenum">
              <a:rPr lang="en-US"/>
              <a:t>16</a:t>
            </a:fld>
            <a:endParaRPr lang="en-US"/>
          </a:p>
        </p:txBody>
      </p:sp>
    </p:spTree>
    <p:extLst>
      <p:ext uri="{BB962C8B-B14F-4D97-AF65-F5344CB8AC3E}">
        <p14:creationId xmlns:p14="http://schemas.microsoft.com/office/powerpoint/2010/main" val="1024086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Text 0"/>
          <p:cNvSpPr/>
          <p:nvPr/>
        </p:nvSpPr>
        <p:spPr>
          <a:xfrm>
            <a:off x="658368" y="2148840"/>
            <a:ext cx="9144000" cy="777240"/>
          </a:xfrm>
          <a:prstGeom prst="rect">
            <a:avLst/>
          </a:prstGeom>
          <a:noFill/>
          <a:ln/>
        </p:spPr>
        <p:txBody>
          <a:bodyPr wrap="square" lIns="0" tIns="0" rIns="0" bIns="0" rtlCol="0" anchor="ctr"/>
          <a:lstStyle/>
          <a:p>
            <a:pPr indent="0" marL="0">
              <a:buNone/>
            </a:pPr>
            <a:r>
              <a:rPr lang="en-US" sz="4000" dirty="0">
                <a:solidFill>
                  <a:srgbClr val="F6F3EC"/>
                </a:solidFill>
                <a:latin typeface="Century Schoolbook" pitchFamily="34" charset="0"/>
                <a:ea typeface="Century Schoolbook" pitchFamily="34" charset="-122"/>
                <a:cs typeface="Century Schoolbook" pitchFamily="34" charset="-120"/>
              </a:rPr>
              <a:t>RtF Transciphering</a:t>
            </a:r>
            <a:endParaRPr lang="en-US" sz="4000" dirty="0"/>
          </a:p>
        </p:txBody>
      </p:sp>
      <p:sp>
        <p:nvSpPr>
          <p:cNvPr id="3" name="Text 1"/>
          <p:cNvSpPr/>
          <p:nvPr/>
        </p:nvSpPr>
        <p:spPr>
          <a:xfrm>
            <a:off x="658368" y="2944368"/>
            <a:ext cx="9144000" cy="365760"/>
          </a:xfrm>
          <a:prstGeom prst="rect">
            <a:avLst/>
          </a:prstGeom>
          <a:noFill/>
          <a:ln/>
        </p:spPr>
        <p:txBody>
          <a:bodyPr wrap="square" lIns="0" tIns="0" rIns="0" bIns="0" rtlCol="0" anchor="ctr"/>
          <a:lstStyle/>
          <a:p>
            <a:pPr indent="0" marL="0">
              <a:buNone/>
            </a:pPr>
            <a:r>
              <a:rPr lang="en-US" sz="1550" dirty="0">
                <a:solidFill>
                  <a:srgbClr val="E4D8BF"/>
                </a:solidFill>
                <a:latin typeface="Calibri" pitchFamily="34" charset="0"/>
                <a:ea typeface="Calibri" pitchFamily="34" charset="-122"/>
                <a:cs typeface="Calibri" pitchFamily="34" charset="-120"/>
              </a:rPr>
              <a:t>Hybrid homomorphic encryption for the PPFDaaS inference pipeline</a:t>
            </a:r>
            <a:endParaRPr lang="en-US" sz="1550" dirty="0"/>
          </a:p>
        </p:txBody>
      </p:sp>
      <p:sp>
        <p:nvSpPr>
          <p:cNvPr id="4" name="Shape 2"/>
          <p:cNvSpPr/>
          <p:nvPr/>
        </p:nvSpPr>
        <p:spPr>
          <a:xfrm>
            <a:off x="658368" y="3529584"/>
            <a:ext cx="4279392" cy="0"/>
          </a:xfrm>
          <a:prstGeom prst="line">
            <a:avLst/>
          </a:prstGeom>
          <a:noFill/>
          <a:ln w="12700">
            <a:solidFill>
              <a:srgbClr val="5A6472"/>
            </a:solidFill>
            <a:prstDash val="solid"/>
          </a:ln>
        </p:spPr>
      </p:sp>
      <p:sp>
        <p:nvSpPr>
          <p:cNvPr id="5" name="Text 3"/>
          <p:cNvSpPr/>
          <p:nvPr/>
        </p:nvSpPr>
        <p:spPr>
          <a:xfrm>
            <a:off x="658368" y="3712464"/>
            <a:ext cx="6400800" cy="914400"/>
          </a:xfrm>
          <a:prstGeom prst="rect">
            <a:avLst/>
          </a:prstGeom>
          <a:noFill/>
          <a:ln/>
        </p:spPr>
        <p:txBody>
          <a:bodyPr wrap="square" lIns="0" tIns="0" rIns="0" bIns="0" rtlCol="0" anchor="ctr"/>
          <a:lstStyle/>
          <a:p>
            <a:pPr indent="0" marL="0">
              <a:lnSpc>
                <a:spcPts val="1900"/>
              </a:lnSpc>
              <a:buNone/>
            </a:pPr>
            <a:r>
              <a:rPr lang="en-US" sz="1200" b="1" dirty="0">
                <a:solidFill>
                  <a:srgbClr val="B9C0C8"/>
                </a:solidFill>
                <a:latin typeface="Calibri" pitchFamily="34" charset="0"/>
                <a:ea typeface="Calibri" pitchFamily="34" charset="-122"/>
                <a:cs typeface="Calibri" pitchFamily="34" charset="-120"/>
              </a:rPr>
              <a:t>Raghav Pathak</a:t>
            </a:r>
            <a:endParaRPr lang="en-US" sz="1200" dirty="0"/>
          </a:p>
          <a:p>
            <a:pPr indent="0" marL="0">
              <a:lnSpc>
                <a:spcPts val="1900"/>
              </a:lnSpc>
              <a:buNone/>
            </a:pPr>
            <a:r>
              <a:rPr lang="en-US" sz="1200" dirty="0">
                <a:solidFill>
                  <a:srgbClr val="B9C0C8"/>
                </a:solidFill>
                <a:latin typeface="Calibri" pitchFamily="34" charset="0"/>
                <a:ea typeface="Calibri" pitchFamily="34" charset="-122"/>
                <a:cs typeface="Calibri" pitchFamily="34" charset="-120"/>
              </a:rPr>
              <a:t>B.Tech CSE, LNMIIT · with Amiya</a:t>
            </a:r>
            <a:endParaRPr lang="en-US" sz="1200" dirty="0"/>
          </a:p>
          <a:p>
            <a:pPr indent="0" marL="0">
              <a:lnSpc>
                <a:spcPts val="1900"/>
              </a:lnSpc>
              <a:buNone/>
            </a:pPr>
            <a:r>
              <a:rPr lang="en-US" sz="1200" dirty="0">
                <a:solidFill>
                  <a:srgbClr val="B9C0C8"/>
                </a:solidFill>
                <a:latin typeface="Calibri" pitchFamily="34" charset="0"/>
                <a:ea typeface="Calibri" pitchFamily="34" charset="-122"/>
                <a:cs typeface="Calibri" pitchFamily="34" charset="-120"/>
              </a:rPr>
              <a:t>Progress report — architecture, findings, open items</a:t>
            </a:r>
            <a:endParaRPr lang="en-US" sz="1200" dirty="0"/>
          </a:p>
        </p:txBody>
      </p:sp>
      <p:sp>
        <p:nvSpPr>
          <p:cNvPr id="6" name="Text 4"/>
          <p:cNvSpPr/>
          <p:nvPr/>
        </p:nvSpPr>
        <p:spPr>
          <a:xfrm>
            <a:off x="7436815" y="6035040"/>
            <a:ext cx="4114800" cy="274320"/>
          </a:xfrm>
          <a:prstGeom prst="rect">
            <a:avLst/>
          </a:prstGeom>
          <a:noFill/>
          <a:ln/>
        </p:spPr>
        <p:txBody>
          <a:bodyPr wrap="square" lIns="0" tIns="0" rIns="0" bIns="0" rtlCol="0" anchor="ctr"/>
          <a:lstStyle/>
          <a:p>
            <a:pPr algn="r" indent="0" marL="0">
              <a:buNone/>
            </a:pPr>
            <a:r>
              <a:rPr lang="en-US" sz="1050" b="1" dirty="0">
                <a:solidFill>
                  <a:srgbClr val="9A6A28"/>
                </a:solidFill>
                <a:latin typeface="Calibri" pitchFamily="34" charset="0"/>
                <a:ea typeface="Calibri" pitchFamily="34" charset="-122"/>
                <a:cs typeface="Calibri" pitchFamily="34" charset="-120"/>
              </a:rPr>
              <a:t>Indocrypt 2026 target · 15 August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CONTEXT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Where this sits in PPFDaaS</a:t>
            </a:r>
            <a:endParaRPr lang="en-US" sz="2700" dirty="0"/>
          </a:p>
        </p:txBody>
      </p:sp>
      <p:sp>
        <p:nvSpPr>
          <p:cNvPr id="4" name="Text 2"/>
          <p:cNvSpPr/>
          <p:nvPr/>
        </p:nvSpPr>
        <p:spPr>
          <a:xfrm>
            <a:off x="658368" y="1463040"/>
            <a:ext cx="10424160" cy="10972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PPFDaaS scores transactions for fraud under CKKS without the vendor seeing the transaction. This talk covers one arm: replacing the client's homomorphic encryption step.</a:t>
            </a:r>
            <a:endParaRPr lang="en-US" sz="1450" dirty="0"/>
          </a:p>
        </p:txBody>
      </p:sp>
      <p:sp>
        <p:nvSpPr>
          <p:cNvPr id="5" name="Shape 3"/>
          <p:cNvSpPr/>
          <p:nvPr/>
        </p:nvSpPr>
        <p:spPr>
          <a:xfrm>
            <a:off x="658368" y="3063240"/>
            <a:ext cx="1920240" cy="868680"/>
          </a:xfrm>
          <a:prstGeom prst="rect">
            <a:avLst/>
          </a:prstGeom>
          <a:solidFill>
            <a:srgbClr val="E4D8BF"/>
          </a:solidFill>
          <a:ln w="19050">
            <a:solidFill>
              <a:srgbClr val="9A6A28"/>
            </a:solidFill>
            <a:prstDash val="solid"/>
          </a:ln>
        </p:spPr>
      </p:sp>
      <p:sp>
        <p:nvSpPr>
          <p:cNvPr id="6" name="Text 4"/>
          <p:cNvSpPr/>
          <p:nvPr/>
        </p:nvSpPr>
        <p:spPr>
          <a:xfrm>
            <a:off x="658368" y="3063240"/>
            <a:ext cx="1920240" cy="868680"/>
          </a:xfrm>
          <a:prstGeom prst="rect">
            <a:avLst/>
          </a:prstGeom>
          <a:noFill/>
          <a:ln/>
        </p:spPr>
        <p:txBody>
          <a:bodyPr wrap="square" lIns="0" tIns="0" rIns="0" bIns="0" rtlCol="0" anchor="ctr"/>
          <a:lstStyle/>
          <a:p>
            <a:pPr algn="ctr" indent="0" marL="0">
              <a:buNone/>
            </a:pPr>
            <a:r>
              <a:rPr lang="en-US" sz="1250" b="1" dirty="0">
                <a:solidFill>
                  <a:srgbClr val="1C2530"/>
                </a:solidFill>
                <a:latin typeface="Calibri" pitchFamily="34" charset="0"/>
                <a:ea typeface="Calibri" pitchFamily="34" charset="-122"/>
                <a:cs typeface="Calibri" pitchFamily="34" charset="-120"/>
              </a:rPr>
              <a:t>Client</a:t>
            </a:r>
            <a:endParaRPr lang="en-US" sz="1250" dirty="0"/>
          </a:p>
          <a:p>
            <a:pPr algn="ctr" indent="0" marL="0">
              <a:buNone/>
            </a:pPr>
            <a:r>
              <a:rPr lang="en-US" sz="1250" b="1" dirty="0">
                <a:solidFill>
                  <a:srgbClr val="1C2530"/>
                </a:solidFill>
                <a:latin typeface="Calibri" pitchFamily="34" charset="0"/>
                <a:ea typeface="Calibri" pitchFamily="34" charset="-122"/>
                <a:cs typeface="Calibri" pitchFamily="34" charset="-120"/>
              </a:rPr>
              <a:t>encrypt</a:t>
            </a:r>
            <a:endParaRPr lang="en-US" sz="1250" dirty="0"/>
          </a:p>
        </p:txBody>
      </p:sp>
      <p:sp>
        <p:nvSpPr>
          <p:cNvPr id="7" name="Shape 5"/>
          <p:cNvSpPr/>
          <p:nvPr/>
        </p:nvSpPr>
        <p:spPr>
          <a:xfrm>
            <a:off x="2670048" y="3497580"/>
            <a:ext cx="237744" cy="0"/>
          </a:xfrm>
          <a:prstGeom prst="line">
            <a:avLst/>
          </a:prstGeom>
          <a:noFill/>
          <a:ln w="15875">
            <a:solidFill>
              <a:srgbClr val="7C848D"/>
            </a:solidFill>
            <a:prstDash val="solid"/>
            <a:headEnd type="none"/>
            <a:tailEnd type="triangle"/>
          </a:ln>
        </p:spPr>
      </p:sp>
      <p:sp>
        <p:nvSpPr>
          <p:cNvPr id="8" name="Shape 6"/>
          <p:cNvSpPr/>
          <p:nvPr/>
        </p:nvSpPr>
        <p:spPr>
          <a:xfrm>
            <a:off x="2999232" y="3063240"/>
            <a:ext cx="1920240" cy="868680"/>
          </a:xfrm>
          <a:prstGeom prst="rect">
            <a:avLst/>
          </a:prstGeom>
          <a:solidFill>
            <a:srgbClr val="FFFFFF"/>
          </a:solidFill>
          <a:ln w="12700">
            <a:solidFill>
              <a:srgbClr val="D3CCC0"/>
            </a:solidFill>
            <a:prstDash val="solid"/>
          </a:ln>
        </p:spPr>
      </p:sp>
      <p:sp>
        <p:nvSpPr>
          <p:cNvPr id="9" name="Text 7"/>
          <p:cNvSpPr/>
          <p:nvPr/>
        </p:nvSpPr>
        <p:spPr>
          <a:xfrm>
            <a:off x="2999232"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gRPC</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transport</a:t>
            </a:r>
            <a:endParaRPr lang="en-US" sz="1250" dirty="0"/>
          </a:p>
        </p:txBody>
      </p:sp>
      <p:sp>
        <p:nvSpPr>
          <p:cNvPr id="10" name="Shape 8"/>
          <p:cNvSpPr/>
          <p:nvPr/>
        </p:nvSpPr>
        <p:spPr>
          <a:xfrm>
            <a:off x="5010912" y="3497580"/>
            <a:ext cx="237744" cy="0"/>
          </a:xfrm>
          <a:prstGeom prst="line">
            <a:avLst/>
          </a:prstGeom>
          <a:noFill/>
          <a:ln w="15875">
            <a:solidFill>
              <a:srgbClr val="7C848D"/>
            </a:solidFill>
            <a:prstDash val="solid"/>
            <a:headEnd type="none"/>
            <a:tailEnd type="triangle"/>
          </a:ln>
        </p:spPr>
      </p:sp>
      <p:sp>
        <p:nvSpPr>
          <p:cNvPr id="11" name="Shape 9"/>
          <p:cNvSpPr/>
          <p:nvPr/>
        </p:nvSpPr>
        <p:spPr>
          <a:xfrm>
            <a:off x="5340096" y="3063240"/>
            <a:ext cx="1920240" cy="868680"/>
          </a:xfrm>
          <a:prstGeom prst="rect">
            <a:avLst/>
          </a:prstGeom>
          <a:solidFill>
            <a:srgbClr val="FFFFFF"/>
          </a:solidFill>
          <a:ln w="12700">
            <a:solidFill>
              <a:srgbClr val="D3CCC0"/>
            </a:solidFill>
            <a:prstDash val="solid"/>
          </a:ln>
        </p:spPr>
      </p:sp>
      <p:sp>
        <p:nvSpPr>
          <p:cNvPr id="12" name="Text 10"/>
          <p:cNvSpPr/>
          <p:nvPr/>
        </p:nvSpPr>
        <p:spPr>
          <a:xfrm>
            <a:off x="5340096"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CKKS</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fraud model</a:t>
            </a:r>
            <a:endParaRPr lang="en-US" sz="1250" dirty="0"/>
          </a:p>
        </p:txBody>
      </p:sp>
      <p:sp>
        <p:nvSpPr>
          <p:cNvPr id="13" name="Shape 11"/>
          <p:cNvSpPr/>
          <p:nvPr/>
        </p:nvSpPr>
        <p:spPr>
          <a:xfrm>
            <a:off x="7351776" y="3497580"/>
            <a:ext cx="237744" cy="0"/>
          </a:xfrm>
          <a:prstGeom prst="line">
            <a:avLst/>
          </a:prstGeom>
          <a:noFill/>
          <a:ln w="15875">
            <a:solidFill>
              <a:srgbClr val="7C848D"/>
            </a:solidFill>
            <a:prstDash val="solid"/>
            <a:headEnd type="none"/>
            <a:tailEnd type="triangle"/>
          </a:ln>
        </p:spPr>
      </p:sp>
      <p:sp>
        <p:nvSpPr>
          <p:cNvPr id="14" name="Shape 12"/>
          <p:cNvSpPr/>
          <p:nvPr/>
        </p:nvSpPr>
        <p:spPr>
          <a:xfrm>
            <a:off x="7680960" y="3063240"/>
            <a:ext cx="1920240" cy="868680"/>
          </a:xfrm>
          <a:prstGeom prst="rect">
            <a:avLst/>
          </a:prstGeom>
          <a:solidFill>
            <a:srgbClr val="FFFFFF"/>
          </a:solidFill>
          <a:ln w="12700">
            <a:solidFill>
              <a:srgbClr val="D3CCC0"/>
            </a:solidFill>
            <a:prstDash val="solid"/>
          </a:ln>
        </p:spPr>
      </p:sp>
      <p:sp>
        <p:nvSpPr>
          <p:cNvPr id="15" name="Text 13"/>
          <p:cNvSpPr/>
          <p:nvPr/>
        </p:nvSpPr>
        <p:spPr>
          <a:xfrm>
            <a:off x="7680960"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Encrypted</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score</a:t>
            </a:r>
            <a:endParaRPr lang="en-US" sz="1250" dirty="0"/>
          </a:p>
        </p:txBody>
      </p:sp>
      <p:sp>
        <p:nvSpPr>
          <p:cNvPr id="16" name="Shape 14"/>
          <p:cNvSpPr/>
          <p:nvPr/>
        </p:nvSpPr>
        <p:spPr>
          <a:xfrm flipV="1">
            <a:off x="1618488" y="4041648"/>
            <a:ext cx="0" cy="301752"/>
          </a:xfrm>
          <a:prstGeom prst="line">
            <a:avLst/>
          </a:prstGeom>
          <a:noFill/>
          <a:ln w="19050">
            <a:solidFill>
              <a:srgbClr val="9A6A28"/>
            </a:solidFill>
            <a:prstDash val="solid"/>
            <a:headEnd type="none"/>
            <a:tailEnd type="triangle"/>
          </a:ln>
        </p:spPr>
      </p:sp>
      <p:sp>
        <p:nvSpPr>
          <p:cNvPr id="17" name="Text 15"/>
          <p:cNvSpPr/>
          <p:nvPr/>
        </p:nvSpPr>
        <p:spPr>
          <a:xfrm>
            <a:off x="658368" y="4389120"/>
            <a:ext cx="6949440" cy="274320"/>
          </a:xfrm>
          <a:prstGeom prst="rect">
            <a:avLst/>
          </a:prstGeom>
          <a:noFill/>
          <a:ln/>
        </p:spPr>
        <p:txBody>
          <a:bodyPr wrap="square" lIns="0" tIns="0" rIns="0" bIns="0" rtlCol="0" anchor="ctr"/>
          <a:lstStyle/>
          <a:p>
            <a:pPr indent="0" marL="0">
              <a:buNone/>
            </a:pPr>
            <a:r>
              <a:rPr lang="en-US" sz="1100" b="1" dirty="0">
                <a:solidFill>
                  <a:srgbClr val="9A6A28"/>
                </a:solidFill>
                <a:latin typeface="Calibri" pitchFamily="34" charset="0"/>
                <a:ea typeface="Calibri" pitchFamily="34" charset="-122"/>
                <a:cs typeface="Calibri" pitchFamily="34" charset="-120"/>
              </a:rPr>
              <a:t>this arm — the client's encryption step is what transciphering replaces</a:t>
            </a:r>
            <a:endParaRPr lang="en-US" sz="1100" dirty="0"/>
          </a:p>
        </p:txBody>
      </p:sp>
      <p:sp>
        <p:nvSpPr>
          <p:cNvPr id="18" name="Text 16"/>
          <p:cNvSpPr/>
          <p:nvPr/>
        </p:nvSpPr>
        <p:spPr>
          <a:xfrm>
            <a:off x="658368" y="5029200"/>
            <a:ext cx="8595360" cy="457200"/>
          </a:xfrm>
          <a:prstGeom prst="rect">
            <a:avLst/>
          </a:prstGeom>
          <a:noFill/>
          <a:ln/>
        </p:spPr>
        <p:txBody>
          <a:bodyPr wrap="square" lIns="0" tIns="0" rIns="0" bIns="0" rtlCol="0" anchor="ctr"/>
          <a:lstStyle/>
          <a:p>
            <a:pPr indent="0" marL="0">
              <a:buNone/>
            </a:pPr>
            <a:r>
              <a:rPr lang="en-US" sz="1150" i="1" dirty="0">
                <a:solidFill>
                  <a:srgbClr val="7C848D"/>
                </a:solidFill>
                <a:latin typeface="Calibri" pitchFamily="34" charset="0"/>
                <a:ea typeface="Calibri" pitchFamily="34" charset="-122"/>
                <a:cs typeface="Calibri" pitchFamily="34" charset="-120"/>
              </a:rPr>
              <a:t>Everything downstream of the conversion is the pipeline we already have — which is exactly why its cost matters (slide 16).</a:t>
            </a:r>
            <a:endParaRPr lang="en-US" sz="1150" dirty="0"/>
          </a:p>
        </p:txBody>
      </p:sp>
      <p:sp>
        <p:nvSpPr>
          <p:cNvPr id="19" name="Text 17"/>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0" name="Text 18"/>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01 · THE PROBLEM</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upload is fixed-size, and the client pays for it</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969264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A CKKS ciphertext is a container sized by the encryption parameters, not by the payload.</a:t>
            </a:r>
            <a:endParaRPr lang="en-US" sz="1450" dirty="0"/>
          </a:p>
        </p:txBody>
      </p:sp>
      <p:sp>
        <p:nvSpPr>
          <p:cNvPr id="7" name="Text 5"/>
          <p:cNvSpPr/>
          <p:nvPr/>
        </p:nvSpPr>
        <p:spPr>
          <a:xfrm>
            <a:off x="658368" y="2011680"/>
            <a:ext cx="5486400" cy="310896"/>
          </a:xfrm>
          <a:prstGeom prst="rect">
            <a:avLst/>
          </a:prstGeom>
          <a:noFill/>
          <a:ln/>
        </p:spPr>
        <p:txBody>
          <a:bodyPr wrap="square" lIns="0" tIns="0" rIns="0" bIns="0" rtlCol="0" anchor="ctr"/>
          <a:lstStyle/>
          <a:p>
            <a:pPr indent="0" marL="0">
              <a:buNone/>
            </a:pPr>
            <a:r>
              <a:rPr lang="en-US" sz="1250" dirty="0">
                <a:solidFill>
                  <a:srgbClr val="9A6A28"/>
                </a:solidFill>
                <a:latin typeface="Courier New" pitchFamily="34" charset="0"/>
                <a:ea typeface="Courier New" pitchFamily="34" charset="-122"/>
                <a:cs typeface="Courier New" pitchFamily="34" charset="-120"/>
              </a:rPr>
              <a:t>ciphertext size  =  2 × N × log₂(q) / 8 bytes</a:t>
            </a:r>
            <a:endParaRPr lang="en-US" sz="1250" dirty="0"/>
          </a:p>
        </p:txBody>
      </p:sp>
      <p:sp>
        <p:nvSpPr>
          <p:cNvPr id="8" name="Text 6"/>
          <p:cNvSpPr/>
          <p:nvPr/>
        </p:nvSpPr>
        <p:spPr>
          <a:xfrm>
            <a:off x="5321808" y="2029968"/>
            <a:ext cx="3840480" cy="274320"/>
          </a:xfrm>
          <a:prstGeom prst="rect">
            <a:avLst/>
          </a:prstGeom>
          <a:noFill/>
          <a:ln/>
        </p:spPr>
        <p:txBody>
          <a:bodyPr wrap="square" lIns="0" tIns="0" rIns="0" bIns="0" rtlCol="0" anchor="ctr"/>
          <a:lstStyle/>
          <a:p>
            <a:pPr indent="0" marL="0">
              <a:buNone/>
            </a:pPr>
            <a:r>
              <a:rPr lang="en-US" sz="1100" i="1" dirty="0">
                <a:solidFill>
                  <a:srgbClr val="7C848D"/>
                </a:solidFill>
                <a:latin typeface="Calibri" pitchFamily="34" charset="0"/>
                <a:ea typeface="Calibri" pitchFamily="34" charset="-122"/>
                <a:cs typeface="Calibri" pitchFamily="34" charset="-120"/>
              </a:rPr>
              <a:t>— the payload does not appear in it</a:t>
            </a:r>
            <a:endParaRPr lang="en-US" sz="1100" dirty="0"/>
          </a:p>
        </p:txBody>
      </p:sp>
      <p:sp>
        <p:nvSpPr>
          <p:cNvPr id="9" name="Shape 7"/>
          <p:cNvSpPr/>
          <p:nvPr/>
        </p:nvSpPr>
        <p:spPr>
          <a:xfrm>
            <a:off x="658368" y="2788920"/>
            <a:ext cx="960120" cy="457200"/>
          </a:xfrm>
          <a:prstGeom prst="rect">
            <a:avLst/>
          </a:prstGeom>
          <a:solidFill>
            <a:srgbClr val="E4D8BF"/>
          </a:solidFill>
          <a:ln w="19050">
            <a:solidFill>
              <a:srgbClr val="9A6A28"/>
            </a:solidFill>
            <a:prstDash val="solid"/>
          </a:ln>
        </p:spPr>
      </p:sp>
      <p:sp>
        <p:nvSpPr>
          <p:cNvPr id="10" name="Text 8"/>
          <p:cNvSpPr/>
          <p:nvPr/>
        </p:nvSpPr>
        <p:spPr>
          <a:xfrm>
            <a:off x="658368" y="2788920"/>
            <a:ext cx="960120" cy="457200"/>
          </a:xfrm>
          <a:prstGeom prst="rect">
            <a:avLst/>
          </a:prstGeom>
          <a:noFill/>
          <a:ln/>
        </p:spPr>
        <p:txBody>
          <a:bodyPr wrap="square" lIns="0" tIns="0" rIns="0" bIns="0" rtlCol="0" anchor="ctr"/>
          <a:lstStyle/>
          <a:p>
            <a:pPr algn="ctr" indent="0" marL="0">
              <a:buNone/>
            </a:pPr>
            <a:r>
              <a:rPr lang="en-US" sz="1100" b="1" dirty="0">
                <a:solidFill>
                  <a:srgbClr val="1C2530"/>
                </a:solidFill>
                <a:latin typeface="Calibri" pitchFamily="34" charset="0"/>
                <a:ea typeface="Calibri" pitchFamily="34" charset="-122"/>
                <a:cs typeface="Calibri" pitchFamily="34" charset="-120"/>
              </a:rPr>
              <a:t>~1 KB</a:t>
            </a:r>
            <a:endParaRPr lang="en-US" sz="1100" dirty="0"/>
          </a:p>
        </p:txBody>
      </p:sp>
      <p:sp>
        <p:nvSpPr>
          <p:cNvPr id="11" name="Text 9"/>
          <p:cNvSpPr/>
          <p:nvPr/>
        </p:nvSpPr>
        <p:spPr>
          <a:xfrm>
            <a:off x="658368" y="3337560"/>
            <a:ext cx="2377440" cy="502920"/>
          </a:xfrm>
          <a:prstGeom prst="rect">
            <a:avLst/>
          </a:prstGeom>
          <a:noFill/>
          <a:ln/>
        </p:spPr>
        <p:txBody>
          <a:bodyPr wrap="square" lIns="0" tIns="0" rIns="0" bIns="0" rtlCol="0" anchor="ctr"/>
          <a:lstStyle/>
          <a:p>
            <a:pPr indent="0" marL="0">
              <a:lnSpc>
                <a:spcPts val="1300"/>
              </a:lnSpc>
              <a:buNone/>
            </a:pPr>
            <a:r>
              <a:rPr lang="en-US" sz="950" dirty="0">
                <a:solidFill>
                  <a:srgbClr val="7C848D"/>
                </a:solidFill>
                <a:latin typeface="Calibri" pitchFamily="34" charset="0"/>
                <a:ea typeface="Calibri" pitchFamily="34" charset="-122"/>
                <a:cs typeface="Calibri" pitchFamily="34" charset="-120"/>
              </a:rPr>
              <a:t>what you want to send</a:t>
            </a:r>
            <a:endParaRPr lang="en-US" sz="950" dirty="0"/>
          </a:p>
          <a:p>
            <a:pPr indent="0" marL="0">
              <a:lnSpc>
                <a:spcPts val="1300"/>
              </a:lnSpc>
              <a:buNone/>
            </a:pPr>
            <a:r>
              <a:rPr lang="en-US" sz="950" dirty="0">
                <a:solidFill>
                  <a:srgbClr val="7C848D"/>
                </a:solidFill>
                <a:latin typeface="Calibri" pitchFamily="34" charset="0"/>
                <a:ea typeface="Calibri" pitchFamily="34" charset="-122"/>
                <a:cs typeface="Calibri" pitchFamily="34" charset="-120"/>
              </a:rPr>
              <a:t>a batch of transaction values</a:t>
            </a:r>
            <a:endParaRPr lang="en-US" sz="950" dirty="0"/>
          </a:p>
        </p:txBody>
      </p:sp>
      <p:sp>
        <p:nvSpPr>
          <p:cNvPr id="12" name="Shape 10"/>
          <p:cNvSpPr/>
          <p:nvPr/>
        </p:nvSpPr>
        <p:spPr>
          <a:xfrm>
            <a:off x="3657600" y="2395728"/>
            <a:ext cx="4937760" cy="1243584"/>
          </a:xfrm>
          <a:prstGeom prst="rect">
            <a:avLst/>
          </a:prstGeom>
          <a:solidFill>
            <a:srgbClr val="FFFFFF"/>
          </a:solidFill>
          <a:ln w="12700">
            <a:solidFill>
              <a:srgbClr val="1C2530"/>
            </a:solidFill>
            <a:prstDash val="solid"/>
          </a:ln>
        </p:spPr>
      </p:sp>
      <p:sp>
        <p:nvSpPr>
          <p:cNvPr id="13" name="Shape 11"/>
          <p:cNvSpPr/>
          <p:nvPr/>
        </p:nvSpPr>
        <p:spPr>
          <a:xfrm>
            <a:off x="3913632" y="2788920"/>
            <a:ext cx="960120" cy="457200"/>
          </a:xfrm>
          <a:prstGeom prst="rect">
            <a:avLst/>
          </a:prstGeom>
          <a:solidFill>
            <a:srgbClr val="E4D8BF"/>
          </a:solidFill>
          <a:ln w="19050">
            <a:solidFill>
              <a:srgbClr val="9A6A28"/>
            </a:solidFill>
            <a:prstDash val="solid"/>
          </a:ln>
        </p:spPr>
      </p:sp>
      <p:sp>
        <p:nvSpPr>
          <p:cNvPr id="14" name="Text 12"/>
          <p:cNvSpPr/>
          <p:nvPr/>
        </p:nvSpPr>
        <p:spPr>
          <a:xfrm>
            <a:off x="3913632" y="2788920"/>
            <a:ext cx="960120" cy="457200"/>
          </a:xfrm>
          <a:prstGeom prst="rect">
            <a:avLst/>
          </a:prstGeom>
          <a:noFill/>
          <a:ln/>
        </p:spPr>
        <p:txBody>
          <a:bodyPr wrap="square" lIns="0" tIns="0" rIns="0" bIns="0" rtlCol="0" anchor="ctr"/>
          <a:lstStyle/>
          <a:p>
            <a:pPr algn="ctr" indent="0" marL="0">
              <a:buNone/>
            </a:pPr>
            <a:r>
              <a:rPr lang="en-US" sz="1000" dirty="0">
                <a:solidFill>
                  <a:srgbClr val="1C2530"/>
                </a:solidFill>
                <a:latin typeface="Calibri" pitchFamily="34" charset="0"/>
                <a:ea typeface="Calibri" pitchFamily="34" charset="-122"/>
                <a:cs typeface="Calibri" pitchFamily="34" charset="-120"/>
              </a:rPr>
              <a:t>~1 KB</a:t>
            </a:r>
            <a:endParaRPr lang="en-US" sz="1000" dirty="0"/>
          </a:p>
        </p:txBody>
      </p:sp>
      <p:sp>
        <p:nvSpPr>
          <p:cNvPr id="15" name="Text 13"/>
          <p:cNvSpPr/>
          <p:nvPr/>
        </p:nvSpPr>
        <p:spPr>
          <a:xfrm>
            <a:off x="3657600" y="2487168"/>
            <a:ext cx="4937760" cy="274320"/>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262,257 bytes on the wire</a:t>
            </a:r>
            <a:endParaRPr lang="en-US" sz="1150" dirty="0"/>
          </a:p>
        </p:txBody>
      </p:sp>
      <p:sp>
        <p:nvSpPr>
          <p:cNvPr id="16" name="Text 14"/>
          <p:cNvSpPr/>
          <p:nvPr/>
        </p:nvSpPr>
        <p:spPr>
          <a:xfrm>
            <a:off x="5029200" y="2852928"/>
            <a:ext cx="3383280" cy="329184"/>
          </a:xfrm>
          <a:prstGeom prst="rect">
            <a:avLst/>
          </a:prstGeom>
          <a:noFill/>
          <a:ln/>
        </p:spPr>
        <p:txBody>
          <a:bodyPr wrap="square" lIns="0" tIns="0" rIns="0" bIns="0" rtlCol="0" anchor="ctr"/>
          <a:lstStyle/>
          <a:p>
            <a:pPr indent="0" marL="0">
              <a:buNone/>
            </a:pPr>
            <a:r>
              <a:rPr lang="en-US" sz="950" dirty="0">
                <a:solidFill>
                  <a:srgbClr val="7C848D"/>
                </a:solidFill>
                <a:latin typeface="Calibri" pitchFamily="34" charset="0"/>
                <a:ea typeface="Calibri" pitchFamily="34" charset="-122"/>
                <a:cs typeface="Calibri" pitchFamily="34" charset="-120"/>
              </a:rPr>
              <a:t>one CKKS ciphertext — your data is somewhere in here</a:t>
            </a:r>
            <a:endParaRPr lang="en-US" sz="950" dirty="0"/>
          </a:p>
        </p:txBody>
      </p:sp>
      <p:sp>
        <p:nvSpPr>
          <p:cNvPr id="17" name="Shape 15"/>
          <p:cNvSpPr/>
          <p:nvPr/>
        </p:nvSpPr>
        <p:spPr>
          <a:xfrm>
            <a:off x="1737360" y="3017520"/>
            <a:ext cx="1828800" cy="0"/>
          </a:xfrm>
          <a:prstGeom prst="line">
            <a:avLst/>
          </a:prstGeom>
          <a:noFill/>
          <a:ln w="15875">
            <a:solidFill>
              <a:srgbClr val="1C2530"/>
            </a:solidFill>
            <a:prstDash val="solid"/>
            <a:headEnd type="none"/>
            <a:tailEnd type="triangle"/>
          </a:ln>
        </p:spPr>
      </p:sp>
      <p:sp>
        <p:nvSpPr>
          <p:cNvPr id="18" name="Text 16"/>
          <p:cNvSpPr/>
          <p:nvPr/>
        </p:nvSpPr>
        <p:spPr>
          <a:xfrm>
            <a:off x="1737360" y="2761488"/>
            <a:ext cx="1828800" cy="219456"/>
          </a:xfrm>
          <a:prstGeom prst="rect">
            <a:avLst/>
          </a:prstGeom>
          <a:noFill/>
          <a:ln/>
        </p:spPr>
        <p:txBody>
          <a:bodyPr wrap="square" lIns="0" tIns="0" rIns="0" bIns="0" rtlCol="0" anchor="ctr"/>
          <a:lstStyle/>
          <a:p>
            <a:pPr algn="ctr" indent="0" marL="0">
              <a:buNone/>
            </a:pPr>
            <a:r>
              <a:rPr lang="en-US" sz="950" dirty="0">
                <a:solidFill>
                  <a:srgbClr val="7C848D"/>
                </a:solidFill>
                <a:latin typeface="Calibri" pitchFamily="34" charset="0"/>
                <a:ea typeface="Calibri" pitchFamily="34" charset="-122"/>
                <a:cs typeface="Calibri" pitchFamily="34" charset="-120"/>
              </a:rPr>
              <a:t>encrypt</a:t>
            </a:r>
            <a:endParaRPr lang="en-US" sz="950" dirty="0"/>
          </a:p>
        </p:txBody>
      </p:sp>
      <p:sp>
        <p:nvSpPr>
          <p:cNvPr id="19" name="Shape 17"/>
          <p:cNvSpPr/>
          <p:nvPr/>
        </p:nvSpPr>
        <p:spPr>
          <a:xfrm>
            <a:off x="9052560" y="2395728"/>
            <a:ext cx="2468880" cy="1243584"/>
          </a:xfrm>
          <a:prstGeom prst="rect">
            <a:avLst/>
          </a:prstGeom>
          <a:solidFill>
            <a:srgbClr val="EDE8DE"/>
          </a:solidFill>
          <a:ln w="12700">
            <a:solidFill>
              <a:srgbClr val="7C848D"/>
            </a:solidFill>
            <a:prstDash val="solid"/>
          </a:ln>
        </p:spPr>
      </p:sp>
      <p:sp>
        <p:nvSpPr>
          <p:cNvPr id="20" name="Text 18"/>
          <p:cNvSpPr/>
          <p:nvPr/>
        </p:nvSpPr>
        <p:spPr>
          <a:xfrm>
            <a:off x="9052560" y="2578608"/>
            <a:ext cx="2468880" cy="384048"/>
          </a:xfrm>
          <a:prstGeom prst="rect">
            <a:avLst/>
          </a:prstGeom>
          <a:noFill/>
          <a:ln/>
        </p:spPr>
        <p:txBody>
          <a:bodyPr wrap="square" lIns="0" tIns="0" rIns="0" bIns="0" rtlCol="0" anchor="ctr"/>
          <a:lstStyle/>
          <a:p>
            <a:pPr algn="ctr" indent="0" marL="0">
              <a:buNone/>
            </a:pPr>
            <a:r>
              <a:rPr lang="en-US" sz="2200" dirty="0">
                <a:solidFill>
                  <a:srgbClr val="9A6A28"/>
                </a:solidFill>
                <a:latin typeface="Century Schoolbook" pitchFamily="34" charset="0"/>
                <a:ea typeface="Century Schoolbook" pitchFamily="34" charset="-122"/>
                <a:cs typeface="Century Schoolbook" pitchFamily="34" charset="-120"/>
              </a:rPr>
              <a:t>2,933 µs</a:t>
            </a:r>
            <a:endParaRPr lang="en-US" sz="2200" dirty="0"/>
          </a:p>
        </p:txBody>
      </p:sp>
      <p:sp>
        <p:nvSpPr>
          <p:cNvPr id="21" name="Text 19"/>
          <p:cNvSpPr/>
          <p:nvPr/>
        </p:nvSpPr>
        <p:spPr>
          <a:xfrm>
            <a:off x="9052560" y="2999232"/>
            <a:ext cx="2468880" cy="457200"/>
          </a:xfrm>
          <a:prstGeom prst="rect">
            <a:avLst/>
          </a:prstGeom>
          <a:noFill/>
          <a:ln/>
        </p:spPr>
        <p:txBody>
          <a:bodyPr wrap="square" lIns="0" tIns="0" rIns="0" bIns="0" rtlCol="0" anchor="ctr"/>
          <a:lstStyle/>
          <a:p>
            <a:pPr algn="ctr" indent="0" marL="0">
              <a:lnSpc>
                <a:spcPts val="1300"/>
              </a:lnSpc>
              <a:buNone/>
            </a:pPr>
            <a:r>
              <a:rPr lang="en-US" sz="950" dirty="0">
                <a:solidFill>
                  <a:srgbClr val="3B4650"/>
                </a:solidFill>
                <a:latin typeface="Calibri" pitchFamily="34" charset="0"/>
                <a:ea typeface="Calibri" pitchFamily="34" charset="-122"/>
                <a:cs typeface="Calibri" pitchFamily="34" charset="-120"/>
              </a:rPr>
              <a:t>client encode + encrypt,</a:t>
            </a:r>
            <a:endParaRPr lang="en-US" sz="950" dirty="0"/>
          </a:p>
          <a:p>
            <a:pPr algn="ctr" indent="0" marL="0">
              <a:lnSpc>
                <a:spcPts val="1300"/>
              </a:lnSpc>
              <a:buNone/>
            </a:pPr>
            <a:r>
              <a:rPr lang="en-US" sz="950" dirty="0">
                <a:solidFill>
                  <a:srgbClr val="3B4650"/>
                </a:solidFill>
                <a:latin typeface="Calibri" pitchFamily="34" charset="0"/>
                <a:ea typeface="Calibri" pitchFamily="34" charset="-122"/>
                <a:cs typeface="Calibri" pitchFamily="34" charset="-120"/>
              </a:rPr>
              <a:t>per record</a:t>
            </a:r>
            <a:endParaRPr lang="en-US" sz="950" dirty="0"/>
          </a:p>
        </p:txBody>
      </p:sp>
      <p:sp>
        <p:nvSpPr>
          <p:cNvPr id="22" name="Text 20"/>
          <p:cNvSpPr/>
          <p:nvPr/>
        </p:nvSpPr>
        <p:spPr>
          <a:xfrm>
            <a:off x="658368" y="4297680"/>
            <a:ext cx="10241280" cy="548640"/>
          </a:xfrm>
          <a:prstGeom prst="rect">
            <a:avLst/>
          </a:prstGeom>
          <a:noFill/>
          <a:ln/>
        </p:spPr>
        <p:txBody>
          <a:bodyPr wrap="square" lIns="0" tIns="0" rIns="0" bIns="0" rtlCol="0" anchor="ctr"/>
          <a:lstStyle/>
          <a:p>
            <a:pPr indent="0" marL="0">
              <a:lnSpc>
                <a:spcPts val="2100"/>
              </a:lnSpc>
              <a:buNone/>
            </a:pPr>
            <a:r>
              <a:rPr lang="en-US" sz="1350" dirty="0">
                <a:solidFill>
                  <a:srgbClr val="3B4650"/>
                </a:solidFill>
                <a:latin typeface="Calibri" pitchFamily="34" charset="0"/>
                <a:ea typeface="Calibri" pitchFamily="34" charset="-122"/>
                <a:cs typeface="Calibri" pitchFamily="34" charset="-120"/>
              </a:rPr>
              <a:t>The second problem is the worse one. The intended client is a branch terminal or a phone — thin hardware doing heavy encryption on every transaction.</a:t>
            </a:r>
            <a:endParaRPr lang="en-US" sz="1350" dirty="0"/>
          </a:p>
        </p:txBody>
      </p:sp>
      <p:sp>
        <p:nvSpPr>
          <p:cNvPr id="23" name="Text 21"/>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4" name="Text 22"/>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02 · THE IDEA</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Ship a cheap cipher; let the server convert</a:t>
            </a:r>
            <a:endParaRPr lang="en-US" sz="2700" dirty="0"/>
          </a:p>
        </p:txBody>
      </p:sp>
      <p:sp>
        <p:nvSpPr>
          <p:cNvPr id="4" name="Text 2"/>
          <p:cNvSpPr/>
          <p:nvPr/>
        </p:nvSpPr>
        <p:spPr>
          <a:xfrm>
            <a:off x="658368" y="1444752"/>
            <a:ext cx="10332720" cy="73152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The client encrypts with a symmetric stream cipher. The homomorphic key goes up once. The server runs the cipher's decryption homomorphically and ends up holding the ciphertext the client never sent.</a:t>
            </a:r>
            <a:endParaRPr lang="en-US" sz="1450" dirty="0"/>
          </a:p>
        </p:txBody>
      </p:sp>
      <p:sp>
        <p:nvSpPr>
          <p:cNvPr id="5" name="Shape 3"/>
          <p:cNvSpPr/>
          <p:nvPr/>
        </p:nvSpPr>
        <p:spPr>
          <a:xfrm>
            <a:off x="658368" y="2606040"/>
            <a:ext cx="4297680" cy="1691640"/>
          </a:xfrm>
          <a:prstGeom prst="rect">
            <a:avLst/>
          </a:prstGeom>
          <a:solidFill>
            <a:srgbClr val="FFFFFF"/>
          </a:solidFill>
          <a:ln w="12700">
            <a:solidFill>
              <a:srgbClr val="D3CCC0"/>
            </a:solidFill>
            <a:prstDash val="solid"/>
          </a:ln>
        </p:spPr>
      </p:sp>
      <p:sp>
        <p:nvSpPr>
          <p:cNvPr id="6" name="Text 4"/>
          <p:cNvSpPr/>
          <p:nvPr/>
        </p:nvSpPr>
        <p:spPr>
          <a:xfrm>
            <a:off x="932688" y="2807208"/>
            <a:ext cx="3749040" cy="274320"/>
          </a:xfrm>
          <a:prstGeom prst="rect">
            <a:avLst/>
          </a:prstGeom>
          <a:noFill/>
          <a:ln/>
        </p:spPr>
        <p:txBody>
          <a:bodyPr wrap="square" lIns="0" tIns="0" rIns="0" bIns="0" rtlCol="0" anchor="ctr"/>
          <a:lstStyle/>
          <a:p>
            <a:pPr indent="0" marL="0">
              <a:buNone/>
            </a:pPr>
            <a:r>
              <a:rPr lang="en-US" sz="1100" b="1" spc="80" kern="0" dirty="0">
                <a:solidFill>
                  <a:srgbClr val="7C848D"/>
                </a:solidFill>
                <a:latin typeface="Calibri" pitchFamily="34" charset="0"/>
                <a:ea typeface="Calibri" pitchFamily="34" charset="-122"/>
                <a:cs typeface="Calibri" pitchFamily="34" charset="-120"/>
              </a:rPr>
              <a:t>A · Plain CKKS</a:t>
            </a:r>
            <a:endParaRPr lang="en-US" sz="1100" dirty="0"/>
          </a:p>
        </p:txBody>
      </p:sp>
      <p:sp>
        <p:nvSpPr>
          <p:cNvPr id="7" name="Text 5"/>
          <p:cNvSpPr/>
          <p:nvPr/>
        </p:nvSpPr>
        <p:spPr>
          <a:xfrm>
            <a:off x="932688" y="3136392"/>
            <a:ext cx="3749040" cy="475488"/>
          </a:xfrm>
          <a:prstGeom prst="rect">
            <a:avLst/>
          </a:prstGeom>
          <a:noFill/>
          <a:ln/>
        </p:spPr>
        <p:txBody>
          <a:bodyPr wrap="square" lIns="0" tIns="0" rIns="0" bIns="0" rtlCol="0" anchor="ctr"/>
          <a:lstStyle/>
          <a:p>
            <a:pPr indent="0" marL="0">
              <a:buNone/>
            </a:pPr>
            <a:r>
              <a:rPr lang="en-US" sz="2600" dirty="0">
                <a:solidFill>
                  <a:srgbClr val="1C2530"/>
                </a:solidFill>
                <a:latin typeface="Century Schoolbook" pitchFamily="34" charset="0"/>
                <a:ea typeface="Century Schoolbook" pitchFamily="34" charset="-122"/>
                <a:cs typeface="Century Schoolbook" pitchFamily="34" charset="-120"/>
              </a:rPr>
              <a:t>262 KB</a:t>
            </a:r>
            <a:endParaRPr lang="en-US" sz="2600" dirty="0"/>
          </a:p>
        </p:txBody>
      </p:sp>
      <p:sp>
        <p:nvSpPr>
          <p:cNvPr id="8" name="Text 6"/>
          <p:cNvSpPr/>
          <p:nvPr/>
        </p:nvSpPr>
        <p:spPr>
          <a:xfrm>
            <a:off x="932688" y="3666744"/>
            <a:ext cx="3749040" cy="50292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per record on the wire. Client does the heavy encryption and pays the bandwidth.</a:t>
            </a:r>
            <a:endParaRPr lang="en-US" sz="1050" dirty="0"/>
          </a:p>
        </p:txBody>
      </p:sp>
      <p:sp>
        <p:nvSpPr>
          <p:cNvPr id="9" name="Shape 7"/>
          <p:cNvSpPr/>
          <p:nvPr/>
        </p:nvSpPr>
        <p:spPr>
          <a:xfrm>
            <a:off x="7223760" y="2606040"/>
            <a:ext cx="4297680" cy="1691640"/>
          </a:xfrm>
          <a:prstGeom prst="rect">
            <a:avLst/>
          </a:prstGeom>
          <a:solidFill>
            <a:srgbClr val="EFE7D6"/>
          </a:solidFill>
          <a:ln w="19050">
            <a:solidFill>
              <a:srgbClr val="9A6A28"/>
            </a:solidFill>
            <a:prstDash val="solid"/>
          </a:ln>
        </p:spPr>
      </p:sp>
      <p:sp>
        <p:nvSpPr>
          <p:cNvPr id="10" name="Text 8"/>
          <p:cNvSpPr/>
          <p:nvPr/>
        </p:nvSpPr>
        <p:spPr>
          <a:xfrm>
            <a:off x="7498080" y="2807208"/>
            <a:ext cx="3749040" cy="274320"/>
          </a:xfrm>
          <a:prstGeom prst="rect">
            <a:avLst/>
          </a:prstGeom>
          <a:noFill/>
          <a:ln/>
        </p:spPr>
        <p:txBody>
          <a:bodyPr wrap="square" lIns="0" tIns="0" rIns="0" bIns="0" rtlCol="0" anchor="ctr"/>
          <a:lstStyle/>
          <a:p>
            <a:pPr indent="0" marL="0">
              <a:buNone/>
            </a:pPr>
            <a:r>
              <a:rPr lang="en-US" sz="1100" b="1" spc="80" kern="0" dirty="0">
                <a:solidFill>
                  <a:srgbClr val="9A6A28"/>
                </a:solidFill>
                <a:latin typeface="Calibri" pitchFamily="34" charset="0"/>
                <a:ea typeface="Calibri" pitchFamily="34" charset="-122"/>
                <a:cs typeface="Calibri" pitchFamily="34" charset="-120"/>
              </a:rPr>
              <a:t>B · Transciphering</a:t>
            </a:r>
            <a:endParaRPr lang="en-US" sz="1100" dirty="0"/>
          </a:p>
        </p:txBody>
      </p:sp>
      <p:sp>
        <p:nvSpPr>
          <p:cNvPr id="11" name="Text 9"/>
          <p:cNvSpPr/>
          <p:nvPr/>
        </p:nvSpPr>
        <p:spPr>
          <a:xfrm>
            <a:off x="7498080" y="3136392"/>
            <a:ext cx="3749040" cy="475488"/>
          </a:xfrm>
          <a:prstGeom prst="rect">
            <a:avLst/>
          </a:prstGeom>
          <a:noFill/>
          <a:ln/>
        </p:spPr>
        <p:txBody>
          <a:bodyPr wrap="square" lIns="0" tIns="0" rIns="0" bIns="0" rtlCol="0" anchor="ctr"/>
          <a:lstStyle/>
          <a:p>
            <a:pPr indent="0" marL="0">
              <a:buNone/>
            </a:pPr>
            <a:r>
              <a:rPr lang="en-US" sz="2600" dirty="0">
                <a:solidFill>
                  <a:srgbClr val="1C2530"/>
                </a:solidFill>
                <a:latin typeface="Century Schoolbook" pitchFamily="34" charset="0"/>
                <a:ea typeface="Century Schoolbook" pitchFamily="34" charset="-122"/>
                <a:cs typeface="Century Schoolbook" pitchFamily="34" charset="-120"/>
              </a:rPr>
              <a:t>~1 KB</a:t>
            </a:r>
            <a:endParaRPr lang="en-US" sz="2600" dirty="0"/>
          </a:p>
        </p:txBody>
      </p:sp>
      <p:sp>
        <p:nvSpPr>
          <p:cNvPr id="12" name="Text 10"/>
          <p:cNvSpPr/>
          <p:nvPr/>
        </p:nvSpPr>
        <p:spPr>
          <a:xfrm>
            <a:off x="7498080" y="3666744"/>
            <a:ext cx="3749040" cy="50292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per record. Client runs a cheap cipher; the server reconstructs the encrypted form itself.</a:t>
            </a:r>
            <a:endParaRPr lang="en-US" sz="1050" dirty="0"/>
          </a:p>
        </p:txBody>
      </p:sp>
      <p:sp>
        <p:nvSpPr>
          <p:cNvPr id="13" name="Text 11"/>
          <p:cNvSpPr/>
          <p:nvPr/>
        </p:nvSpPr>
        <p:spPr>
          <a:xfrm>
            <a:off x="5120640" y="3108960"/>
            <a:ext cx="2011680" cy="502920"/>
          </a:xfrm>
          <a:prstGeom prst="rect">
            <a:avLst/>
          </a:prstGeom>
          <a:noFill/>
          <a:ln/>
        </p:spPr>
        <p:txBody>
          <a:bodyPr wrap="square" lIns="0" tIns="0" rIns="0" bIns="0" rtlCol="0" anchor="ctr"/>
          <a:lstStyle/>
          <a:p>
            <a:pPr algn="ctr" indent="0" marL="0">
              <a:buNone/>
            </a:pPr>
            <a:r>
              <a:rPr lang="en-US" sz="2700" dirty="0">
                <a:solidFill>
                  <a:srgbClr val="9A6A28"/>
                </a:solidFill>
                <a:latin typeface="Century Schoolbook" pitchFamily="34" charset="0"/>
                <a:ea typeface="Century Schoolbook" pitchFamily="34" charset="-122"/>
                <a:cs typeface="Century Schoolbook" pitchFamily="34" charset="-120"/>
              </a:rPr>
              <a:t>249×</a:t>
            </a:r>
            <a:endParaRPr lang="en-US" sz="2700" dirty="0"/>
          </a:p>
        </p:txBody>
      </p:sp>
      <p:sp>
        <p:nvSpPr>
          <p:cNvPr id="14" name="Text 12"/>
          <p:cNvSpPr/>
          <p:nvPr/>
        </p:nvSpPr>
        <p:spPr>
          <a:xfrm>
            <a:off x="4956048" y="3630168"/>
            <a:ext cx="2340864" cy="274320"/>
          </a:xfrm>
          <a:prstGeom prst="rect">
            <a:avLst/>
          </a:prstGeom>
          <a:noFill/>
          <a:ln/>
        </p:spPr>
        <p:txBody>
          <a:bodyPr wrap="square" lIns="0" tIns="0" rIns="0" bIns="0" rtlCol="0" anchor="ctr"/>
          <a:lstStyle/>
          <a:p>
            <a:pPr algn="ctr" indent="0" marL="0">
              <a:buNone/>
            </a:pPr>
            <a:r>
              <a:rPr lang="en-US" sz="900" dirty="0">
                <a:solidFill>
                  <a:srgbClr val="7C848D"/>
                </a:solidFill>
                <a:latin typeface="Calibri" pitchFamily="34" charset="0"/>
                <a:ea typeface="Calibri" pitchFamily="34" charset="-122"/>
                <a:cs typeface="Calibri" pitchFamily="34" charset="-120"/>
              </a:rPr>
              <a:t>262,257 → 1,052 bytes</a:t>
            </a:r>
            <a:endParaRPr lang="en-US" sz="900" dirty="0"/>
          </a:p>
        </p:txBody>
      </p:sp>
      <p:sp>
        <p:nvSpPr>
          <p:cNvPr id="15" name="Text 13"/>
          <p:cNvSpPr/>
          <p:nvPr/>
        </p:nvSpPr>
        <p:spPr>
          <a:xfrm>
            <a:off x="658368" y="4709160"/>
            <a:ext cx="10332720" cy="36576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Same guarantee, same computation at the end. The cost is moved to the server, not removed.</a:t>
            </a:r>
            <a:endParaRPr lang="en-US" sz="1300" dirty="0"/>
          </a:p>
        </p:txBody>
      </p:sp>
      <p:sp>
        <p:nvSpPr>
          <p:cNvPr id="16" name="Text 14"/>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7" name="Text 15"/>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03 · THE CIPHER</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Why HERA and not AES</a:t>
            </a:r>
            <a:endParaRPr lang="en-US" sz="2700" dirty="0"/>
          </a:p>
        </p:txBody>
      </p:sp>
      <p:sp>
        <p:nvSpPr>
          <p:cNvPr id="4" name="Shape 2"/>
          <p:cNvSpPr/>
          <p:nvPr/>
        </p:nvSpPr>
        <p:spPr>
          <a:xfrm>
            <a:off x="10051999" y="402336"/>
            <a:ext cx="1481328" cy="219456"/>
          </a:xfrm>
          <a:prstGeom prst="rect">
            <a:avLst/>
          </a:prstGeom>
          <a:ln w="9525">
            <a:solidFill>
              <a:srgbClr val="1C2530"/>
            </a:solidFill>
            <a:prstDash val="solid"/>
          </a:ln>
        </p:spPr>
      </p:sp>
      <p:sp>
        <p:nvSpPr>
          <p:cNvPr id="5" name="Text 3"/>
          <p:cNvSpPr/>
          <p:nvPr/>
        </p:nvSpPr>
        <p:spPr>
          <a:xfrm>
            <a:off x="10051999" y="402336"/>
            <a:ext cx="1481328" cy="219456"/>
          </a:xfrm>
          <a:prstGeom prst="rect">
            <a:avLst/>
          </a:prstGeom>
          <a:noFill/>
          <a:ln/>
        </p:spPr>
        <p:txBody>
          <a:bodyPr wrap="square" lIns="0" tIns="0" rIns="0" bIns="0" rtlCol="0" anchor="ctr"/>
          <a:lstStyle/>
          <a:p>
            <a:pPr algn="ctr" indent="0" marL="0">
              <a:buNone/>
            </a:pPr>
            <a:r>
              <a:rPr lang="en-US" sz="750" b="1" spc="80" kern="0" dirty="0">
                <a:solidFill>
                  <a:srgbClr val="1C2530"/>
                </a:solidFill>
                <a:latin typeface="Calibri" pitchFamily="34" charset="0"/>
                <a:ea typeface="Calibri" pitchFamily="34" charset="-122"/>
                <a:cs typeface="Calibri" pitchFamily="34" charset="-120"/>
              </a:rPr>
              <a:t>CONFIRMED-SOURCE</a:t>
            </a:r>
            <a:endParaRPr lang="en-US" sz="750" dirty="0"/>
          </a:p>
        </p:txBody>
      </p:sp>
      <p:sp>
        <p:nvSpPr>
          <p:cNvPr id="6" name="Text 4"/>
          <p:cNvSpPr/>
          <p:nvPr/>
        </p:nvSpPr>
        <p:spPr>
          <a:xfrm>
            <a:off x="658368" y="1463040"/>
            <a:ext cx="9875520" cy="6400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Inside homomorphic encryption the cost metric is multiplicative depth, not instruction count. AES was designed against a CPU cost model; HERA was designed against this one.</a:t>
            </a:r>
            <a:endParaRPr lang="en-US" sz="1450" dirty="0"/>
          </a:p>
        </p:txBody>
      </p:sp>
      <p:sp>
        <p:nvSpPr>
          <p:cNvPr id="7" name="Shape 5"/>
          <p:cNvSpPr/>
          <p:nvPr/>
        </p:nvSpPr>
        <p:spPr>
          <a:xfrm>
            <a:off x="658368" y="2606040"/>
            <a:ext cx="3108960" cy="1371600"/>
          </a:xfrm>
          <a:prstGeom prst="rect">
            <a:avLst/>
          </a:prstGeom>
          <a:solidFill>
            <a:srgbClr val="FFFFFF"/>
          </a:solidFill>
          <a:ln w="12700">
            <a:solidFill>
              <a:srgbClr val="D3CCC0"/>
            </a:solidFill>
            <a:prstDash val="solid"/>
          </a:ln>
        </p:spPr>
      </p:sp>
      <p:sp>
        <p:nvSpPr>
          <p:cNvPr id="8" name="Text 6"/>
          <p:cNvSpPr/>
          <p:nvPr/>
        </p:nvSpPr>
        <p:spPr>
          <a:xfrm>
            <a:off x="886968"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Add key material</a:t>
            </a:r>
            <a:endParaRPr lang="en-US" sz="1300" dirty="0"/>
          </a:p>
        </p:txBody>
      </p:sp>
      <p:sp>
        <p:nvSpPr>
          <p:cNvPr id="9" name="Text 7"/>
          <p:cNvSpPr/>
          <p:nvPr/>
        </p:nvSpPr>
        <p:spPr>
          <a:xfrm>
            <a:off x="886968" y="3172968"/>
            <a:ext cx="2651760" cy="256032"/>
          </a:xfrm>
          <a:prstGeom prst="rect">
            <a:avLst/>
          </a:prstGeom>
          <a:noFill/>
          <a:ln/>
        </p:spPr>
        <p:txBody>
          <a:bodyPr wrap="square" lIns="0" tIns="0" rIns="0" bIns="0" rtlCol="0" anchor="ctr"/>
          <a:lstStyle/>
          <a:p>
            <a:pPr indent="0" marL="0">
              <a:buNone/>
            </a:pPr>
            <a:r>
              <a:rPr lang="en-US" sz="1050" spc="80" kern="0" dirty="0">
                <a:solidFill>
                  <a:srgbClr val="7C848D"/>
                </a:solidFill>
                <a:latin typeface="Calibri" pitchFamily="34" charset="0"/>
                <a:ea typeface="Calibri" pitchFamily="34" charset="-122"/>
                <a:cs typeface="Calibri" pitchFamily="34" charset="-120"/>
              </a:rPr>
              <a:t>cheap</a:t>
            </a:r>
            <a:endParaRPr lang="en-US" sz="1050" dirty="0"/>
          </a:p>
        </p:txBody>
      </p:sp>
      <p:sp>
        <p:nvSpPr>
          <p:cNvPr id="10" name="Text 8"/>
          <p:cNvSpPr/>
          <p:nvPr/>
        </p:nvSpPr>
        <p:spPr>
          <a:xfrm>
            <a:off x="886968"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scrambled by public constants</a:t>
            </a:r>
            <a:endParaRPr lang="en-US" sz="1000" dirty="0"/>
          </a:p>
        </p:txBody>
      </p:sp>
      <p:sp>
        <p:nvSpPr>
          <p:cNvPr id="11" name="Shape 9"/>
          <p:cNvSpPr/>
          <p:nvPr/>
        </p:nvSpPr>
        <p:spPr>
          <a:xfrm>
            <a:off x="3840480" y="3291840"/>
            <a:ext cx="237744" cy="0"/>
          </a:xfrm>
          <a:prstGeom prst="line">
            <a:avLst/>
          </a:prstGeom>
          <a:noFill/>
          <a:ln w="15875">
            <a:solidFill>
              <a:srgbClr val="7C848D"/>
            </a:solidFill>
            <a:prstDash val="solid"/>
            <a:headEnd type="none"/>
            <a:tailEnd type="triangle"/>
          </a:ln>
        </p:spPr>
      </p:sp>
      <p:sp>
        <p:nvSpPr>
          <p:cNvPr id="12" name="Shape 10"/>
          <p:cNvSpPr/>
          <p:nvPr/>
        </p:nvSpPr>
        <p:spPr>
          <a:xfrm>
            <a:off x="4151376" y="2606040"/>
            <a:ext cx="3108960" cy="1371600"/>
          </a:xfrm>
          <a:prstGeom prst="rect">
            <a:avLst/>
          </a:prstGeom>
          <a:solidFill>
            <a:srgbClr val="FFFFFF"/>
          </a:solidFill>
          <a:ln w="12700">
            <a:solidFill>
              <a:srgbClr val="D3CCC0"/>
            </a:solidFill>
            <a:prstDash val="solid"/>
          </a:ln>
        </p:spPr>
      </p:sp>
      <p:sp>
        <p:nvSpPr>
          <p:cNvPr id="13" name="Text 11"/>
          <p:cNvSpPr/>
          <p:nvPr/>
        </p:nvSpPr>
        <p:spPr>
          <a:xfrm>
            <a:off x="4379976"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Mix the 16 numbers</a:t>
            </a:r>
            <a:endParaRPr lang="en-US" sz="1300" dirty="0"/>
          </a:p>
        </p:txBody>
      </p:sp>
      <p:sp>
        <p:nvSpPr>
          <p:cNvPr id="14" name="Text 12"/>
          <p:cNvSpPr/>
          <p:nvPr/>
        </p:nvSpPr>
        <p:spPr>
          <a:xfrm>
            <a:off x="4379976" y="3172968"/>
            <a:ext cx="2651760" cy="256032"/>
          </a:xfrm>
          <a:prstGeom prst="rect">
            <a:avLst/>
          </a:prstGeom>
          <a:noFill/>
          <a:ln/>
        </p:spPr>
        <p:txBody>
          <a:bodyPr wrap="square" lIns="0" tIns="0" rIns="0" bIns="0" rtlCol="0" anchor="ctr"/>
          <a:lstStyle/>
          <a:p>
            <a:pPr indent="0" marL="0">
              <a:buNone/>
            </a:pPr>
            <a:r>
              <a:rPr lang="en-US" sz="1050" spc="80" kern="0" dirty="0">
                <a:solidFill>
                  <a:srgbClr val="7C848D"/>
                </a:solidFill>
                <a:latin typeface="Calibri" pitchFamily="34" charset="0"/>
                <a:ea typeface="Calibri" pitchFamily="34" charset="-122"/>
                <a:cs typeface="Calibri" pitchFamily="34" charset="-120"/>
              </a:rPr>
              <a:t>cheap</a:t>
            </a:r>
            <a:endParaRPr lang="en-US" sz="1050" dirty="0"/>
          </a:p>
        </p:txBody>
      </p:sp>
      <p:sp>
        <p:nvSpPr>
          <p:cNvPr id="15" name="Text 13"/>
          <p:cNvSpPr/>
          <p:nvPr/>
        </p:nvSpPr>
        <p:spPr>
          <a:xfrm>
            <a:off x="4379976"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a fixed shuffle-and-combine</a:t>
            </a:r>
            <a:endParaRPr lang="en-US" sz="1000" dirty="0"/>
          </a:p>
        </p:txBody>
      </p:sp>
      <p:sp>
        <p:nvSpPr>
          <p:cNvPr id="16" name="Shape 14"/>
          <p:cNvSpPr/>
          <p:nvPr/>
        </p:nvSpPr>
        <p:spPr>
          <a:xfrm>
            <a:off x="7333488" y="3291840"/>
            <a:ext cx="237744" cy="0"/>
          </a:xfrm>
          <a:prstGeom prst="line">
            <a:avLst/>
          </a:prstGeom>
          <a:noFill/>
          <a:ln w="15875">
            <a:solidFill>
              <a:srgbClr val="7C848D"/>
            </a:solidFill>
            <a:prstDash val="solid"/>
            <a:headEnd type="none"/>
            <a:tailEnd type="triangle"/>
          </a:ln>
        </p:spPr>
      </p:sp>
      <p:sp>
        <p:nvSpPr>
          <p:cNvPr id="17" name="Shape 15"/>
          <p:cNvSpPr/>
          <p:nvPr/>
        </p:nvSpPr>
        <p:spPr>
          <a:xfrm>
            <a:off x="7644384" y="2606040"/>
            <a:ext cx="3108960" cy="1371600"/>
          </a:xfrm>
          <a:prstGeom prst="rect">
            <a:avLst/>
          </a:prstGeom>
          <a:solidFill>
            <a:srgbClr val="E4D8BF"/>
          </a:solidFill>
          <a:ln w="19050">
            <a:solidFill>
              <a:srgbClr val="9A6A28"/>
            </a:solidFill>
            <a:prstDash val="solid"/>
          </a:ln>
        </p:spPr>
      </p:sp>
      <p:sp>
        <p:nvSpPr>
          <p:cNvPr id="18" name="Text 16"/>
          <p:cNvSpPr/>
          <p:nvPr/>
        </p:nvSpPr>
        <p:spPr>
          <a:xfrm>
            <a:off x="7872984"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Cube each number</a:t>
            </a:r>
            <a:endParaRPr lang="en-US" sz="1300" dirty="0"/>
          </a:p>
        </p:txBody>
      </p:sp>
      <p:sp>
        <p:nvSpPr>
          <p:cNvPr id="19" name="Text 17"/>
          <p:cNvSpPr/>
          <p:nvPr/>
        </p:nvSpPr>
        <p:spPr>
          <a:xfrm>
            <a:off x="7872984" y="3172968"/>
            <a:ext cx="2651760" cy="256032"/>
          </a:xfrm>
          <a:prstGeom prst="rect">
            <a:avLst/>
          </a:prstGeom>
          <a:noFill/>
          <a:ln/>
        </p:spPr>
        <p:txBody>
          <a:bodyPr wrap="square" lIns="0" tIns="0" rIns="0" bIns="0" rtlCol="0" anchor="ctr"/>
          <a:lstStyle/>
          <a:p>
            <a:pPr indent="0" marL="0">
              <a:buNone/>
            </a:pPr>
            <a:r>
              <a:rPr lang="en-US" sz="1050" b="1" spc="80" kern="0" dirty="0">
                <a:solidFill>
                  <a:srgbClr val="9A6A28"/>
                </a:solidFill>
                <a:latin typeface="Calibri" pitchFamily="34" charset="0"/>
                <a:ea typeface="Calibri" pitchFamily="34" charset="-122"/>
                <a:cs typeface="Calibri" pitchFamily="34" charset="-120"/>
              </a:rPr>
              <a:t>EXPENSIVE</a:t>
            </a:r>
            <a:endParaRPr lang="en-US" sz="1050" dirty="0"/>
          </a:p>
        </p:txBody>
      </p:sp>
      <p:sp>
        <p:nvSpPr>
          <p:cNvPr id="20" name="Text 18"/>
          <p:cNvSpPr/>
          <p:nvPr/>
        </p:nvSpPr>
        <p:spPr>
          <a:xfrm>
            <a:off x="7872984"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the only nonlinear step — two chained multiplications</a:t>
            </a:r>
            <a:endParaRPr lang="en-US" sz="1000" dirty="0"/>
          </a:p>
        </p:txBody>
      </p:sp>
      <p:sp>
        <p:nvSpPr>
          <p:cNvPr id="21" name="Text 19"/>
          <p:cNvSpPr/>
          <p:nvPr/>
        </p:nvSpPr>
        <p:spPr>
          <a:xfrm>
            <a:off x="658368" y="4114800"/>
            <a:ext cx="6400800" cy="256032"/>
          </a:xfrm>
          <a:prstGeom prst="rect">
            <a:avLst/>
          </a:prstGeom>
          <a:noFill/>
          <a:ln/>
        </p:spPr>
        <p:txBody>
          <a:bodyPr wrap="square" lIns="0" tIns="0" rIns="0" bIns="0" rtlCol="0" anchor="ctr"/>
          <a:lstStyle/>
          <a:p>
            <a:pPr indent="0" marL="0">
              <a:buNone/>
            </a:pPr>
            <a:r>
              <a:rPr lang="en-US" sz="1000" i="1" dirty="0">
                <a:solidFill>
                  <a:srgbClr val="7C848D"/>
                </a:solidFill>
                <a:latin typeface="Calibri" pitchFamily="34" charset="0"/>
                <a:ea typeface="Calibri" pitchFamily="34" charset="-122"/>
                <a:cs typeface="Calibri" pitchFamily="34" charset="-120"/>
              </a:rPr>
              <a:t>one round, repeated 5 times · 16-element state</a:t>
            </a:r>
            <a:endParaRPr lang="en-US" sz="1000" dirty="0"/>
          </a:p>
        </p:txBody>
      </p:sp>
      <p:sp>
        <p:nvSpPr>
          <p:cNvPr id="22" name="Shape 20"/>
          <p:cNvSpPr/>
          <p:nvPr/>
        </p:nvSpPr>
        <p:spPr>
          <a:xfrm>
            <a:off x="658368" y="4572000"/>
            <a:ext cx="10881360" cy="777240"/>
          </a:xfrm>
          <a:prstGeom prst="rect">
            <a:avLst/>
          </a:prstGeom>
          <a:solidFill>
            <a:srgbClr val="EDE8DE"/>
          </a:solidFill>
          <a:ln w="12700">
            <a:solidFill>
              <a:srgbClr val="7C848D"/>
            </a:solidFill>
            <a:prstDash val="dash"/>
          </a:ln>
        </p:spPr>
      </p:sp>
      <p:sp>
        <p:nvSpPr>
          <p:cNvPr id="23" name="Text 21"/>
          <p:cNvSpPr/>
          <p:nvPr/>
        </p:nvSpPr>
        <p:spPr>
          <a:xfrm>
            <a:off x="932688" y="4681728"/>
            <a:ext cx="10332720" cy="566928"/>
          </a:xfrm>
          <a:prstGeom prst="rect">
            <a:avLst/>
          </a:prstGeom>
          <a:noFill/>
          <a:ln/>
        </p:spPr>
        <p:txBody>
          <a:bodyPr wrap="square" lIns="0" tIns="0" rIns="0" bIns="0" rtlCol="0" anchor="ctr"/>
          <a:lstStyle/>
          <a:p>
            <a:pPr indent="0" marL="0">
              <a:lnSpc>
                <a:spcPts val="1800"/>
              </a:lnSpc>
              <a:buNone/>
            </a:pPr>
            <a:r>
              <a:rPr lang="en-US" sz="1200" dirty="0">
                <a:solidFill>
                  <a:srgbClr val="3B4650"/>
                </a:solidFill>
                <a:latin typeface="Calibri" pitchFamily="34" charset="0"/>
                <a:ea typeface="Calibri" pitchFamily="34" charset="-122"/>
                <a:cs typeface="Calibri" pitchFamily="34" charset="-120"/>
              </a:rPr>
              <a:t>HERA needs fresh randomness every round. It injects it into the key schedule — multiplication by a public constant — instead of into the mixing step, where it would cost depth.</a:t>
            </a:r>
            <a:endParaRPr lang="en-US" sz="1200" dirty="0"/>
          </a:p>
        </p:txBody>
      </p:sp>
      <p:sp>
        <p:nvSpPr>
          <p:cNvPr id="24" name="Text 22"/>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5" name="Text 23"/>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04 · THE KEY INSIGHT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expensive work does not depend on the data</a:t>
            </a:r>
            <a:endParaRPr lang="en-US" sz="2700" dirty="0"/>
          </a:p>
        </p:txBody>
      </p:sp>
      <p:sp>
        <p:nvSpPr>
          <p:cNvPr id="4" name="Text 2"/>
          <p:cNvSpPr/>
          <p:nvPr/>
        </p:nvSpPr>
        <p:spPr>
          <a:xfrm>
            <a:off x="658368" y="1444752"/>
            <a:ext cx="10332720" cy="6400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HERA is a stream cipher: the keystream depends only on the key and a public nonce. So the server can build the encrypted keystream before any record exists.</a:t>
            </a:r>
            <a:endParaRPr lang="en-US" sz="1450" dirty="0"/>
          </a:p>
        </p:txBody>
      </p:sp>
      <p:sp>
        <p:nvSpPr>
          <p:cNvPr id="5" name="Shape 3"/>
          <p:cNvSpPr/>
          <p:nvPr/>
        </p:nvSpPr>
        <p:spPr>
          <a:xfrm>
            <a:off x="658368" y="2514600"/>
            <a:ext cx="4892040" cy="1965960"/>
          </a:xfrm>
          <a:prstGeom prst="rect">
            <a:avLst/>
          </a:prstGeom>
          <a:solidFill>
            <a:srgbClr val="E4D8BF"/>
          </a:solidFill>
          <a:ln w="19050">
            <a:solidFill>
              <a:srgbClr val="9A6A28"/>
            </a:solidFill>
            <a:prstDash val="solid"/>
          </a:ln>
        </p:spPr>
      </p:sp>
      <p:sp>
        <p:nvSpPr>
          <p:cNvPr id="6" name="Text 4"/>
          <p:cNvSpPr/>
          <p:nvPr/>
        </p:nvSpPr>
        <p:spPr>
          <a:xfrm>
            <a:off x="950976" y="2697480"/>
            <a:ext cx="2743200" cy="274320"/>
          </a:xfrm>
          <a:prstGeom prst="rect">
            <a:avLst/>
          </a:prstGeom>
          <a:noFill/>
          <a:ln/>
        </p:spPr>
        <p:txBody>
          <a:bodyPr wrap="square" lIns="0" tIns="0" rIns="0" bIns="0" rtlCol="0" anchor="ctr"/>
          <a:lstStyle/>
          <a:p>
            <a:pPr indent="0" marL="0">
              <a:buNone/>
            </a:pPr>
            <a:r>
              <a:rPr lang="en-US" sz="1100" b="1" spc="140" kern="0" dirty="0">
                <a:solidFill>
                  <a:srgbClr val="9A6A28"/>
                </a:solidFill>
                <a:latin typeface="Calibri" pitchFamily="34" charset="0"/>
                <a:ea typeface="Calibri" pitchFamily="34" charset="-122"/>
                <a:cs typeface="Calibri" pitchFamily="34" charset="-120"/>
              </a:rPr>
              <a:t>OFFLINE</a:t>
            </a:r>
            <a:endParaRPr lang="en-US" sz="1100" dirty="0"/>
          </a:p>
        </p:txBody>
      </p:sp>
      <p:sp>
        <p:nvSpPr>
          <p:cNvPr id="7" name="Text 5"/>
          <p:cNvSpPr/>
          <p:nvPr/>
        </p:nvSpPr>
        <p:spPr>
          <a:xfrm>
            <a:off x="2761488" y="2715768"/>
            <a:ext cx="2496312" cy="256032"/>
          </a:xfrm>
          <a:prstGeom prst="rect">
            <a:avLst/>
          </a:prstGeom>
          <a:noFill/>
          <a:ln/>
        </p:spPr>
        <p:txBody>
          <a:bodyPr wrap="square" lIns="0" tIns="0" rIns="0" bIns="0" rtlCol="0" anchor="ctr"/>
          <a:lstStyle/>
          <a:p>
            <a:pPr algn="r" indent="0" marL="0">
              <a:buNone/>
            </a:pPr>
            <a:r>
              <a:rPr lang="en-US" sz="950" dirty="0">
                <a:solidFill>
                  <a:srgbClr val="3B4650"/>
                </a:solidFill>
                <a:latin typeface="Calibri" pitchFamily="34" charset="0"/>
                <a:ea typeface="Calibri" pitchFamily="34" charset="-122"/>
                <a:cs typeface="Calibri" pitchFamily="34" charset="-120"/>
              </a:rPr>
              <a:t>minutes · covers a whole batch</a:t>
            </a:r>
            <a:endParaRPr lang="en-US" sz="950" dirty="0"/>
          </a:p>
        </p:txBody>
      </p:sp>
      <p:sp>
        <p:nvSpPr>
          <p:cNvPr id="8" name="Text 6"/>
          <p:cNvSpPr/>
          <p:nvPr/>
        </p:nvSpPr>
        <p:spPr>
          <a:xfrm>
            <a:off x="950976" y="3118104"/>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Evaluate HERA homomorphically</a:t>
            </a:r>
            <a:endParaRPr lang="en-US" sz="1350" dirty="0"/>
          </a:p>
        </p:txBody>
      </p:sp>
      <p:sp>
        <p:nvSpPr>
          <p:cNvPr id="9" name="Text 7"/>
          <p:cNvSpPr/>
          <p:nvPr/>
        </p:nvSpPr>
        <p:spPr>
          <a:xfrm>
            <a:off x="950976" y="3465576"/>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Rearrange into coefficient layout</a:t>
            </a:r>
            <a:endParaRPr lang="en-US" sz="1350" dirty="0"/>
          </a:p>
        </p:txBody>
      </p:sp>
      <p:sp>
        <p:nvSpPr>
          <p:cNvPr id="10" name="Text 8"/>
          <p:cNvSpPr/>
          <p:nvPr/>
        </p:nvSpPr>
        <p:spPr>
          <a:xfrm>
            <a:off x="950976" y="3977640"/>
            <a:ext cx="4343400" cy="274320"/>
          </a:xfrm>
          <a:prstGeom prst="rect">
            <a:avLst/>
          </a:prstGeom>
          <a:noFill/>
          <a:ln/>
        </p:spPr>
        <p:txBody>
          <a:bodyPr wrap="square" lIns="0" tIns="0" rIns="0" bIns="0" rtlCol="0" anchor="ctr"/>
          <a:lstStyle/>
          <a:p>
            <a:pPr indent="0" marL="0">
              <a:buNone/>
            </a:pPr>
            <a:r>
              <a:rPr lang="en-US" sz="1050" i="1" dirty="0">
                <a:solidFill>
                  <a:srgbClr val="9A6A28"/>
                </a:solidFill>
                <a:latin typeface="Calibri" pitchFamily="34" charset="0"/>
                <a:ea typeface="Calibri" pitchFamily="34" charset="-122"/>
                <a:cs typeface="Calibri" pitchFamily="34" charset="-120"/>
              </a:rPr>
              <a:t>expensive · independent of the data</a:t>
            </a:r>
            <a:endParaRPr lang="en-US" sz="1050" dirty="0"/>
          </a:p>
        </p:txBody>
      </p:sp>
      <p:sp>
        <p:nvSpPr>
          <p:cNvPr id="11" name="Shape 9"/>
          <p:cNvSpPr/>
          <p:nvPr/>
        </p:nvSpPr>
        <p:spPr>
          <a:xfrm>
            <a:off x="6629400" y="2514600"/>
            <a:ext cx="4892040" cy="1965960"/>
          </a:xfrm>
          <a:prstGeom prst="rect">
            <a:avLst/>
          </a:prstGeom>
          <a:solidFill>
            <a:srgbClr val="FFFFFF"/>
          </a:solidFill>
          <a:ln w="12700">
            <a:solidFill>
              <a:srgbClr val="1C2530"/>
            </a:solidFill>
            <a:prstDash val="solid"/>
          </a:ln>
        </p:spPr>
      </p:sp>
      <p:sp>
        <p:nvSpPr>
          <p:cNvPr id="12" name="Text 10"/>
          <p:cNvSpPr/>
          <p:nvPr/>
        </p:nvSpPr>
        <p:spPr>
          <a:xfrm>
            <a:off x="6922008" y="2697480"/>
            <a:ext cx="2743200" cy="274320"/>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ONLINE</a:t>
            </a:r>
            <a:endParaRPr lang="en-US" sz="1100" dirty="0"/>
          </a:p>
        </p:txBody>
      </p:sp>
      <p:sp>
        <p:nvSpPr>
          <p:cNvPr id="13" name="Text 11"/>
          <p:cNvSpPr/>
          <p:nvPr/>
        </p:nvSpPr>
        <p:spPr>
          <a:xfrm>
            <a:off x="8732520" y="2715768"/>
            <a:ext cx="2496312" cy="256032"/>
          </a:xfrm>
          <a:prstGeom prst="rect">
            <a:avLst/>
          </a:prstGeom>
          <a:noFill/>
          <a:ln/>
        </p:spPr>
        <p:txBody>
          <a:bodyPr wrap="square" lIns="0" tIns="0" rIns="0" bIns="0" rtlCol="0" anchor="ctr"/>
          <a:lstStyle/>
          <a:p>
            <a:pPr algn="r" indent="0" marL="0">
              <a:buNone/>
            </a:pPr>
            <a:r>
              <a:rPr lang="en-US" sz="950" dirty="0">
                <a:solidFill>
                  <a:srgbClr val="3B4650"/>
                </a:solidFill>
                <a:latin typeface="Calibri" pitchFamily="34" charset="0"/>
                <a:ea typeface="Calibri" pitchFamily="34" charset="-122"/>
                <a:cs typeface="Calibri" pitchFamily="34" charset="-120"/>
              </a:rPr>
              <a:t>milliseconds · per record</a:t>
            </a:r>
            <a:endParaRPr lang="en-US" sz="950" dirty="0"/>
          </a:p>
        </p:txBody>
      </p:sp>
      <p:sp>
        <p:nvSpPr>
          <p:cNvPr id="14" name="Text 12"/>
          <p:cNvSpPr/>
          <p:nvPr/>
        </p:nvSpPr>
        <p:spPr>
          <a:xfrm>
            <a:off x="6922008" y="3118104"/>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One subtraction</a:t>
            </a:r>
            <a:endParaRPr lang="en-US" sz="1350" dirty="0"/>
          </a:p>
        </p:txBody>
      </p:sp>
      <p:sp>
        <p:nvSpPr>
          <p:cNvPr id="15" name="Text 13"/>
          <p:cNvSpPr/>
          <p:nvPr/>
        </p:nvSpPr>
        <p:spPr>
          <a:xfrm>
            <a:off x="6922008" y="3465576"/>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One repair step (HalfBoot)</a:t>
            </a:r>
            <a:endParaRPr lang="en-US" sz="1350" dirty="0"/>
          </a:p>
        </p:txBody>
      </p:sp>
      <p:sp>
        <p:nvSpPr>
          <p:cNvPr id="16" name="Text 14"/>
          <p:cNvSpPr/>
          <p:nvPr/>
        </p:nvSpPr>
        <p:spPr>
          <a:xfrm>
            <a:off x="6922008" y="3977640"/>
            <a:ext cx="4343400" cy="274320"/>
          </a:xfrm>
          <a:prstGeom prst="rect">
            <a:avLst/>
          </a:prstGeom>
          <a:noFill/>
          <a:ln/>
        </p:spPr>
        <p:txBody>
          <a:bodyPr wrap="square" lIns="0" tIns="0" rIns="0" bIns="0" rtlCol="0" anchor="ctr"/>
          <a:lstStyle/>
          <a:p>
            <a:pPr indent="0" marL="0">
              <a:buNone/>
            </a:pPr>
            <a:r>
              <a:rPr lang="en-US" sz="1050" i="1" dirty="0">
                <a:solidFill>
                  <a:srgbClr val="7C848D"/>
                </a:solidFill>
                <a:latin typeface="Calibri" pitchFamily="34" charset="0"/>
                <a:ea typeface="Calibri" pitchFamily="34" charset="-122"/>
                <a:cs typeface="Calibri" pitchFamily="34" charset="-120"/>
              </a:rPr>
              <a:t>cheap · once per record</a:t>
            </a:r>
            <a:endParaRPr lang="en-US" sz="1050" dirty="0"/>
          </a:p>
        </p:txBody>
      </p:sp>
      <p:sp>
        <p:nvSpPr>
          <p:cNvPr id="17" name="Shape 15"/>
          <p:cNvSpPr/>
          <p:nvPr/>
        </p:nvSpPr>
        <p:spPr>
          <a:xfrm>
            <a:off x="5715000" y="3497580"/>
            <a:ext cx="667512" cy="0"/>
          </a:xfrm>
          <a:prstGeom prst="line">
            <a:avLst/>
          </a:prstGeom>
          <a:noFill/>
          <a:ln w="19050">
            <a:solidFill>
              <a:srgbClr val="1C2530"/>
            </a:solidFill>
            <a:prstDash val="solid"/>
            <a:headEnd type="none"/>
            <a:tailEnd type="triangle"/>
          </a:ln>
        </p:spPr>
      </p:sp>
      <p:sp>
        <p:nvSpPr>
          <p:cNvPr id="18" name="Text 16"/>
          <p:cNvSpPr/>
          <p:nvPr/>
        </p:nvSpPr>
        <p:spPr>
          <a:xfrm>
            <a:off x="5541264" y="3223260"/>
            <a:ext cx="1014984" cy="219456"/>
          </a:xfrm>
          <a:prstGeom prst="rect">
            <a:avLst/>
          </a:prstGeom>
          <a:noFill/>
          <a:ln/>
        </p:spPr>
        <p:txBody>
          <a:bodyPr wrap="square" lIns="0" tIns="0" rIns="0" bIns="0" rtlCol="0" anchor="ctr"/>
          <a:lstStyle/>
          <a:p>
            <a:pPr algn="ctr" indent="0" marL="0">
              <a:buNone/>
            </a:pPr>
            <a:r>
              <a:rPr lang="en-US" sz="800" dirty="0">
                <a:solidFill>
                  <a:srgbClr val="7C848D"/>
                </a:solidFill>
                <a:latin typeface="Calibri" pitchFamily="34" charset="0"/>
                <a:ea typeface="Calibri" pitchFamily="34" charset="-122"/>
                <a:cs typeface="Calibri" pitchFamily="34" charset="-120"/>
              </a:rPr>
              <a:t>data arrives</a:t>
            </a:r>
            <a:endParaRPr lang="en-US" sz="800" dirty="0"/>
          </a:p>
        </p:txBody>
      </p:sp>
      <p:sp>
        <p:nvSpPr>
          <p:cNvPr id="19" name="Text 17"/>
          <p:cNvSpPr/>
          <p:nvPr/>
        </p:nvSpPr>
        <p:spPr>
          <a:xfrm>
            <a:off x="658368" y="4800600"/>
            <a:ext cx="10515600" cy="36576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If the cipher evaluation had to run per record, the server cost would be indefensible. Because it does not, it amortises over as many records as you like.</a:t>
            </a:r>
            <a:endParaRPr lang="en-US" sz="1300" dirty="0"/>
          </a:p>
        </p:txBody>
      </p:sp>
      <p:sp>
        <p:nvSpPr>
          <p:cNvPr id="20" name="Text 18"/>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1" name="Text 19"/>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05 · SCHEMES</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Two schemes, one container</a:t>
            </a:r>
            <a:endParaRPr lang="en-US" sz="2700" dirty="0"/>
          </a:p>
        </p:txBody>
      </p:sp>
      <p:sp>
        <p:nvSpPr>
          <p:cNvPr id="4" name="Text 2"/>
          <p:cNvSpPr/>
          <p:nvPr/>
        </p:nvSpPr>
        <p:spPr>
          <a:xfrm>
            <a:off x="658368" y="1463040"/>
            <a:ext cx="1005840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Ciphers need exact integer arithmetic with wraparound; the fraud model needs decimals. Neither scheme can do the other's job.</a:t>
            </a:r>
            <a:endParaRPr lang="en-US" sz="1450" dirty="0"/>
          </a:p>
        </p:txBody>
      </p:sp>
      <p:sp>
        <p:nvSpPr>
          <p:cNvPr id="5" name="Shape 3"/>
          <p:cNvSpPr/>
          <p:nvPr/>
        </p:nvSpPr>
        <p:spPr>
          <a:xfrm>
            <a:off x="3977640" y="2286000"/>
            <a:ext cx="4251960" cy="777240"/>
          </a:xfrm>
          <a:prstGeom prst="rect">
            <a:avLst/>
          </a:prstGeom>
          <a:solidFill>
            <a:srgbClr val="1C2530"/>
          </a:solidFill>
          <a:ln w="12700">
            <a:solidFill>
              <a:srgbClr val="1C2530"/>
            </a:solidFill>
            <a:prstDash val="solid"/>
          </a:ln>
        </p:spPr>
      </p:sp>
      <p:sp>
        <p:nvSpPr>
          <p:cNvPr id="6" name="Text 4"/>
          <p:cNvSpPr/>
          <p:nvPr/>
        </p:nvSpPr>
        <p:spPr>
          <a:xfrm>
            <a:off x="3977640" y="2395728"/>
            <a:ext cx="4251960" cy="256032"/>
          </a:xfrm>
          <a:prstGeom prst="rect">
            <a:avLst/>
          </a:prstGeom>
          <a:noFill/>
          <a:ln/>
        </p:spPr>
        <p:txBody>
          <a:bodyPr wrap="square" lIns="0" tIns="0" rIns="0" bIns="0" rtlCol="0" anchor="ctr"/>
          <a:lstStyle/>
          <a:p>
            <a:pPr algn="ctr" indent="0" marL="0">
              <a:buNone/>
            </a:pPr>
            <a:r>
              <a:rPr lang="en-US" sz="1150" b="1" spc="120" kern="0" dirty="0">
                <a:solidFill>
                  <a:srgbClr val="F6F3EC"/>
                </a:solidFill>
                <a:latin typeface="Calibri" pitchFamily="34" charset="0"/>
                <a:ea typeface="Calibri" pitchFamily="34" charset="-122"/>
                <a:cs typeface="Calibri" pitchFamily="34" charset="-120"/>
              </a:rPr>
              <a:t>ONE ENCRYPTED CONTAINER</a:t>
            </a:r>
            <a:endParaRPr lang="en-US" sz="1150" dirty="0"/>
          </a:p>
        </p:txBody>
      </p:sp>
      <p:sp>
        <p:nvSpPr>
          <p:cNvPr id="7" name="Text 5"/>
          <p:cNvSpPr/>
          <p:nvPr/>
        </p:nvSpPr>
        <p:spPr>
          <a:xfrm>
            <a:off x="3977640" y="2670048"/>
            <a:ext cx="4251960" cy="256032"/>
          </a:xfrm>
          <a:prstGeom prst="rect">
            <a:avLst/>
          </a:prstGeom>
          <a:noFill/>
          <a:ln/>
        </p:spPr>
        <p:txBody>
          <a:bodyPr wrap="square" lIns="0" tIns="0" rIns="0" bIns="0" rtlCol="0" anchor="ctr"/>
          <a:lstStyle/>
          <a:p>
            <a:pPr algn="ctr" indent="0" marL="0">
              <a:buNone/>
            </a:pPr>
            <a:r>
              <a:rPr lang="en-US" sz="1000" dirty="0">
                <a:solidFill>
                  <a:srgbClr val="A9B2BB"/>
                </a:solidFill>
                <a:latin typeface="Calibri" pitchFamily="34" charset="0"/>
                <a:ea typeface="Calibri" pitchFamily="34" charset="-122"/>
                <a:cs typeface="Calibri" pitchFamily="34" charset="-120"/>
              </a:rPr>
              <a:t>same bytes · same secret key</a:t>
            </a:r>
            <a:endParaRPr lang="en-US" sz="1000" dirty="0"/>
          </a:p>
        </p:txBody>
      </p:sp>
      <p:sp>
        <p:nvSpPr>
          <p:cNvPr id="8" name="Shape 6"/>
          <p:cNvSpPr/>
          <p:nvPr/>
        </p:nvSpPr>
        <p:spPr>
          <a:xfrm flipH="1">
            <a:off x="3566160" y="3127248"/>
            <a:ext cx="1280160" cy="393192"/>
          </a:xfrm>
          <a:prstGeom prst="line">
            <a:avLst/>
          </a:prstGeom>
          <a:noFill/>
          <a:ln w="15875">
            <a:solidFill>
              <a:srgbClr val="7C848D"/>
            </a:solidFill>
            <a:prstDash val="solid"/>
            <a:headEnd type="none"/>
            <a:tailEnd type="triangle"/>
          </a:ln>
        </p:spPr>
      </p:sp>
      <p:sp>
        <p:nvSpPr>
          <p:cNvPr id="9" name="Shape 7"/>
          <p:cNvSpPr/>
          <p:nvPr/>
        </p:nvSpPr>
        <p:spPr>
          <a:xfrm>
            <a:off x="7360920" y="3127248"/>
            <a:ext cx="1280160" cy="393192"/>
          </a:xfrm>
          <a:prstGeom prst="line">
            <a:avLst/>
          </a:prstGeom>
          <a:noFill/>
          <a:ln w="15875">
            <a:solidFill>
              <a:srgbClr val="7C848D"/>
            </a:solidFill>
            <a:prstDash val="solid"/>
            <a:headEnd type="none"/>
            <a:tailEnd type="triangle"/>
          </a:ln>
        </p:spPr>
      </p:sp>
      <p:sp>
        <p:nvSpPr>
          <p:cNvPr id="10" name="Shape 8"/>
          <p:cNvSpPr/>
          <p:nvPr/>
        </p:nvSpPr>
        <p:spPr>
          <a:xfrm>
            <a:off x="1024128" y="3611880"/>
            <a:ext cx="4114800" cy="1234440"/>
          </a:xfrm>
          <a:prstGeom prst="rect">
            <a:avLst/>
          </a:prstGeom>
          <a:solidFill>
            <a:srgbClr val="FFFFFF"/>
          </a:solidFill>
          <a:ln w="12700">
            <a:solidFill>
              <a:srgbClr val="1C2530"/>
            </a:solidFill>
            <a:prstDash val="solid"/>
          </a:ln>
        </p:spPr>
      </p:sp>
      <p:sp>
        <p:nvSpPr>
          <p:cNvPr id="11" name="Text 9"/>
          <p:cNvSpPr/>
          <p:nvPr/>
        </p:nvSpPr>
        <p:spPr>
          <a:xfrm>
            <a:off x="1298448" y="3785616"/>
            <a:ext cx="356616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Read it as FV</a:t>
            </a:r>
            <a:endParaRPr lang="en-US" sz="1400" dirty="0"/>
          </a:p>
        </p:txBody>
      </p:sp>
      <p:sp>
        <p:nvSpPr>
          <p:cNvPr id="12" name="Text 10"/>
          <p:cNvSpPr/>
          <p:nvPr/>
        </p:nvSpPr>
        <p:spPr>
          <a:xfrm>
            <a:off x="1298448" y="4096512"/>
            <a:ext cx="3566160" cy="256032"/>
          </a:xfrm>
          <a:prstGeom prst="rect">
            <a:avLst/>
          </a:prstGeom>
          <a:noFill/>
          <a:ln/>
        </p:spPr>
        <p:txBody>
          <a:bodyPr wrap="square" lIns="0" tIns="0" rIns="0" bIns="0" rtlCol="0" anchor="ctr"/>
          <a:lstStyle/>
          <a:p>
            <a:pPr indent="0" marL="0">
              <a:buNone/>
            </a:pPr>
            <a:r>
              <a:rPr lang="en-US" sz="1050" dirty="0">
                <a:solidFill>
                  <a:srgbClr val="9A6A28"/>
                </a:solidFill>
                <a:latin typeface="Calibri" pitchFamily="34" charset="0"/>
                <a:ea typeface="Calibri" pitchFamily="34" charset="-122"/>
                <a:cs typeface="Calibri" pitchFamily="34" charset="-120"/>
              </a:rPr>
              <a:t>exact whole numbers</a:t>
            </a:r>
            <a:endParaRPr lang="en-US" sz="1050" dirty="0"/>
          </a:p>
        </p:txBody>
      </p:sp>
      <p:sp>
        <p:nvSpPr>
          <p:cNvPr id="13" name="Text 11"/>
          <p:cNvSpPr/>
          <p:nvPr/>
        </p:nvSpPr>
        <p:spPr>
          <a:xfrm>
            <a:off x="1298448" y="4389120"/>
            <a:ext cx="3566160" cy="36576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runs the cipher — needs exactness and wraparound</a:t>
            </a:r>
            <a:endParaRPr lang="en-US" sz="1050" dirty="0"/>
          </a:p>
        </p:txBody>
      </p:sp>
      <p:sp>
        <p:nvSpPr>
          <p:cNvPr id="14" name="Shape 12"/>
          <p:cNvSpPr/>
          <p:nvPr/>
        </p:nvSpPr>
        <p:spPr>
          <a:xfrm>
            <a:off x="6858000" y="3611880"/>
            <a:ext cx="4114800" cy="1234440"/>
          </a:xfrm>
          <a:prstGeom prst="rect">
            <a:avLst/>
          </a:prstGeom>
          <a:solidFill>
            <a:srgbClr val="FFFFFF"/>
          </a:solidFill>
          <a:ln w="12700">
            <a:solidFill>
              <a:srgbClr val="1C2530"/>
            </a:solidFill>
            <a:prstDash val="solid"/>
          </a:ln>
        </p:spPr>
      </p:sp>
      <p:sp>
        <p:nvSpPr>
          <p:cNvPr id="15" name="Text 13"/>
          <p:cNvSpPr/>
          <p:nvPr/>
        </p:nvSpPr>
        <p:spPr>
          <a:xfrm>
            <a:off x="7132320" y="3785616"/>
            <a:ext cx="356616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Read it as CKKS</a:t>
            </a:r>
            <a:endParaRPr lang="en-US" sz="1400" dirty="0"/>
          </a:p>
        </p:txBody>
      </p:sp>
      <p:sp>
        <p:nvSpPr>
          <p:cNvPr id="16" name="Text 14"/>
          <p:cNvSpPr/>
          <p:nvPr/>
        </p:nvSpPr>
        <p:spPr>
          <a:xfrm>
            <a:off x="7132320" y="4096512"/>
            <a:ext cx="3566160" cy="256032"/>
          </a:xfrm>
          <a:prstGeom prst="rect">
            <a:avLst/>
          </a:prstGeom>
          <a:noFill/>
          <a:ln/>
        </p:spPr>
        <p:txBody>
          <a:bodyPr wrap="square" lIns="0" tIns="0" rIns="0" bIns="0" rtlCol="0" anchor="ctr"/>
          <a:lstStyle/>
          <a:p>
            <a:pPr indent="0" marL="0">
              <a:buNone/>
            </a:pPr>
            <a:r>
              <a:rPr lang="en-US" sz="1050" dirty="0">
                <a:solidFill>
                  <a:srgbClr val="9A6A28"/>
                </a:solidFill>
                <a:latin typeface="Calibri" pitchFamily="34" charset="0"/>
                <a:ea typeface="Calibri" pitchFamily="34" charset="-122"/>
                <a:cs typeface="Calibri" pitchFamily="34" charset="-120"/>
              </a:rPr>
              <a:t>approximate real numbers</a:t>
            </a:r>
            <a:endParaRPr lang="en-US" sz="1050" dirty="0"/>
          </a:p>
        </p:txBody>
      </p:sp>
      <p:sp>
        <p:nvSpPr>
          <p:cNvPr id="17" name="Text 15"/>
          <p:cNvSpPr/>
          <p:nvPr/>
        </p:nvSpPr>
        <p:spPr>
          <a:xfrm>
            <a:off x="7132320" y="4389120"/>
            <a:ext cx="3566160" cy="36576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runs the fraud model — needs decimals and scaling</a:t>
            </a:r>
            <a:endParaRPr lang="en-US" sz="1050" dirty="0"/>
          </a:p>
        </p:txBody>
      </p:sp>
      <p:sp>
        <p:nvSpPr>
          <p:cNvPr id="18" name="Shape 16"/>
          <p:cNvSpPr/>
          <p:nvPr/>
        </p:nvSpPr>
        <p:spPr>
          <a:xfrm>
            <a:off x="4892040" y="5074920"/>
            <a:ext cx="2423160" cy="457200"/>
          </a:xfrm>
          <a:prstGeom prst="rect">
            <a:avLst/>
          </a:prstGeom>
          <a:solidFill>
            <a:srgbClr val="E4D8BF"/>
          </a:solidFill>
          <a:ln w="19050">
            <a:solidFill>
              <a:srgbClr val="9A6A28"/>
            </a:solidFill>
            <a:prstDash val="solid"/>
          </a:ln>
        </p:spPr>
      </p:sp>
      <p:sp>
        <p:nvSpPr>
          <p:cNvPr id="19" name="Text 17"/>
          <p:cNvSpPr/>
          <p:nvPr/>
        </p:nvSpPr>
        <p:spPr>
          <a:xfrm>
            <a:off x="4892040" y="5074920"/>
            <a:ext cx="2423160" cy="457200"/>
          </a:xfrm>
          <a:prstGeom prst="rect">
            <a:avLst/>
          </a:prstGeom>
          <a:noFill/>
          <a:ln/>
        </p:spPr>
        <p:txBody>
          <a:bodyPr wrap="square" lIns="0" tIns="0" rIns="0" bIns="0" rtlCol="0" anchor="ctr"/>
          <a:lstStyle/>
          <a:p>
            <a:pPr algn="ctr" indent="0" marL="0">
              <a:buNone/>
            </a:pPr>
            <a:r>
              <a:rPr lang="en-US" sz="1200" b="1" dirty="0">
                <a:solidFill>
                  <a:srgbClr val="1C2530"/>
                </a:solidFill>
                <a:latin typeface="Calibri" pitchFamily="34" charset="0"/>
                <a:ea typeface="Calibri" pitchFamily="34" charset="-122"/>
                <a:cs typeface="Calibri" pitchFamily="34" charset="-120"/>
              </a:rPr>
              <a:t>switching = free</a:t>
            </a:r>
            <a:endParaRPr lang="en-US" sz="1200" dirty="0"/>
          </a:p>
        </p:txBody>
      </p:sp>
      <p:sp>
        <p:nvSpPr>
          <p:cNvPr id="20" name="Text 18"/>
          <p:cNvSpPr/>
          <p:nvPr/>
        </p:nvSpPr>
        <p:spPr>
          <a:xfrm>
            <a:off x="658368" y="5669280"/>
            <a:ext cx="10881360" cy="274320"/>
          </a:xfrm>
          <a:prstGeom prst="rect">
            <a:avLst/>
          </a:prstGeom>
          <a:noFill/>
          <a:ln/>
        </p:spPr>
        <p:txBody>
          <a:bodyPr wrap="square" lIns="0" tIns="0" rIns="0" bIns="0" rtlCol="0" anchor="ctr"/>
          <a:lstStyle/>
          <a:p>
            <a:pPr algn="ctr" indent="0" marL="0">
              <a:buNone/>
            </a:pPr>
            <a:r>
              <a:rPr lang="en-US" sz="1100" i="1" dirty="0">
                <a:solidFill>
                  <a:srgbClr val="7C848D"/>
                </a:solidFill>
                <a:latin typeface="Calibri" pitchFamily="34" charset="0"/>
                <a:ea typeface="Calibri" pitchFamily="34" charset="-122"/>
                <a:cs typeface="Calibri" pitchFamily="34" charset="-120"/>
              </a:rPr>
              <a:t>a change of interpretation, not a computation — nothing is decrypted, nothing re-encrypted</a:t>
            </a:r>
            <a:endParaRPr lang="en-US" sz="1100" dirty="0"/>
          </a:p>
        </p:txBody>
      </p:sp>
      <p:sp>
        <p:nvSpPr>
          <p:cNvPr id="21" name="Text 1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2" name="Text 2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06 · LAYOUT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Coefficient order versus slot order</a:t>
            </a:r>
            <a:endParaRPr lang="en-US" sz="2700" dirty="0"/>
          </a:p>
        </p:txBody>
      </p:sp>
      <p:sp>
        <p:nvSpPr>
          <p:cNvPr id="4" name="Text 2"/>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One ciphertext holds many values, arranged one of two ways. Same data, same container, different positions — like row-major versus column-major.</a:t>
            </a:r>
            <a:endParaRPr lang="en-US" sz="1450" dirty="0"/>
          </a:p>
        </p:txBody>
      </p:sp>
      <p:sp>
        <p:nvSpPr>
          <p:cNvPr id="5" name="Shape 3"/>
          <p:cNvSpPr/>
          <p:nvPr/>
        </p:nvSpPr>
        <p:spPr>
          <a:xfrm>
            <a:off x="658368" y="2377440"/>
            <a:ext cx="3931920" cy="1143000"/>
          </a:xfrm>
          <a:prstGeom prst="rect">
            <a:avLst/>
          </a:prstGeom>
          <a:solidFill>
            <a:srgbClr val="FFFFFF"/>
          </a:solidFill>
          <a:ln w="12700">
            <a:solidFill>
              <a:srgbClr val="1C2530"/>
            </a:solidFill>
            <a:prstDash val="solid"/>
          </a:ln>
        </p:spPr>
      </p:sp>
      <p:sp>
        <p:nvSpPr>
          <p:cNvPr id="6" name="Text 4"/>
          <p:cNvSpPr/>
          <p:nvPr/>
        </p:nvSpPr>
        <p:spPr>
          <a:xfrm>
            <a:off x="932688" y="2560320"/>
            <a:ext cx="338328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Coefficient layout</a:t>
            </a:r>
            <a:endParaRPr lang="en-US" sz="1400" dirty="0"/>
          </a:p>
        </p:txBody>
      </p:sp>
      <p:sp>
        <p:nvSpPr>
          <p:cNvPr id="7" name="Text 5"/>
          <p:cNvSpPr/>
          <p:nvPr/>
        </p:nvSpPr>
        <p:spPr>
          <a:xfrm>
            <a:off x="932688" y="2889504"/>
            <a:ext cx="3383280" cy="45720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the order data is written in</a:t>
            </a:r>
            <a:endParaRPr lang="en-US" sz="1050" dirty="0"/>
          </a:p>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client writes here — zero work</a:t>
            </a:r>
            <a:endParaRPr lang="en-US" sz="1050" dirty="0"/>
          </a:p>
        </p:txBody>
      </p:sp>
      <p:sp>
        <p:nvSpPr>
          <p:cNvPr id="8" name="Shape 6"/>
          <p:cNvSpPr/>
          <p:nvPr/>
        </p:nvSpPr>
        <p:spPr>
          <a:xfrm>
            <a:off x="7589520" y="2377440"/>
            <a:ext cx="3931920" cy="1143000"/>
          </a:xfrm>
          <a:prstGeom prst="rect">
            <a:avLst/>
          </a:prstGeom>
          <a:solidFill>
            <a:srgbClr val="E4D8BF"/>
          </a:solidFill>
          <a:ln w="19050">
            <a:solidFill>
              <a:srgbClr val="9A6A28"/>
            </a:solidFill>
            <a:prstDash val="solid"/>
          </a:ln>
        </p:spPr>
      </p:sp>
      <p:sp>
        <p:nvSpPr>
          <p:cNvPr id="9" name="Text 7"/>
          <p:cNvSpPr/>
          <p:nvPr/>
        </p:nvSpPr>
        <p:spPr>
          <a:xfrm>
            <a:off x="7863840" y="2560320"/>
            <a:ext cx="338328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Slot layout</a:t>
            </a:r>
            <a:endParaRPr lang="en-US" sz="1400" dirty="0"/>
          </a:p>
        </p:txBody>
      </p:sp>
      <p:sp>
        <p:nvSpPr>
          <p:cNvPr id="10" name="Text 8"/>
          <p:cNvSpPr/>
          <p:nvPr/>
        </p:nvSpPr>
        <p:spPr>
          <a:xfrm>
            <a:off x="7863840" y="2889504"/>
            <a:ext cx="3383280" cy="45720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the order the model reads in</a:t>
            </a:r>
            <a:endParaRPr lang="en-US" sz="1050" dirty="0"/>
          </a:p>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keystream also arrives here</a:t>
            </a:r>
            <a:endParaRPr lang="en-US" sz="1050" dirty="0"/>
          </a:p>
        </p:txBody>
      </p:sp>
      <p:sp>
        <p:nvSpPr>
          <p:cNvPr id="11" name="Shape 9"/>
          <p:cNvSpPr/>
          <p:nvPr/>
        </p:nvSpPr>
        <p:spPr>
          <a:xfrm>
            <a:off x="4709160" y="2761488"/>
            <a:ext cx="2788920" cy="0"/>
          </a:xfrm>
          <a:prstGeom prst="line">
            <a:avLst/>
          </a:prstGeom>
          <a:noFill/>
          <a:ln w="19050">
            <a:solidFill>
              <a:srgbClr val="9A6A28"/>
            </a:solidFill>
            <a:prstDash val="solid"/>
            <a:headEnd type="none"/>
            <a:tailEnd type="triangle"/>
          </a:ln>
        </p:spPr>
      </p:sp>
      <p:sp>
        <p:nvSpPr>
          <p:cNvPr id="12" name="Shape 10"/>
          <p:cNvSpPr/>
          <p:nvPr/>
        </p:nvSpPr>
        <p:spPr>
          <a:xfrm flipH="1">
            <a:off x="4709160" y="3182112"/>
            <a:ext cx="2788920" cy="0"/>
          </a:xfrm>
          <a:prstGeom prst="line">
            <a:avLst/>
          </a:prstGeom>
          <a:noFill/>
          <a:ln w="19050">
            <a:solidFill>
              <a:srgbClr val="9A6A28"/>
            </a:solidFill>
            <a:prstDash val="solid"/>
            <a:headEnd type="none"/>
            <a:tailEnd type="triangle"/>
          </a:ln>
        </p:spPr>
      </p:sp>
      <p:sp>
        <p:nvSpPr>
          <p:cNvPr id="13" name="Text 11"/>
          <p:cNvSpPr/>
          <p:nvPr/>
        </p:nvSpPr>
        <p:spPr>
          <a:xfrm>
            <a:off x="4754880" y="2816352"/>
            <a:ext cx="2743200" cy="310896"/>
          </a:xfrm>
          <a:prstGeom prst="rect">
            <a:avLst/>
          </a:prstGeom>
          <a:noFill/>
          <a:ln/>
        </p:spPr>
        <p:txBody>
          <a:bodyPr wrap="square" lIns="0" tIns="0" rIns="0" bIns="0" rtlCol="0" anchor="ctr"/>
          <a:lstStyle/>
          <a:p>
            <a:pPr algn="ctr" indent="0" marL="0">
              <a:buNone/>
            </a:pPr>
            <a:r>
              <a:rPr lang="en-US" sz="1050" b="1" dirty="0">
                <a:solidFill>
                  <a:srgbClr val="9A6A28"/>
                </a:solidFill>
                <a:latin typeface="Calibri" pitchFamily="34" charset="0"/>
                <a:ea typeface="Calibri" pitchFamily="34" charset="-122"/>
                <a:cs typeface="Calibri" pitchFamily="34" charset="-120"/>
              </a:rPr>
              <a:t>rearrange — not free</a:t>
            </a:r>
            <a:endParaRPr lang="en-US" sz="1050" dirty="0"/>
          </a:p>
        </p:txBody>
      </p:sp>
      <p:sp>
        <p:nvSpPr>
          <p:cNvPr id="14" name="Text 12"/>
          <p:cNvSpPr/>
          <p:nvPr/>
        </p:nvSpPr>
        <p:spPr>
          <a:xfrm>
            <a:off x="658368" y="3977640"/>
            <a:ext cx="10881360" cy="1188720"/>
          </a:xfrm>
          <a:prstGeom prst="rect">
            <a:avLst/>
          </a:prstGeom>
          <a:noFill/>
          <a:ln/>
        </p:spPr>
        <p:txBody>
          <a:bodyPr wrap="square" lIns="0" tIns="0" rIns="0" bIns="0" rtlCol="0" anchor="ctr"/>
          <a:lstStyle/>
          <a:p>
            <a:pPr indent="0" marL="0">
              <a:lnSpc>
                <a:spcPts val="2100"/>
              </a:lnSpc>
              <a:spcAft>
                <a:spcPts val="800"/>
              </a:spcAft>
              <a:buNone/>
            </a:pPr>
            <a:r>
              <a:rPr lang="en-US" sz="1300" dirty="0">
                <a:solidFill>
                  <a:srgbClr val="3B4650"/>
                </a:solidFill>
                <a:latin typeface="Calibri" pitchFamily="34" charset="0"/>
                <a:ea typeface="Calibri" pitchFamily="34" charset="-122"/>
                <a:cs typeface="Calibri" pitchFamily="34" charset="-120"/>
              </a:rPr>
              <a:t>Three facts collide: the client writes in coefficient layout because that costs it nothing; the model can only read slot layout; the keystream comes out in slot layout.</a:t>
            </a:r>
            <a:endParaRPr lang="en-US" sz="1300" dirty="0"/>
          </a:p>
          <a:p>
            <a:pPr indent="0" marL="0">
              <a:lnSpc>
                <a:spcPts val="2100"/>
              </a:lnSpc>
              <a:spcAft>
                <a:spcPts val="800"/>
              </a:spcAft>
              <a:buNone/>
            </a:pPr>
            <a:r>
              <a:rPr lang="en-US" sz="1300" dirty="0">
                <a:solidFill>
                  <a:srgbClr val="3B4650"/>
                </a:solidFill>
                <a:latin typeface="Calibri" pitchFamily="34" charset="0"/>
                <a:ea typeface="Calibri" pitchFamily="34" charset="-122"/>
                <a:cs typeface="Calibri" pitchFamily="34" charset="-120"/>
              </a:rPr>
              <a:t>So the pipeline rearranges twice — the keystream offline, the data after the subtraction. Rearrangement is a real homomorphic operation, and a large share of both runtime and memory.</a:t>
            </a:r>
            <a:endParaRPr lang="en-US" sz="1300" dirty="0"/>
          </a:p>
        </p:txBody>
      </p:sp>
      <p:sp>
        <p:nvSpPr>
          <p:cNvPr id="15" name="Text 13"/>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6" name="Text 14"/>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07 · HALFBOOT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HalfBoot: half the layout work, all of the repair</a:t>
            </a:r>
            <a:endParaRPr lang="en-US" sz="2700" dirty="0"/>
          </a:p>
        </p:txBody>
      </p:sp>
      <p:sp>
        <p:nvSpPr>
          <p:cNvPr id="4" name="Text 2"/>
          <p:cNvSpPr/>
          <p:nvPr/>
        </p:nvSpPr>
        <p:spPr>
          <a:xfrm>
            <a:off x="658368" y="1463040"/>
            <a:ext cx="1033272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After the subtraction the ciphertext is correct but has no compute budget left, and the fraud model has not started. The standard repair runs in four stages.</a:t>
            </a:r>
            <a:endParaRPr lang="en-US" sz="1450" dirty="0"/>
          </a:p>
        </p:txBody>
      </p:sp>
      <p:sp>
        <p:nvSpPr>
          <p:cNvPr id="5" name="Shape 3"/>
          <p:cNvSpPr/>
          <p:nvPr/>
        </p:nvSpPr>
        <p:spPr>
          <a:xfrm>
            <a:off x="658368" y="2514600"/>
            <a:ext cx="2487168" cy="1051560"/>
          </a:xfrm>
          <a:prstGeom prst="rect">
            <a:avLst/>
          </a:prstGeom>
          <a:solidFill>
            <a:srgbClr val="FFFFFF"/>
          </a:solidFill>
          <a:ln w="12700">
            <a:solidFill>
              <a:srgbClr val="1C2530"/>
            </a:solidFill>
            <a:prstDash val="solid"/>
          </a:ln>
        </p:spPr>
      </p:sp>
      <p:sp>
        <p:nvSpPr>
          <p:cNvPr id="6" name="Text 4"/>
          <p:cNvSpPr/>
          <p:nvPr/>
        </p:nvSpPr>
        <p:spPr>
          <a:xfrm>
            <a:off x="859536"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1</a:t>
            </a:r>
            <a:endParaRPr lang="en-US" sz="950" dirty="0"/>
          </a:p>
        </p:txBody>
      </p:sp>
      <p:sp>
        <p:nvSpPr>
          <p:cNvPr id="7" name="Text 5"/>
          <p:cNvSpPr/>
          <p:nvPr/>
        </p:nvSpPr>
        <p:spPr>
          <a:xfrm>
            <a:off x="859536"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Restore headroom</a:t>
            </a:r>
            <a:endParaRPr lang="en-US" sz="1250" dirty="0"/>
          </a:p>
        </p:txBody>
      </p:sp>
      <p:sp>
        <p:nvSpPr>
          <p:cNvPr id="8" name="Shape 6"/>
          <p:cNvSpPr/>
          <p:nvPr/>
        </p:nvSpPr>
        <p:spPr>
          <a:xfrm>
            <a:off x="3172968" y="3040380"/>
            <a:ext cx="201168" cy="0"/>
          </a:xfrm>
          <a:prstGeom prst="line">
            <a:avLst/>
          </a:prstGeom>
          <a:noFill/>
          <a:ln w="15875">
            <a:solidFill>
              <a:srgbClr val="1C2530"/>
            </a:solidFill>
            <a:prstDash val="solid"/>
            <a:headEnd type="none"/>
            <a:tailEnd type="triangle"/>
          </a:ln>
        </p:spPr>
      </p:sp>
      <p:sp>
        <p:nvSpPr>
          <p:cNvPr id="9" name="Shape 7"/>
          <p:cNvSpPr/>
          <p:nvPr/>
        </p:nvSpPr>
        <p:spPr>
          <a:xfrm>
            <a:off x="3410712" y="2514600"/>
            <a:ext cx="2487168" cy="1051560"/>
          </a:xfrm>
          <a:prstGeom prst="rect">
            <a:avLst/>
          </a:prstGeom>
          <a:solidFill>
            <a:srgbClr val="FFFFFF"/>
          </a:solidFill>
          <a:ln w="12700">
            <a:solidFill>
              <a:srgbClr val="1C2530"/>
            </a:solidFill>
            <a:prstDash val="solid"/>
          </a:ln>
        </p:spPr>
      </p:sp>
      <p:sp>
        <p:nvSpPr>
          <p:cNvPr id="10" name="Text 8"/>
          <p:cNvSpPr/>
          <p:nvPr/>
        </p:nvSpPr>
        <p:spPr>
          <a:xfrm>
            <a:off x="3611880"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2</a:t>
            </a:r>
            <a:endParaRPr lang="en-US" sz="950" dirty="0"/>
          </a:p>
        </p:txBody>
      </p:sp>
      <p:sp>
        <p:nvSpPr>
          <p:cNvPr id="11" name="Text 9"/>
          <p:cNvSpPr/>
          <p:nvPr/>
        </p:nvSpPr>
        <p:spPr>
          <a:xfrm>
            <a:off x="3611880"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Move into slot layout</a:t>
            </a:r>
            <a:endParaRPr lang="en-US" sz="1250" dirty="0"/>
          </a:p>
        </p:txBody>
      </p:sp>
      <p:sp>
        <p:nvSpPr>
          <p:cNvPr id="12" name="Shape 10"/>
          <p:cNvSpPr/>
          <p:nvPr/>
        </p:nvSpPr>
        <p:spPr>
          <a:xfrm>
            <a:off x="5925312" y="3040380"/>
            <a:ext cx="201168" cy="0"/>
          </a:xfrm>
          <a:prstGeom prst="line">
            <a:avLst/>
          </a:prstGeom>
          <a:noFill/>
          <a:ln w="15875">
            <a:solidFill>
              <a:srgbClr val="1C2530"/>
            </a:solidFill>
            <a:prstDash val="solid"/>
            <a:headEnd type="none"/>
            <a:tailEnd type="triangle"/>
          </a:ln>
        </p:spPr>
      </p:sp>
      <p:sp>
        <p:nvSpPr>
          <p:cNvPr id="13" name="Shape 11"/>
          <p:cNvSpPr/>
          <p:nvPr/>
        </p:nvSpPr>
        <p:spPr>
          <a:xfrm>
            <a:off x="6163056" y="2514600"/>
            <a:ext cx="2487168" cy="1051560"/>
          </a:xfrm>
          <a:prstGeom prst="rect">
            <a:avLst/>
          </a:prstGeom>
          <a:solidFill>
            <a:srgbClr val="FFFFFF"/>
          </a:solidFill>
          <a:ln w="12700">
            <a:solidFill>
              <a:srgbClr val="1C2530"/>
            </a:solidFill>
            <a:prstDash val="solid"/>
          </a:ln>
        </p:spPr>
      </p:sp>
      <p:sp>
        <p:nvSpPr>
          <p:cNvPr id="14" name="Text 12"/>
          <p:cNvSpPr/>
          <p:nvPr/>
        </p:nvSpPr>
        <p:spPr>
          <a:xfrm>
            <a:off x="6364224"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3</a:t>
            </a:r>
            <a:endParaRPr lang="en-US" sz="950" dirty="0"/>
          </a:p>
        </p:txBody>
      </p:sp>
      <p:sp>
        <p:nvSpPr>
          <p:cNvPr id="15" name="Text 13"/>
          <p:cNvSpPr/>
          <p:nvPr/>
        </p:nvSpPr>
        <p:spPr>
          <a:xfrm>
            <a:off x="6364224"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Clean up leftovers</a:t>
            </a:r>
            <a:endParaRPr lang="en-US" sz="1250" dirty="0"/>
          </a:p>
        </p:txBody>
      </p:sp>
      <p:sp>
        <p:nvSpPr>
          <p:cNvPr id="16" name="Shape 14"/>
          <p:cNvSpPr/>
          <p:nvPr/>
        </p:nvSpPr>
        <p:spPr>
          <a:xfrm>
            <a:off x="8677656" y="3040380"/>
            <a:ext cx="201168" cy="0"/>
          </a:xfrm>
          <a:prstGeom prst="line">
            <a:avLst/>
          </a:prstGeom>
          <a:noFill/>
          <a:ln w="15875">
            <a:solidFill>
              <a:srgbClr val="7C848D"/>
            </a:solidFill>
            <a:prstDash val="solid"/>
            <a:headEnd type="none"/>
            <a:tailEnd type="triangle"/>
          </a:ln>
        </p:spPr>
      </p:sp>
      <p:sp>
        <p:nvSpPr>
          <p:cNvPr id="17" name="Shape 15"/>
          <p:cNvSpPr/>
          <p:nvPr/>
        </p:nvSpPr>
        <p:spPr>
          <a:xfrm>
            <a:off x="8915400" y="2514600"/>
            <a:ext cx="2487168" cy="1051560"/>
          </a:xfrm>
          <a:prstGeom prst="rect">
            <a:avLst/>
          </a:prstGeom>
          <a:solidFill>
            <a:srgbClr val="F6F3EC"/>
          </a:solidFill>
          <a:ln w="12700">
            <a:solidFill>
              <a:srgbClr val="7C848D"/>
            </a:solidFill>
            <a:prstDash val="dash"/>
          </a:ln>
        </p:spPr>
      </p:sp>
      <p:sp>
        <p:nvSpPr>
          <p:cNvPr id="18" name="Text 16"/>
          <p:cNvSpPr/>
          <p:nvPr/>
        </p:nvSpPr>
        <p:spPr>
          <a:xfrm>
            <a:off x="9116568" y="2679192"/>
            <a:ext cx="2084832" cy="219456"/>
          </a:xfrm>
          <a:prstGeom prst="rect">
            <a:avLst/>
          </a:prstGeom>
          <a:noFill/>
          <a:ln/>
        </p:spPr>
        <p:txBody>
          <a:bodyPr wrap="square" lIns="0" tIns="0" rIns="0" bIns="0" rtlCol="0" anchor="ctr"/>
          <a:lstStyle/>
          <a:p>
            <a:pPr indent="0" marL="0">
              <a:buNone/>
            </a:pPr>
            <a:r>
              <a:rPr lang="en-US" sz="950" spc="80" kern="0" dirty="0">
                <a:solidFill>
                  <a:srgbClr val="7C848D"/>
                </a:solidFill>
                <a:latin typeface="Calibri" pitchFamily="34" charset="0"/>
                <a:ea typeface="Calibri" pitchFamily="34" charset="-122"/>
                <a:cs typeface="Calibri" pitchFamily="34" charset="-120"/>
              </a:rPr>
              <a:t>stage 4</a:t>
            </a:r>
            <a:endParaRPr lang="en-US" sz="950" dirty="0"/>
          </a:p>
        </p:txBody>
      </p:sp>
      <p:sp>
        <p:nvSpPr>
          <p:cNvPr id="19" name="Text 17"/>
          <p:cNvSpPr/>
          <p:nvPr/>
        </p:nvSpPr>
        <p:spPr>
          <a:xfrm>
            <a:off x="9116568" y="2935224"/>
            <a:ext cx="2084832" cy="502920"/>
          </a:xfrm>
          <a:prstGeom prst="rect">
            <a:avLst/>
          </a:prstGeom>
          <a:noFill/>
          <a:ln/>
        </p:spPr>
        <p:txBody>
          <a:bodyPr wrap="square" lIns="0" tIns="0" rIns="0" bIns="0" rtlCol="0" anchor="ctr"/>
          <a:lstStyle/>
          <a:p>
            <a:pPr indent="0" marL="0">
              <a:lnSpc>
                <a:spcPts val="1600"/>
              </a:lnSpc>
              <a:buNone/>
            </a:pPr>
            <a:r>
              <a:rPr lang="en-US" sz="1250" dirty="0">
                <a:solidFill>
                  <a:srgbClr val="7C848D"/>
                </a:solidFill>
                <a:latin typeface="Calibri" pitchFamily="34" charset="0"/>
                <a:ea typeface="Calibri" pitchFamily="34" charset="-122"/>
                <a:cs typeface="Calibri" pitchFamily="34" charset="-120"/>
              </a:rPr>
              <a:t>Move back to coefficient</a:t>
            </a:r>
            <a:endParaRPr lang="en-US" sz="1250" dirty="0"/>
          </a:p>
        </p:txBody>
      </p:sp>
      <p:sp>
        <p:nvSpPr>
          <p:cNvPr id="20" name="Text 18"/>
          <p:cNvSpPr/>
          <p:nvPr/>
        </p:nvSpPr>
        <p:spPr>
          <a:xfrm>
            <a:off x="9116568" y="3255264"/>
            <a:ext cx="2084832" cy="219456"/>
          </a:xfrm>
          <a:prstGeom prst="rect">
            <a:avLst/>
          </a:prstGeom>
          <a:noFill/>
          <a:ln/>
        </p:spPr>
        <p:txBody>
          <a:bodyPr wrap="square" lIns="0" tIns="0" rIns="0" bIns="0" rtlCol="0" anchor="ctr"/>
          <a:lstStyle/>
          <a:p>
            <a:pPr algn="r" indent="0" marL="0">
              <a:buNone/>
            </a:pPr>
            <a:r>
              <a:rPr lang="en-US" sz="950" b="1" spc="120" kern="0" dirty="0">
                <a:solidFill>
                  <a:srgbClr val="9A6A28"/>
                </a:solidFill>
                <a:latin typeface="Calibri" pitchFamily="34" charset="0"/>
                <a:ea typeface="Calibri" pitchFamily="34" charset="-122"/>
                <a:cs typeface="Calibri" pitchFamily="34" charset="-120"/>
              </a:rPr>
              <a:t>SKIPPED</a:t>
            </a:r>
            <a:endParaRPr lang="en-US" sz="950" dirty="0"/>
          </a:p>
        </p:txBody>
      </p:sp>
      <p:sp>
        <p:nvSpPr>
          <p:cNvPr id="21" name="Text 19"/>
          <p:cNvSpPr/>
          <p:nvPr/>
        </p:nvSpPr>
        <p:spPr>
          <a:xfrm>
            <a:off x="6163056" y="3675888"/>
            <a:ext cx="2487168" cy="237744"/>
          </a:xfrm>
          <a:prstGeom prst="rect">
            <a:avLst/>
          </a:prstGeom>
          <a:noFill/>
          <a:ln/>
        </p:spPr>
        <p:txBody>
          <a:bodyPr wrap="square" lIns="0" tIns="0" rIns="0" bIns="0" rtlCol="0" anchor="ctr"/>
          <a:lstStyle/>
          <a:p>
            <a:pPr algn="ctr" indent="0" marL="0">
              <a:buNone/>
            </a:pPr>
            <a:r>
              <a:rPr lang="en-US" sz="1000" b="1" dirty="0">
                <a:solidFill>
                  <a:srgbClr val="9A6A28"/>
                </a:solidFill>
                <a:latin typeface="Calibri" pitchFamily="34" charset="0"/>
                <a:ea typeface="Calibri" pitchFamily="34" charset="-122"/>
                <a:cs typeface="Calibri" pitchFamily="34" charset="-120"/>
              </a:rPr>
              <a:t>we stop here</a:t>
            </a:r>
            <a:endParaRPr lang="en-US" sz="1000" dirty="0"/>
          </a:p>
        </p:txBody>
      </p:sp>
      <p:sp>
        <p:nvSpPr>
          <p:cNvPr id="22" name="Shape 20"/>
          <p:cNvSpPr/>
          <p:nvPr/>
        </p:nvSpPr>
        <p:spPr>
          <a:xfrm>
            <a:off x="658368" y="4160520"/>
            <a:ext cx="10881360" cy="1051560"/>
          </a:xfrm>
          <a:prstGeom prst="rect">
            <a:avLst/>
          </a:prstGeom>
          <a:solidFill>
            <a:srgbClr val="EFE7D6"/>
          </a:solidFill>
          <a:ln w="12700">
            <a:solidFill>
              <a:srgbClr val="9A6A28"/>
            </a:solidFill>
            <a:prstDash val="solid"/>
          </a:ln>
        </p:spPr>
      </p:sp>
      <p:sp>
        <p:nvSpPr>
          <p:cNvPr id="23" name="Text 21"/>
          <p:cNvSpPr/>
          <p:nvPr/>
        </p:nvSpPr>
        <p:spPr>
          <a:xfrm>
            <a:off x="950976" y="4315968"/>
            <a:ext cx="10287000" cy="777240"/>
          </a:xfrm>
          <a:prstGeom prst="rect">
            <a:avLst/>
          </a:prstGeom>
          <a:noFill/>
          <a:ln/>
        </p:spPr>
        <p:txBody>
          <a:bodyPr wrap="square" lIns="0" tIns="0" rIns="0" bIns="0" rtlCol="0" anchor="ctr"/>
          <a:lstStyle/>
          <a:p>
            <a:pPr indent="0" marL="0">
              <a:lnSpc>
                <a:spcPts val="2000"/>
              </a:lnSpc>
              <a:buNone/>
            </a:pPr>
            <a:r>
              <a:rPr lang="en-US" sz="1300" dirty="0">
                <a:solidFill>
                  <a:srgbClr val="3B4650"/>
                </a:solidFill>
                <a:latin typeface="Calibri" pitchFamily="34" charset="0"/>
                <a:ea typeface="Calibri" pitchFamily="34" charset="-122"/>
                <a:cs typeface="Calibri" pitchFamily="34" charset="-120"/>
              </a:rPr>
              <a:t>Normal callers want the data back in coefficient layout. We want slot layout — that is what the model reads. So stage 2 is useful work here and stage 4 would undo it. The pipeline gets its layout conversion as a side effect of the repair.</a:t>
            </a:r>
            <a:endParaRPr lang="en-US" sz="1300" dirty="0"/>
          </a:p>
        </p:txBody>
      </p:sp>
      <p:sp>
        <p:nvSpPr>
          <p:cNvPr id="24" name="Text 22"/>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5" name="Text 23"/>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457200" y="182880"/>
            <a:ext cx="5486400" cy="384048"/>
          </a:xfrm>
          <a:prstGeom prst="rect">
            <a:avLst/>
          </a:prstGeom>
          <a:noFill/>
          <a:ln/>
        </p:spPr>
        <p:txBody>
          <a:bodyPr wrap="square" lIns="0" tIns="0" rIns="0" bIns="0" rtlCol="0" anchor="ctr"/>
          <a:lstStyle/>
          <a:p>
            <a:pPr indent="0" marL="0">
              <a:buNone/>
            </a:pPr>
            <a:r>
              <a:rPr lang="en-US" sz="2200" dirty="0">
                <a:solidFill>
                  <a:srgbClr val="1C2530"/>
                </a:solidFill>
                <a:latin typeface="Century Schoolbook" pitchFamily="34" charset="0"/>
                <a:ea typeface="Century Schoolbook" pitchFamily="34" charset="-122"/>
                <a:cs typeface="Century Schoolbook" pitchFamily="34" charset="-120"/>
              </a:rPr>
              <a:t>The pipeline, end to end</a:t>
            </a:r>
            <a:endParaRPr lang="en-US" sz="2200" dirty="0"/>
          </a:p>
        </p:txBody>
      </p:sp>
      <p:sp>
        <p:nvSpPr>
          <p:cNvPr id="3" name="Shape 1"/>
          <p:cNvSpPr/>
          <p:nvPr/>
        </p:nvSpPr>
        <p:spPr>
          <a:xfrm>
            <a:off x="5989320" y="274320"/>
            <a:ext cx="173736" cy="173736"/>
          </a:xfrm>
          <a:prstGeom prst="rect">
            <a:avLst/>
          </a:prstGeom>
          <a:solidFill>
            <a:srgbClr val="E4D8BF"/>
          </a:solidFill>
          <a:ln w="12700">
            <a:solidFill>
              <a:srgbClr val="9A6A28"/>
            </a:solidFill>
            <a:prstDash val="solid"/>
          </a:ln>
        </p:spPr>
      </p:sp>
      <p:sp>
        <p:nvSpPr>
          <p:cNvPr id="4" name="Text 2"/>
          <p:cNvSpPr/>
          <p:nvPr/>
        </p:nvSpPr>
        <p:spPr>
          <a:xfrm>
            <a:off x="62270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expensive · precomputed offline</a:t>
            </a:r>
            <a:endParaRPr lang="en-US" sz="850" dirty="0"/>
          </a:p>
        </p:txBody>
      </p:sp>
      <p:sp>
        <p:nvSpPr>
          <p:cNvPr id="5" name="Shape 3"/>
          <p:cNvSpPr/>
          <p:nvPr/>
        </p:nvSpPr>
        <p:spPr>
          <a:xfrm>
            <a:off x="8732520" y="274320"/>
            <a:ext cx="173736" cy="173736"/>
          </a:xfrm>
          <a:prstGeom prst="rect">
            <a:avLst/>
          </a:prstGeom>
          <a:solidFill>
            <a:srgbClr val="FFFFFF"/>
          </a:solidFill>
          <a:ln w="12700">
            <a:solidFill>
              <a:srgbClr val="1C2530"/>
            </a:solidFill>
            <a:prstDash val="solid"/>
          </a:ln>
        </p:spPr>
      </p:sp>
      <p:sp>
        <p:nvSpPr>
          <p:cNvPr id="6" name="Text 4"/>
          <p:cNvSpPr/>
          <p:nvPr/>
        </p:nvSpPr>
        <p:spPr>
          <a:xfrm>
            <a:off x="89702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cheap · per record</a:t>
            </a:r>
            <a:endParaRPr lang="en-US" sz="850" dirty="0"/>
          </a:p>
        </p:txBody>
      </p:sp>
      <p:sp>
        <p:nvSpPr>
          <p:cNvPr id="7" name="Shape 5"/>
          <p:cNvSpPr/>
          <p:nvPr/>
        </p:nvSpPr>
        <p:spPr>
          <a:xfrm>
            <a:off x="10332720" y="274320"/>
            <a:ext cx="173736" cy="173736"/>
          </a:xfrm>
          <a:prstGeom prst="rect">
            <a:avLst/>
          </a:prstGeom>
          <a:solidFill>
            <a:srgbClr val="FFFFFF"/>
          </a:solidFill>
          <a:ln w="12700">
            <a:solidFill>
              <a:srgbClr val="1C2530"/>
            </a:solidFill>
            <a:prstDash val="dash"/>
          </a:ln>
        </p:spPr>
      </p:sp>
      <p:sp>
        <p:nvSpPr>
          <p:cNvPr id="8" name="Text 6"/>
          <p:cNvSpPr/>
          <p:nvPr/>
        </p:nvSpPr>
        <p:spPr>
          <a:xfrm>
            <a:off x="105704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free · relabel only</a:t>
            </a:r>
            <a:endParaRPr lang="en-US" sz="850" dirty="0"/>
          </a:p>
        </p:txBody>
      </p:sp>
      <p:sp>
        <p:nvSpPr>
          <p:cNvPr id="9" name="Text 7"/>
          <p:cNvSpPr/>
          <p:nvPr/>
        </p:nvSpPr>
        <p:spPr>
          <a:xfrm>
            <a:off x="640080" y="658368"/>
            <a:ext cx="3291840" cy="219456"/>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CLIENT</a:t>
            </a:r>
            <a:endParaRPr lang="en-US" sz="1100" dirty="0"/>
          </a:p>
        </p:txBody>
      </p:sp>
      <p:sp>
        <p:nvSpPr>
          <p:cNvPr id="10" name="Text 8"/>
          <p:cNvSpPr/>
          <p:nvPr/>
        </p:nvSpPr>
        <p:spPr>
          <a:xfrm>
            <a:off x="640080" y="868680"/>
            <a:ext cx="3291840"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thin: a terminal or a phone</a:t>
            </a:r>
            <a:endParaRPr lang="en-US" sz="850" dirty="0"/>
          </a:p>
        </p:txBody>
      </p:sp>
      <p:sp>
        <p:nvSpPr>
          <p:cNvPr id="11" name="Text 9"/>
          <p:cNvSpPr/>
          <p:nvPr/>
        </p:nvSpPr>
        <p:spPr>
          <a:xfrm>
            <a:off x="5943600" y="658368"/>
            <a:ext cx="3657600" cy="219456"/>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SERVER</a:t>
            </a:r>
            <a:endParaRPr lang="en-US" sz="1100" dirty="0"/>
          </a:p>
        </p:txBody>
      </p:sp>
      <p:sp>
        <p:nvSpPr>
          <p:cNvPr id="12" name="Text 10"/>
          <p:cNvSpPr/>
          <p:nvPr/>
        </p:nvSpPr>
        <p:spPr>
          <a:xfrm>
            <a:off x="5943600" y="868680"/>
            <a:ext cx="3657600"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fat: the fraud-detection vendor</a:t>
            </a:r>
            <a:endParaRPr lang="en-US" sz="850" dirty="0"/>
          </a:p>
        </p:txBody>
      </p:sp>
      <p:sp>
        <p:nvSpPr>
          <p:cNvPr id="13" name="Shape 11"/>
          <p:cNvSpPr/>
          <p:nvPr/>
        </p:nvSpPr>
        <p:spPr>
          <a:xfrm>
            <a:off x="457200" y="1143000"/>
            <a:ext cx="11274552" cy="960120"/>
          </a:xfrm>
          <a:prstGeom prst="rect">
            <a:avLst/>
          </a:prstGeom>
          <a:solidFill>
            <a:srgbClr val="EFEAE0"/>
          </a:solidFill>
          <a:ln w="9525">
            <a:solidFill>
              <a:srgbClr val="E2DBCE"/>
            </a:solidFill>
            <a:prstDash val="solid"/>
          </a:ln>
        </p:spPr>
      </p:sp>
      <p:sp>
        <p:nvSpPr>
          <p:cNvPr id="14" name="Text 12"/>
          <p:cNvSpPr/>
          <p:nvPr/>
        </p:nvSpPr>
        <p:spPr>
          <a:xfrm>
            <a:off x="640080" y="120700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1 · ONCE PER SESSION</a:t>
            </a:r>
            <a:endParaRPr lang="en-US" sz="850" dirty="0"/>
          </a:p>
        </p:txBody>
      </p:sp>
      <p:sp>
        <p:nvSpPr>
          <p:cNvPr id="15" name="Shape 13"/>
          <p:cNvSpPr/>
          <p:nvPr/>
        </p:nvSpPr>
        <p:spPr>
          <a:xfrm>
            <a:off x="457200" y="2240280"/>
            <a:ext cx="11274552" cy="1463040"/>
          </a:xfrm>
          <a:prstGeom prst="rect">
            <a:avLst/>
          </a:prstGeom>
          <a:solidFill>
            <a:srgbClr val="E9E2D3"/>
          </a:solidFill>
          <a:ln w="9525">
            <a:solidFill>
              <a:srgbClr val="E2DBCE"/>
            </a:solidFill>
            <a:prstDash val="solid"/>
          </a:ln>
        </p:spPr>
      </p:sp>
      <p:sp>
        <p:nvSpPr>
          <p:cNvPr id="16" name="Text 14"/>
          <p:cNvSpPr/>
          <p:nvPr/>
        </p:nvSpPr>
        <p:spPr>
          <a:xfrm>
            <a:off x="640080" y="230428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2 · OFFLINE, BEFORE ANY DATA EXISTS</a:t>
            </a:r>
            <a:endParaRPr lang="en-US" sz="850" dirty="0"/>
          </a:p>
        </p:txBody>
      </p:sp>
      <p:sp>
        <p:nvSpPr>
          <p:cNvPr id="17" name="Shape 15"/>
          <p:cNvSpPr/>
          <p:nvPr/>
        </p:nvSpPr>
        <p:spPr>
          <a:xfrm>
            <a:off x="457200" y="3840480"/>
            <a:ext cx="11274552" cy="2834640"/>
          </a:xfrm>
          <a:prstGeom prst="rect">
            <a:avLst/>
          </a:prstGeom>
          <a:solidFill>
            <a:srgbClr val="F1EDE4"/>
          </a:solidFill>
          <a:ln w="9525">
            <a:solidFill>
              <a:srgbClr val="E2DBCE"/>
            </a:solidFill>
            <a:prstDash val="solid"/>
          </a:ln>
        </p:spPr>
      </p:sp>
      <p:sp>
        <p:nvSpPr>
          <p:cNvPr id="18" name="Text 16"/>
          <p:cNvSpPr/>
          <p:nvPr/>
        </p:nvSpPr>
        <p:spPr>
          <a:xfrm>
            <a:off x="640080" y="390448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3 · PER RECORD (ONLINE)</a:t>
            </a:r>
            <a:endParaRPr lang="en-US" sz="850" dirty="0"/>
          </a:p>
        </p:txBody>
      </p:sp>
      <p:sp>
        <p:nvSpPr>
          <p:cNvPr id="19" name="Shape 17"/>
          <p:cNvSpPr/>
          <p:nvPr/>
        </p:nvSpPr>
        <p:spPr>
          <a:xfrm>
            <a:off x="5468112" y="1115568"/>
            <a:ext cx="0" cy="5596128"/>
          </a:xfrm>
          <a:prstGeom prst="line">
            <a:avLst/>
          </a:prstGeom>
          <a:noFill/>
          <a:ln w="15875">
            <a:solidFill>
              <a:srgbClr val="1C2530"/>
            </a:solidFill>
            <a:prstDash val="dash"/>
          </a:ln>
        </p:spPr>
      </p:sp>
      <p:sp>
        <p:nvSpPr>
          <p:cNvPr id="20" name="Text 18"/>
          <p:cNvSpPr/>
          <p:nvPr/>
        </p:nvSpPr>
        <p:spPr>
          <a:xfrm>
            <a:off x="4828032" y="877824"/>
            <a:ext cx="1280160" cy="201168"/>
          </a:xfrm>
          <a:prstGeom prst="rect">
            <a:avLst/>
          </a:prstGeom>
          <a:noFill/>
          <a:ln/>
        </p:spPr>
        <p:txBody>
          <a:bodyPr wrap="square" lIns="0" tIns="0" rIns="0" bIns="0" rtlCol="0" anchor="ctr"/>
          <a:lstStyle/>
          <a:p>
            <a:pPr algn="ctr" indent="0" marL="0">
              <a:buNone/>
            </a:pPr>
            <a:r>
              <a:rPr lang="en-US" sz="750" i="1" dirty="0">
                <a:solidFill>
                  <a:srgbClr val="7C848D"/>
                </a:solidFill>
                <a:latin typeface="Calibri" pitchFamily="34" charset="0"/>
                <a:ea typeface="Calibri" pitchFamily="34" charset="-122"/>
                <a:cs typeface="Calibri" pitchFamily="34" charset="-120"/>
              </a:rPr>
              <a:t>network boundary</a:t>
            </a:r>
            <a:endParaRPr lang="en-US" sz="750" dirty="0"/>
          </a:p>
        </p:txBody>
      </p:sp>
      <p:sp>
        <p:nvSpPr>
          <p:cNvPr id="21" name="Shape 19"/>
          <p:cNvSpPr/>
          <p:nvPr/>
        </p:nvSpPr>
        <p:spPr>
          <a:xfrm>
            <a:off x="640080" y="1481328"/>
            <a:ext cx="3291840" cy="566928"/>
          </a:xfrm>
          <a:prstGeom prst="rect">
            <a:avLst/>
          </a:prstGeom>
          <a:solidFill>
            <a:srgbClr val="FFFFFF"/>
          </a:solidFill>
          <a:ln w="12700">
            <a:solidFill>
              <a:srgbClr val="1C2530"/>
            </a:solidFill>
            <a:prstDash val="solid"/>
          </a:ln>
        </p:spPr>
      </p:sp>
      <p:sp>
        <p:nvSpPr>
          <p:cNvPr id="22" name="Text 20"/>
          <p:cNvSpPr/>
          <p:nvPr/>
        </p:nvSpPr>
        <p:spPr>
          <a:xfrm>
            <a:off x="768096" y="1563624"/>
            <a:ext cx="3035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Encrypt the HERA key under HE</a:t>
            </a:r>
            <a:endParaRPr lang="en-US" sz="1050" dirty="0"/>
          </a:p>
        </p:txBody>
      </p:sp>
      <p:sp>
        <p:nvSpPr>
          <p:cNvPr id="23" name="Text 21"/>
          <p:cNvSpPr/>
          <p:nvPr/>
        </p:nvSpPr>
        <p:spPr>
          <a:xfrm>
            <a:off x="768096" y="1801368"/>
            <a:ext cx="1892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one HE-sized upload, paid once</a:t>
            </a:r>
            <a:endParaRPr lang="en-US" sz="850" dirty="0"/>
          </a:p>
        </p:txBody>
      </p:sp>
      <p:sp>
        <p:nvSpPr>
          <p:cNvPr id="24" name="Text 22"/>
          <p:cNvSpPr/>
          <p:nvPr/>
        </p:nvSpPr>
        <p:spPr>
          <a:xfrm>
            <a:off x="2660904" y="18013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key material</a:t>
            </a:r>
            <a:endParaRPr lang="en-US" sz="800" dirty="0"/>
          </a:p>
        </p:txBody>
      </p:sp>
      <p:sp>
        <p:nvSpPr>
          <p:cNvPr id="25" name="Shape 23"/>
          <p:cNvSpPr/>
          <p:nvPr/>
        </p:nvSpPr>
        <p:spPr>
          <a:xfrm>
            <a:off x="4041648" y="1764792"/>
            <a:ext cx="1828800" cy="0"/>
          </a:xfrm>
          <a:prstGeom prst="line">
            <a:avLst/>
          </a:prstGeom>
          <a:noFill/>
          <a:ln w="19050">
            <a:solidFill>
              <a:srgbClr val="1C2530"/>
            </a:solidFill>
            <a:prstDash val="solid"/>
            <a:headEnd type="none"/>
            <a:tailEnd type="triangle"/>
          </a:ln>
        </p:spPr>
      </p:sp>
      <p:sp>
        <p:nvSpPr>
          <p:cNvPr id="26" name="Text 24"/>
          <p:cNvSpPr/>
          <p:nvPr/>
        </p:nvSpPr>
        <p:spPr>
          <a:xfrm>
            <a:off x="4041648" y="1517904"/>
            <a:ext cx="1828800" cy="201168"/>
          </a:xfrm>
          <a:prstGeom prst="rect">
            <a:avLst/>
          </a:prstGeom>
          <a:solidFill>
            <a:srgbClr val="EFEAE0"/>
          </a:solidFill>
          <a:ln/>
        </p:spPr>
        <p:txBody>
          <a:bodyPr wrap="square" lIns="0" tIns="0" rIns="0" bIns="0" rtlCol="0" anchor="ctr"/>
          <a:lstStyle/>
          <a:p>
            <a:pPr algn="ctr" indent="0" marL="0">
              <a:buNone/>
            </a:pPr>
            <a:r>
              <a:rPr lang="en-US" sz="800" dirty="0">
                <a:solidFill>
                  <a:srgbClr val="3B4650"/>
                </a:solidFill>
                <a:latin typeface="Calibri" pitchFamily="34" charset="0"/>
                <a:ea typeface="Calibri" pitchFamily="34" charset="-122"/>
                <a:cs typeface="Calibri" pitchFamily="34" charset="-120"/>
              </a:rPr>
              <a:t>uploaded once per session</a:t>
            </a:r>
            <a:endParaRPr lang="en-US" sz="800" dirty="0"/>
          </a:p>
        </p:txBody>
      </p:sp>
      <p:sp>
        <p:nvSpPr>
          <p:cNvPr id="27" name="Shape 25"/>
          <p:cNvSpPr/>
          <p:nvPr/>
        </p:nvSpPr>
        <p:spPr>
          <a:xfrm>
            <a:off x="5943600" y="1481328"/>
            <a:ext cx="5577840" cy="566928"/>
          </a:xfrm>
          <a:prstGeom prst="rect">
            <a:avLst/>
          </a:prstGeom>
          <a:solidFill>
            <a:srgbClr val="FFFFFF"/>
          </a:solidFill>
          <a:ln w="12700">
            <a:solidFill>
              <a:srgbClr val="1C2530"/>
            </a:solidFill>
            <a:prstDash val="solid"/>
          </a:ln>
        </p:spPr>
      </p:sp>
      <p:sp>
        <p:nvSpPr>
          <p:cNvPr id="28" name="Text 26"/>
          <p:cNvSpPr/>
          <p:nvPr/>
        </p:nvSpPr>
        <p:spPr>
          <a:xfrm>
            <a:off x="6071616" y="1563624"/>
            <a:ext cx="5321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Store the encrypted key</a:t>
            </a:r>
            <a:endParaRPr lang="en-US" sz="1050" dirty="0"/>
          </a:p>
        </p:txBody>
      </p:sp>
      <p:sp>
        <p:nvSpPr>
          <p:cNvPr id="29" name="Text 27"/>
          <p:cNvSpPr/>
          <p:nvPr/>
        </p:nvSpPr>
        <p:spPr>
          <a:xfrm>
            <a:off x="6071616" y="1801368"/>
            <a:ext cx="4178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server never learns the key itself</a:t>
            </a:r>
            <a:endParaRPr lang="en-US" sz="850" dirty="0"/>
          </a:p>
        </p:txBody>
      </p:sp>
      <p:sp>
        <p:nvSpPr>
          <p:cNvPr id="30" name="Text 28"/>
          <p:cNvSpPr/>
          <p:nvPr/>
        </p:nvSpPr>
        <p:spPr>
          <a:xfrm>
            <a:off x="10250424" y="18013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key material</a:t>
            </a:r>
            <a:endParaRPr lang="en-US" sz="800" dirty="0"/>
          </a:p>
        </p:txBody>
      </p:sp>
      <p:sp>
        <p:nvSpPr>
          <p:cNvPr id="31" name="Shape 29"/>
          <p:cNvSpPr/>
          <p:nvPr/>
        </p:nvSpPr>
        <p:spPr>
          <a:xfrm>
            <a:off x="640080" y="2651760"/>
            <a:ext cx="3291840" cy="566928"/>
          </a:xfrm>
          <a:prstGeom prst="rect">
            <a:avLst/>
          </a:prstGeom>
          <a:solidFill>
            <a:srgbClr val="EDE8DE"/>
          </a:solidFill>
          <a:ln w="12700">
            <a:solidFill>
              <a:srgbClr val="7C848D"/>
            </a:solidFill>
            <a:prstDash val="dash"/>
          </a:ln>
        </p:spPr>
      </p:sp>
      <p:sp>
        <p:nvSpPr>
          <p:cNvPr id="32" name="Text 30"/>
          <p:cNvSpPr/>
          <p:nvPr/>
        </p:nvSpPr>
        <p:spPr>
          <a:xfrm>
            <a:off x="768096" y="2734056"/>
            <a:ext cx="3035808" cy="237744"/>
          </a:xfrm>
          <a:prstGeom prst="rect">
            <a:avLst/>
          </a:prstGeom>
          <a:noFill/>
          <a:ln/>
        </p:spPr>
        <p:txBody>
          <a:bodyPr wrap="square" lIns="0" tIns="0" rIns="0" bIns="0" rtlCol="0" anchor="ctr"/>
          <a:lstStyle/>
          <a:p>
            <a:pPr indent="0" marL="0">
              <a:buNone/>
            </a:pPr>
            <a:r>
              <a:rPr lang="en-US" sz="1050" b="1" dirty="0">
                <a:solidFill>
                  <a:srgbClr val="7C848D"/>
                </a:solidFill>
                <a:latin typeface="Calibri" pitchFamily="34" charset="0"/>
                <a:ea typeface="Calibri" pitchFamily="34" charset="-122"/>
                <a:cs typeface="Calibri" pitchFamily="34" charset="-120"/>
              </a:rPr>
              <a:t>(client idle)</a:t>
            </a:r>
            <a:endParaRPr lang="en-US" sz="1050" dirty="0"/>
          </a:p>
        </p:txBody>
      </p:sp>
      <p:sp>
        <p:nvSpPr>
          <p:cNvPr id="33" name="Text 31"/>
          <p:cNvSpPr/>
          <p:nvPr/>
        </p:nvSpPr>
        <p:spPr>
          <a:xfrm>
            <a:off x="768096" y="2971800"/>
            <a:ext cx="3035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no client work happens in this phase at all</a:t>
            </a:r>
            <a:endParaRPr lang="en-US" sz="850" dirty="0"/>
          </a:p>
        </p:txBody>
      </p:sp>
      <p:sp>
        <p:nvSpPr>
          <p:cNvPr id="34" name="Shape 32"/>
          <p:cNvSpPr/>
          <p:nvPr/>
        </p:nvSpPr>
        <p:spPr>
          <a:xfrm>
            <a:off x="5943600" y="2651760"/>
            <a:ext cx="2697480" cy="566928"/>
          </a:xfrm>
          <a:prstGeom prst="rect">
            <a:avLst/>
          </a:prstGeom>
          <a:solidFill>
            <a:srgbClr val="E4D8BF"/>
          </a:solidFill>
          <a:ln w="19050">
            <a:solidFill>
              <a:srgbClr val="9A6A28"/>
            </a:solidFill>
            <a:prstDash val="solid"/>
          </a:ln>
        </p:spPr>
      </p:sp>
      <p:sp>
        <p:nvSpPr>
          <p:cNvPr id="35" name="Text 33"/>
          <p:cNvSpPr/>
          <p:nvPr/>
        </p:nvSpPr>
        <p:spPr>
          <a:xfrm>
            <a:off x="6071616" y="2734056"/>
            <a:ext cx="244144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Evaluate HERA homomorphically</a:t>
            </a:r>
            <a:endParaRPr lang="en-US" sz="1050" dirty="0"/>
          </a:p>
        </p:txBody>
      </p:sp>
      <p:sp>
        <p:nvSpPr>
          <p:cNvPr id="36" name="Text 34"/>
          <p:cNvSpPr/>
          <p:nvPr/>
        </p:nvSpPr>
        <p:spPr>
          <a:xfrm>
            <a:off x="6071616" y="2971800"/>
            <a:ext cx="129844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the expensive step</a:t>
            </a:r>
            <a:endParaRPr lang="en-US" sz="850" dirty="0"/>
          </a:p>
        </p:txBody>
      </p:sp>
      <p:sp>
        <p:nvSpPr>
          <p:cNvPr id="37" name="Text 35"/>
          <p:cNvSpPr/>
          <p:nvPr/>
        </p:nvSpPr>
        <p:spPr>
          <a:xfrm>
            <a:off x="7370064" y="2971800"/>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slot</a:t>
            </a:r>
            <a:endParaRPr lang="en-US" sz="800" dirty="0"/>
          </a:p>
        </p:txBody>
      </p:sp>
      <p:sp>
        <p:nvSpPr>
          <p:cNvPr id="38" name="Shape 36"/>
          <p:cNvSpPr/>
          <p:nvPr/>
        </p:nvSpPr>
        <p:spPr>
          <a:xfrm>
            <a:off x="8686800" y="2935224"/>
            <a:ext cx="201168" cy="0"/>
          </a:xfrm>
          <a:prstGeom prst="line">
            <a:avLst/>
          </a:prstGeom>
          <a:noFill/>
          <a:ln w="15875">
            <a:solidFill>
              <a:srgbClr val="1C2530"/>
            </a:solidFill>
            <a:prstDash val="solid"/>
            <a:headEnd type="none"/>
            <a:tailEnd type="triangle"/>
          </a:ln>
        </p:spPr>
      </p:sp>
      <p:sp>
        <p:nvSpPr>
          <p:cNvPr id="39" name="Shape 37"/>
          <p:cNvSpPr/>
          <p:nvPr/>
        </p:nvSpPr>
        <p:spPr>
          <a:xfrm>
            <a:off x="8915400" y="2651760"/>
            <a:ext cx="2606040" cy="566928"/>
          </a:xfrm>
          <a:prstGeom prst="rect">
            <a:avLst/>
          </a:prstGeom>
          <a:solidFill>
            <a:srgbClr val="E4D8BF"/>
          </a:solidFill>
          <a:ln w="19050">
            <a:solidFill>
              <a:srgbClr val="9A6A28"/>
            </a:solidFill>
            <a:prstDash val="solid"/>
          </a:ln>
        </p:spPr>
      </p:sp>
      <p:sp>
        <p:nvSpPr>
          <p:cNvPr id="40" name="Text 38"/>
          <p:cNvSpPr/>
          <p:nvPr/>
        </p:nvSpPr>
        <p:spPr>
          <a:xfrm>
            <a:off x="9043416" y="2734056"/>
            <a:ext cx="23500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Rearrange the keystream</a:t>
            </a:r>
            <a:endParaRPr lang="en-US" sz="1050" dirty="0"/>
          </a:p>
        </p:txBody>
      </p:sp>
      <p:sp>
        <p:nvSpPr>
          <p:cNvPr id="41" name="Text 39"/>
          <p:cNvSpPr/>
          <p:nvPr/>
        </p:nvSpPr>
        <p:spPr>
          <a:xfrm>
            <a:off x="9043416" y="2971800"/>
            <a:ext cx="12070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into coefficient order</a:t>
            </a:r>
            <a:endParaRPr lang="en-US" sz="850" dirty="0"/>
          </a:p>
        </p:txBody>
      </p:sp>
      <p:sp>
        <p:nvSpPr>
          <p:cNvPr id="42" name="Text 40"/>
          <p:cNvSpPr/>
          <p:nvPr/>
        </p:nvSpPr>
        <p:spPr>
          <a:xfrm>
            <a:off x="10250424" y="2971800"/>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slot → coeff</a:t>
            </a:r>
            <a:endParaRPr lang="en-US" sz="800" dirty="0"/>
          </a:p>
        </p:txBody>
      </p:sp>
      <p:sp>
        <p:nvSpPr>
          <p:cNvPr id="43" name="Shape 41"/>
          <p:cNvSpPr/>
          <p:nvPr/>
        </p:nvSpPr>
        <p:spPr>
          <a:xfrm>
            <a:off x="5943600" y="3310128"/>
            <a:ext cx="5577840" cy="292608"/>
          </a:xfrm>
          <a:prstGeom prst="rect">
            <a:avLst/>
          </a:prstGeom>
          <a:solidFill>
            <a:srgbClr val="EFE7D6"/>
          </a:solidFill>
          <a:ln w="12700">
            <a:solidFill>
              <a:srgbClr val="9A6A28"/>
            </a:solidFill>
            <a:prstDash val="dash"/>
          </a:ln>
        </p:spPr>
      </p:sp>
      <p:sp>
        <p:nvSpPr>
          <p:cNvPr id="44" name="Text 42"/>
          <p:cNvSpPr/>
          <p:nvPr/>
        </p:nvSpPr>
        <p:spPr>
          <a:xfrm>
            <a:off x="6071616" y="3310128"/>
            <a:ext cx="5394960" cy="292608"/>
          </a:xfrm>
          <a:prstGeom prst="rect">
            <a:avLst/>
          </a:prstGeom>
          <a:noFill/>
          <a:ln/>
        </p:spPr>
        <p:txBody>
          <a:bodyPr wrap="square" lIns="0" tIns="0" rIns="0" bIns="0" rtlCol="0" anchor="ctr"/>
          <a:lstStyle/>
          <a:p>
            <a:pPr indent="0" marL="0">
              <a:buNone/>
            </a:pPr>
            <a:r>
              <a:rPr lang="en-US" sz="850" b="1" dirty="0">
                <a:solidFill>
                  <a:srgbClr val="9A6A28"/>
                </a:solidFill>
                <a:latin typeface="Calibri" pitchFamily="34" charset="0"/>
                <a:ea typeface="Calibri" pitchFamily="34" charset="-122"/>
                <a:cs typeface="Calibri" pitchFamily="34" charset="-120"/>
              </a:rPr>
              <a:t>output: an encrypted keystream, waiting — one fresh block per record</a:t>
            </a:r>
            <a:endParaRPr lang="en-US" sz="850" dirty="0"/>
          </a:p>
        </p:txBody>
      </p:sp>
      <p:sp>
        <p:nvSpPr>
          <p:cNvPr id="45" name="Shape 43"/>
          <p:cNvSpPr/>
          <p:nvPr/>
        </p:nvSpPr>
        <p:spPr>
          <a:xfrm>
            <a:off x="640080" y="4224528"/>
            <a:ext cx="3291840" cy="566928"/>
          </a:xfrm>
          <a:prstGeom prst="rect">
            <a:avLst/>
          </a:prstGeom>
          <a:solidFill>
            <a:srgbClr val="FFFFFF"/>
          </a:solidFill>
          <a:ln w="12700">
            <a:solidFill>
              <a:srgbClr val="1C2530"/>
            </a:solidFill>
            <a:prstDash val="solid"/>
          </a:ln>
        </p:spPr>
      </p:sp>
      <p:sp>
        <p:nvSpPr>
          <p:cNvPr id="46" name="Text 44"/>
          <p:cNvSpPr/>
          <p:nvPr/>
        </p:nvSpPr>
        <p:spPr>
          <a:xfrm>
            <a:off x="768096" y="4306824"/>
            <a:ext cx="3035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Symmetric-encrypt the record</a:t>
            </a:r>
            <a:endParaRPr lang="en-US" sz="1050" dirty="0"/>
          </a:p>
        </p:txBody>
      </p:sp>
      <p:sp>
        <p:nvSpPr>
          <p:cNvPr id="47" name="Text 45"/>
          <p:cNvSpPr/>
          <p:nvPr/>
        </p:nvSpPr>
        <p:spPr>
          <a:xfrm>
            <a:off x="768096" y="4544568"/>
            <a:ext cx="1892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milliseconds, no HE involved</a:t>
            </a:r>
            <a:endParaRPr lang="en-US" sz="850" dirty="0"/>
          </a:p>
        </p:txBody>
      </p:sp>
      <p:sp>
        <p:nvSpPr>
          <p:cNvPr id="48" name="Text 46"/>
          <p:cNvSpPr/>
          <p:nvPr/>
        </p:nvSpPr>
        <p:spPr>
          <a:xfrm>
            <a:off x="2660904" y="45445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HERA · plain bytes</a:t>
            </a:r>
            <a:endParaRPr lang="en-US" sz="800" dirty="0"/>
          </a:p>
        </p:txBody>
      </p:sp>
      <p:sp>
        <p:nvSpPr>
          <p:cNvPr id="49" name="Shape 47"/>
          <p:cNvSpPr/>
          <p:nvPr/>
        </p:nvSpPr>
        <p:spPr>
          <a:xfrm>
            <a:off x="4041648" y="4507992"/>
            <a:ext cx="1828800" cy="0"/>
          </a:xfrm>
          <a:prstGeom prst="line">
            <a:avLst/>
          </a:prstGeom>
          <a:noFill/>
          <a:ln w="25400">
            <a:solidFill>
              <a:srgbClr val="9A6A28"/>
            </a:solidFill>
            <a:prstDash val="solid"/>
            <a:headEnd type="none"/>
            <a:tailEnd type="triangle"/>
          </a:ln>
        </p:spPr>
      </p:sp>
      <p:sp>
        <p:nvSpPr>
          <p:cNvPr id="50" name="Text 48"/>
          <p:cNvSpPr/>
          <p:nvPr/>
        </p:nvSpPr>
        <p:spPr>
          <a:xfrm>
            <a:off x="4041648" y="4261104"/>
            <a:ext cx="1828800" cy="201168"/>
          </a:xfrm>
          <a:prstGeom prst="rect">
            <a:avLst/>
          </a:prstGeom>
          <a:solidFill>
            <a:srgbClr val="F1EDE4"/>
          </a:solidFill>
          <a:ln/>
        </p:spPr>
        <p:txBody>
          <a:bodyPr wrap="square" lIns="0" tIns="0" rIns="0" bIns="0" rtlCol="0" anchor="ctr"/>
          <a:lstStyle/>
          <a:p>
            <a:pPr algn="ctr" indent="0" marL="0">
              <a:buNone/>
            </a:pPr>
            <a:r>
              <a:rPr lang="en-US" sz="850" b="1" dirty="0">
                <a:solidFill>
                  <a:srgbClr val="9A6A28"/>
                </a:solidFill>
                <a:latin typeface="Calibri" pitchFamily="34" charset="0"/>
                <a:ea typeface="Calibri" pitchFamily="34" charset="-122"/>
                <a:cs typeface="Calibri" pitchFamily="34" charset="-120"/>
              </a:rPr>
              <a:t>~1 KB · 249× smaller</a:t>
            </a:r>
            <a:endParaRPr lang="en-US" sz="850" dirty="0"/>
          </a:p>
        </p:txBody>
      </p:sp>
      <p:sp>
        <p:nvSpPr>
          <p:cNvPr id="51" name="Shape 49"/>
          <p:cNvSpPr/>
          <p:nvPr/>
        </p:nvSpPr>
        <p:spPr>
          <a:xfrm>
            <a:off x="5943600" y="4224528"/>
            <a:ext cx="5577840" cy="438912"/>
          </a:xfrm>
          <a:prstGeom prst="rect">
            <a:avLst/>
          </a:prstGeom>
          <a:solidFill>
            <a:srgbClr val="FFFFFF"/>
          </a:solidFill>
          <a:ln w="12700">
            <a:solidFill>
              <a:srgbClr val="1C2530"/>
            </a:solidFill>
            <a:prstDash val="solid"/>
          </a:ln>
        </p:spPr>
      </p:sp>
      <p:sp>
        <p:nvSpPr>
          <p:cNvPr id="52" name="Text 50"/>
          <p:cNvSpPr/>
          <p:nvPr/>
        </p:nvSpPr>
        <p:spPr>
          <a:xfrm>
            <a:off x="6071616" y="4251960"/>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Subtract the keystream</a:t>
            </a:r>
            <a:endParaRPr lang="en-US" sz="1050" dirty="0"/>
          </a:p>
        </p:txBody>
      </p:sp>
      <p:sp>
        <p:nvSpPr>
          <p:cNvPr id="53" name="Text 51"/>
          <p:cNvSpPr/>
          <p:nvPr/>
        </p:nvSpPr>
        <p:spPr>
          <a:xfrm>
            <a:off x="8046720" y="4251960"/>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this is the homomorphic decryption</a:t>
            </a:r>
            <a:endParaRPr lang="en-US" sz="850" dirty="0"/>
          </a:p>
        </p:txBody>
      </p:sp>
      <p:sp>
        <p:nvSpPr>
          <p:cNvPr id="54" name="Text 52"/>
          <p:cNvSpPr/>
          <p:nvPr/>
        </p:nvSpPr>
        <p:spPr>
          <a:xfrm>
            <a:off x="10259568" y="4251960"/>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coefficient</a:t>
            </a:r>
            <a:endParaRPr lang="en-US" sz="800" dirty="0"/>
          </a:p>
        </p:txBody>
      </p:sp>
      <p:sp>
        <p:nvSpPr>
          <p:cNvPr id="55" name="Shape 53"/>
          <p:cNvSpPr/>
          <p:nvPr/>
        </p:nvSpPr>
        <p:spPr>
          <a:xfrm>
            <a:off x="6446520" y="4663440"/>
            <a:ext cx="0" cy="91440"/>
          </a:xfrm>
          <a:prstGeom prst="line">
            <a:avLst/>
          </a:prstGeom>
          <a:noFill/>
          <a:ln w="12700">
            <a:solidFill>
              <a:srgbClr val="1C2530"/>
            </a:solidFill>
            <a:prstDash val="solid"/>
            <a:headEnd type="none"/>
            <a:tailEnd type="triangle"/>
          </a:ln>
        </p:spPr>
      </p:sp>
      <p:sp>
        <p:nvSpPr>
          <p:cNvPr id="56" name="Shape 54"/>
          <p:cNvSpPr/>
          <p:nvPr/>
        </p:nvSpPr>
        <p:spPr>
          <a:xfrm>
            <a:off x="5943600" y="4764024"/>
            <a:ext cx="5577840" cy="438912"/>
          </a:xfrm>
          <a:prstGeom prst="rect">
            <a:avLst/>
          </a:prstGeom>
          <a:solidFill>
            <a:srgbClr val="FFFFFF"/>
          </a:solidFill>
          <a:ln w="12700">
            <a:solidFill>
              <a:srgbClr val="1C2530"/>
            </a:solidFill>
            <a:prstDash val="dash"/>
          </a:ln>
        </p:spPr>
      </p:sp>
      <p:sp>
        <p:nvSpPr>
          <p:cNvPr id="57" name="Text 55"/>
          <p:cNvSpPr/>
          <p:nvPr/>
        </p:nvSpPr>
        <p:spPr>
          <a:xfrm>
            <a:off x="6071616" y="4791456"/>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Relabel FV as CKKS</a:t>
            </a:r>
            <a:endParaRPr lang="en-US" sz="1050" dirty="0"/>
          </a:p>
        </p:txBody>
      </p:sp>
      <p:sp>
        <p:nvSpPr>
          <p:cNvPr id="58" name="Text 56"/>
          <p:cNvSpPr/>
          <p:nvPr/>
        </p:nvSpPr>
        <p:spPr>
          <a:xfrm>
            <a:off x="8046720" y="4791456"/>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free — no computation</a:t>
            </a:r>
            <a:endParaRPr lang="en-US" sz="850" dirty="0"/>
          </a:p>
        </p:txBody>
      </p:sp>
      <p:sp>
        <p:nvSpPr>
          <p:cNvPr id="59" name="Text 57"/>
          <p:cNvSpPr/>
          <p:nvPr/>
        </p:nvSpPr>
        <p:spPr>
          <a:xfrm>
            <a:off x="10259568" y="4791456"/>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coefficient</a:t>
            </a:r>
            <a:endParaRPr lang="en-US" sz="800" dirty="0"/>
          </a:p>
        </p:txBody>
      </p:sp>
      <p:sp>
        <p:nvSpPr>
          <p:cNvPr id="60" name="Shape 58"/>
          <p:cNvSpPr/>
          <p:nvPr/>
        </p:nvSpPr>
        <p:spPr>
          <a:xfrm>
            <a:off x="6446520" y="5202936"/>
            <a:ext cx="0" cy="91440"/>
          </a:xfrm>
          <a:prstGeom prst="line">
            <a:avLst/>
          </a:prstGeom>
          <a:noFill/>
          <a:ln w="12700">
            <a:solidFill>
              <a:srgbClr val="1C2530"/>
            </a:solidFill>
            <a:prstDash val="solid"/>
            <a:headEnd type="none"/>
            <a:tailEnd type="triangle"/>
          </a:ln>
        </p:spPr>
      </p:sp>
      <p:sp>
        <p:nvSpPr>
          <p:cNvPr id="61" name="Shape 59"/>
          <p:cNvSpPr/>
          <p:nvPr/>
        </p:nvSpPr>
        <p:spPr>
          <a:xfrm>
            <a:off x="5943600" y="5303520"/>
            <a:ext cx="5577840" cy="438912"/>
          </a:xfrm>
          <a:prstGeom prst="rect">
            <a:avLst/>
          </a:prstGeom>
          <a:solidFill>
            <a:srgbClr val="FFFFFF"/>
          </a:solidFill>
          <a:ln w="12700">
            <a:solidFill>
              <a:srgbClr val="1C2530"/>
            </a:solidFill>
            <a:prstDash val="solid"/>
          </a:ln>
        </p:spPr>
      </p:sp>
      <p:sp>
        <p:nvSpPr>
          <p:cNvPr id="62" name="Text 60"/>
          <p:cNvSpPr/>
          <p:nvPr/>
        </p:nvSpPr>
        <p:spPr>
          <a:xfrm>
            <a:off x="6071616" y="5330952"/>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HalfBoot</a:t>
            </a:r>
            <a:endParaRPr lang="en-US" sz="1050" dirty="0"/>
          </a:p>
        </p:txBody>
      </p:sp>
      <p:sp>
        <p:nvSpPr>
          <p:cNvPr id="63" name="Text 61"/>
          <p:cNvSpPr/>
          <p:nvPr/>
        </p:nvSpPr>
        <p:spPr>
          <a:xfrm>
            <a:off x="8046720" y="5330952"/>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restores headroom → slot layout</a:t>
            </a:r>
            <a:endParaRPr lang="en-US" sz="850" dirty="0"/>
          </a:p>
        </p:txBody>
      </p:sp>
      <p:sp>
        <p:nvSpPr>
          <p:cNvPr id="64" name="Text 62"/>
          <p:cNvSpPr/>
          <p:nvPr/>
        </p:nvSpPr>
        <p:spPr>
          <a:xfrm>
            <a:off x="10259568" y="5330952"/>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coeff → slot</a:t>
            </a:r>
            <a:endParaRPr lang="en-US" sz="800" dirty="0"/>
          </a:p>
        </p:txBody>
      </p:sp>
      <p:sp>
        <p:nvSpPr>
          <p:cNvPr id="65" name="Shape 63"/>
          <p:cNvSpPr/>
          <p:nvPr/>
        </p:nvSpPr>
        <p:spPr>
          <a:xfrm>
            <a:off x="6446520" y="5742432"/>
            <a:ext cx="0" cy="91440"/>
          </a:xfrm>
          <a:prstGeom prst="line">
            <a:avLst/>
          </a:prstGeom>
          <a:noFill/>
          <a:ln w="12700">
            <a:solidFill>
              <a:srgbClr val="1C2530"/>
            </a:solidFill>
            <a:prstDash val="solid"/>
            <a:headEnd type="none"/>
            <a:tailEnd type="triangle"/>
          </a:ln>
        </p:spPr>
      </p:sp>
      <p:sp>
        <p:nvSpPr>
          <p:cNvPr id="66" name="Shape 64"/>
          <p:cNvSpPr/>
          <p:nvPr/>
        </p:nvSpPr>
        <p:spPr>
          <a:xfrm>
            <a:off x="5943600" y="5843016"/>
            <a:ext cx="5577840" cy="438912"/>
          </a:xfrm>
          <a:prstGeom prst="rect">
            <a:avLst/>
          </a:prstGeom>
          <a:solidFill>
            <a:srgbClr val="FFFFFF"/>
          </a:solidFill>
          <a:ln w="12700">
            <a:solidFill>
              <a:srgbClr val="1C2530"/>
            </a:solidFill>
            <a:prstDash val="solid"/>
          </a:ln>
        </p:spPr>
      </p:sp>
      <p:sp>
        <p:nvSpPr>
          <p:cNvPr id="67" name="Text 65"/>
          <p:cNvSpPr/>
          <p:nvPr/>
        </p:nvSpPr>
        <p:spPr>
          <a:xfrm>
            <a:off x="6071616" y="5870448"/>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Run the fraud model</a:t>
            </a:r>
            <a:endParaRPr lang="en-US" sz="1050" dirty="0"/>
          </a:p>
        </p:txBody>
      </p:sp>
      <p:sp>
        <p:nvSpPr>
          <p:cNvPr id="68" name="Text 66"/>
          <p:cNvSpPr/>
          <p:nvPr/>
        </p:nvSpPr>
        <p:spPr>
          <a:xfrm>
            <a:off x="8046720" y="5870448"/>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exactly as it would have anyway</a:t>
            </a:r>
            <a:endParaRPr lang="en-US" sz="850" dirty="0"/>
          </a:p>
        </p:txBody>
      </p:sp>
      <p:sp>
        <p:nvSpPr>
          <p:cNvPr id="69" name="Text 67"/>
          <p:cNvSpPr/>
          <p:nvPr/>
        </p:nvSpPr>
        <p:spPr>
          <a:xfrm>
            <a:off x="10259568" y="5870448"/>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slot</a:t>
            </a:r>
            <a:endParaRPr lang="en-US" sz="800" dirty="0"/>
          </a:p>
        </p:txBody>
      </p:sp>
      <p:sp>
        <p:nvSpPr>
          <p:cNvPr id="70" name="Shape 68"/>
          <p:cNvSpPr/>
          <p:nvPr/>
        </p:nvSpPr>
        <p:spPr>
          <a:xfrm flipH="1">
            <a:off x="3986784" y="6473952"/>
            <a:ext cx="1920240" cy="0"/>
          </a:xfrm>
          <a:prstGeom prst="line">
            <a:avLst/>
          </a:prstGeom>
          <a:noFill/>
          <a:ln w="19050">
            <a:solidFill>
              <a:srgbClr val="1C2530"/>
            </a:solidFill>
            <a:prstDash val="solid"/>
            <a:headEnd type="none"/>
            <a:tailEnd type="triangle"/>
          </a:ln>
        </p:spPr>
      </p:sp>
      <p:sp>
        <p:nvSpPr>
          <p:cNvPr id="71" name="Text 69"/>
          <p:cNvSpPr/>
          <p:nvPr/>
        </p:nvSpPr>
        <p:spPr>
          <a:xfrm>
            <a:off x="1097280" y="6236208"/>
            <a:ext cx="4754880" cy="219456"/>
          </a:xfrm>
          <a:prstGeom prst="rect">
            <a:avLst/>
          </a:prstGeom>
          <a:solidFill>
            <a:srgbClr val="F1EDE4"/>
          </a:solidFill>
          <a:ln/>
        </p:spPr>
        <p:txBody>
          <a:bodyPr wrap="square" lIns="0" tIns="0" rIns="0" bIns="0" rtlCol="0" anchor="ctr"/>
          <a:lstStyle/>
          <a:p>
            <a:pPr algn="r" indent="0" marL="0">
              <a:buNone/>
            </a:pPr>
            <a:r>
              <a:rPr lang="en-US" sz="850" i="1" dirty="0">
                <a:solidFill>
                  <a:srgbClr val="3B4650"/>
                </a:solidFill>
                <a:latin typeface="Calibri" pitchFamily="34" charset="0"/>
                <a:ea typeface="Calibri" pitchFamily="34" charset="-122"/>
                <a:cs typeface="Calibri" pitchFamily="34" charset="-120"/>
              </a:rPr>
              <a:t>an encrypted score — readable only by the client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08 · STATUS</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Client side: complete</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058400" cy="54864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Go module at tools/transciphering/. HERA-16 stream cipher, m = 16 state elements, r = 5 rounds, t = 2²⁶ plaintext modulus. Pushed to main, commit 32e6516.</a:t>
            </a:r>
            <a:endParaRPr lang="en-US" sz="1450" dirty="0"/>
          </a:p>
        </p:txBody>
      </p:sp>
      <p:sp>
        <p:nvSpPr>
          <p:cNvPr id="98" name="Text 97"/>
          <p:cNvSpPr/>
          <p:nvPr/>
        </p:nvSpPr>
        <p:spPr>
          <a:xfrm>
            <a:off x="658368" y="2093976"/>
            <a:ext cx="10424160" cy="365760"/>
          </a:xfrm>
          <a:prstGeom prst="rect">
            <a:avLst/>
          </a:prstGeom>
          <a:noFill/>
          <a:ln/>
        </p:spPr>
        <p:txBody>
          <a:bodyPr wrap="square" lIns="0" tIns="0" rIns="0" bIns="0" rtlCol="0" anchor="ctr"/>
          <a:lstStyle/>
          <a:p>
            <a:pPr indent="0" marL="0">
              <a:lnSpc>
                <a:spcPts val="1500"/>
              </a:lnSpc>
              <a:buNone/>
            </a:pPr>
            <a:r>
              <a:rPr lang="en-US" sz="1050" b="1" dirty="0">
                <a:solidFill>
                  <a:srgbClr val="9A6A28"/>
                </a:solidFill>
                <a:latin typeface="Calibri" pitchFamily="34" charset="0"/>
                <a:ea typeface="Calibri" pitchFamily="34" charset="-122"/>
                <a:cs typeface="Calibri" pitchFamily="34" charset="-120"/>
              </a:rPr>
              <a:t>Fixed: this module now ships r = 5, matching 128as. The two timings below are re-measured at the correct round count.</a:t>
            </a:r>
            <a:endParaRPr lang="en-US" sz="1050" dirty="0"/>
          </a:p>
        </p:txBody>
      </p:sp>
      <p:sp>
        <p:nvSpPr>
          <p:cNvPr id="7" name="Shape 5"/>
          <p:cNvSpPr/>
          <p:nvPr/>
        </p:nvSpPr>
        <p:spPr>
          <a:xfrm>
            <a:off x="658368" y="2651760"/>
            <a:ext cx="2487168" cy="1371600"/>
          </a:xfrm>
          <a:prstGeom prst="rect">
            <a:avLst/>
          </a:prstGeom>
          <a:solidFill>
            <a:srgbClr val="FFFFFF"/>
          </a:solidFill>
          <a:ln w="12700">
            <a:solidFill>
              <a:srgbClr val="D3CCC0"/>
            </a:solidFill>
            <a:prstDash val="solid"/>
          </a:ln>
        </p:spPr>
      </p:sp>
      <p:sp>
        <p:nvSpPr>
          <p:cNvPr id="8" name="Text 6"/>
          <p:cNvSpPr/>
          <p:nvPr/>
        </p:nvSpPr>
        <p:spPr>
          <a:xfrm>
            <a:off x="8778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1.10 ms</a:t>
            </a:r>
            <a:endParaRPr lang="en-US" sz="2400" dirty="0"/>
          </a:p>
        </p:txBody>
      </p:sp>
      <p:sp>
        <p:nvSpPr>
          <p:cNvPr id="9" name="Text 7"/>
          <p:cNvSpPr/>
          <p:nvPr/>
        </p:nvSpPr>
        <p:spPr>
          <a:xfrm>
            <a:off x="8778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single-record encrypt</a:t>
            </a:r>
            <a:endParaRPr lang="en-US" sz="1050" dirty="0"/>
          </a:p>
        </p:txBody>
      </p:sp>
      <p:sp>
        <p:nvSpPr>
          <p:cNvPr id="10" name="Shape 8"/>
          <p:cNvSpPr/>
          <p:nvPr/>
        </p:nvSpPr>
        <p:spPr>
          <a:xfrm>
            <a:off x="3401568" y="2651760"/>
            <a:ext cx="2487168" cy="1371600"/>
          </a:xfrm>
          <a:prstGeom prst="rect">
            <a:avLst/>
          </a:prstGeom>
          <a:solidFill>
            <a:srgbClr val="FFFFFF"/>
          </a:solidFill>
          <a:ln w="12700">
            <a:solidFill>
              <a:srgbClr val="D3CCC0"/>
            </a:solidFill>
            <a:prstDash val="solid"/>
          </a:ln>
        </p:spPr>
      </p:sp>
      <p:sp>
        <p:nvSpPr>
          <p:cNvPr id="11" name="Text 9"/>
          <p:cNvSpPr/>
          <p:nvPr/>
        </p:nvSpPr>
        <p:spPr>
          <a:xfrm>
            <a:off x="36210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17.5 ms</a:t>
            </a:r>
            <a:endParaRPr lang="en-US" sz="2400" dirty="0"/>
          </a:p>
        </p:txBody>
      </p:sp>
      <p:sp>
        <p:nvSpPr>
          <p:cNvPr id="12" name="Text 10"/>
          <p:cNvSpPr/>
          <p:nvPr/>
        </p:nvSpPr>
        <p:spPr>
          <a:xfrm>
            <a:off x="36210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16-lane batch</a:t>
            </a:r>
            <a:endParaRPr lang="en-US" sz="1050" dirty="0"/>
          </a:p>
        </p:txBody>
      </p:sp>
      <p:sp>
        <p:nvSpPr>
          <p:cNvPr id="13" name="Shape 11"/>
          <p:cNvSpPr/>
          <p:nvPr/>
        </p:nvSpPr>
        <p:spPr>
          <a:xfrm>
            <a:off x="6144768" y="2651760"/>
            <a:ext cx="2487168" cy="1371600"/>
          </a:xfrm>
          <a:prstGeom prst="rect">
            <a:avLst/>
          </a:prstGeom>
          <a:solidFill>
            <a:srgbClr val="FFFFFF"/>
          </a:solidFill>
          <a:ln w="12700">
            <a:solidFill>
              <a:srgbClr val="D3CCC0"/>
            </a:solidFill>
            <a:prstDash val="solid"/>
          </a:ln>
        </p:spPr>
      </p:sp>
      <p:sp>
        <p:nvSpPr>
          <p:cNvPr id="14" name="Text 12"/>
          <p:cNvSpPr/>
          <p:nvPr/>
        </p:nvSpPr>
        <p:spPr>
          <a:xfrm>
            <a:off x="63642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1,052 B</a:t>
            </a:r>
            <a:endParaRPr lang="en-US" sz="2400" dirty="0"/>
          </a:p>
        </p:txBody>
      </p:sp>
      <p:sp>
        <p:nvSpPr>
          <p:cNvPr id="15" name="Text 13"/>
          <p:cNvSpPr/>
          <p:nvPr/>
        </p:nvSpPr>
        <p:spPr>
          <a:xfrm>
            <a:off x="63642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upload, from 262,257 B</a:t>
            </a:r>
            <a:endParaRPr lang="en-US" sz="1050" dirty="0"/>
          </a:p>
        </p:txBody>
      </p:sp>
      <p:sp>
        <p:nvSpPr>
          <p:cNvPr id="16" name="Shape 14"/>
          <p:cNvSpPr/>
          <p:nvPr/>
        </p:nvSpPr>
        <p:spPr>
          <a:xfrm>
            <a:off x="8887968" y="2651760"/>
            <a:ext cx="2487168" cy="1371600"/>
          </a:xfrm>
          <a:prstGeom prst="rect">
            <a:avLst/>
          </a:prstGeom>
          <a:solidFill>
            <a:srgbClr val="E4D8BF"/>
          </a:solidFill>
          <a:ln w="19050">
            <a:solidFill>
              <a:srgbClr val="9A6A28"/>
            </a:solidFill>
            <a:prstDash val="solid"/>
          </a:ln>
        </p:spPr>
      </p:sp>
      <p:sp>
        <p:nvSpPr>
          <p:cNvPr id="17" name="Text 15"/>
          <p:cNvSpPr/>
          <p:nvPr/>
        </p:nvSpPr>
        <p:spPr>
          <a:xfrm>
            <a:off x="9107424" y="2907792"/>
            <a:ext cx="2103120" cy="502920"/>
          </a:xfrm>
          <a:prstGeom prst="rect">
            <a:avLst/>
          </a:prstGeom>
          <a:noFill/>
          <a:ln/>
        </p:spPr>
        <p:txBody>
          <a:bodyPr wrap="square" lIns="0" tIns="0" rIns="0" bIns="0" rtlCol="0" anchor="ctr"/>
          <a:lstStyle/>
          <a:p>
            <a:pPr indent="0" marL="0">
              <a:buNone/>
            </a:pPr>
            <a:r>
              <a:rPr lang="en-US" sz="2400" dirty="0">
                <a:solidFill>
                  <a:srgbClr val="9A6A28"/>
                </a:solidFill>
                <a:latin typeface="Century Schoolbook" pitchFamily="34" charset="0"/>
                <a:ea typeface="Century Schoolbook" pitchFamily="34" charset="-122"/>
                <a:cs typeface="Century Schoolbook" pitchFamily="34" charset="-120"/>
              </a:rPr>
              <a:t>249×</a:t>
            </a:r>
            <a:endParaRPr lang="en-US" sz="2400" dirty="0"/>
          </a:p>
        </p:txBody>
      </p:sp>
      <p:sp>
        <p:nvSpPr>
          <p:cNvPr id="18" name="Text 16"/>
          <p:cNvSpPr/>
          <p:nvPr/>
        </p:nvSpPr>
        <p:spPr>
          <a:xfrm>
            <a:off x="91074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reduction on the wire</a:t>
            </a:r>
            <a:endParaRPr lang="en-US" sz="1050" dirty="0"/>
          </a:p>
        </p:txBody>
      </p:sp>
      <p:sp>
        <p:nvSpPr>
          <p:cNvPr id="19" name="Text 17"/>
          <p:cNvSpPr/>
          <p:nvPr/>
        </p:nvSpPr>
        <p:spPr>
          <a:xfrm>
            <a:off x="658368" y="4434840"/>
            <a:ext cx="10424160" cy="32004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All four re-measured at r = 5, matching 128as. Bandwidth is unchanged, as expected — it never depended on round count.</a:t>
            </a:r>
            <a:endParaRPr lang="en-US" sz="1300" dirty="0"/>
          </a:p>
        </p:txBody>
      </p:sp>
      <p:sp>
        <p:nvSpPr>
          <p:cNvPr id="99" name="Text 98"/>
          <p:cNvSpPr/>
          <p:nvPr/>
        </p:nvSpPr>
        <p:spPr>
          <a:xfrm>
            <a:off x="658368" y="4950000"/>
            <a:ext cx="10424160" cy="36576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~9.0× cheaper in client CPU than plain CKKS encode+encrypt — same host, same session, 160-bit chain.</a:t>
            </a:r>
            <a:endParaRPr lang="en-US" sz="1300" dirty="0"/>
          </a:p>
        </p:txBody>
      </p:sp>
      <p:sp>
        <p:nvSpPr>
          <p:cNvPr id="100" name="Text 99"/>
          <p:cNvSpPr/>
          <p:nvPr/>
        </p:nvSpPr>
        <p:spPr>
          <a:xfrm>
            <a:off x="658368" y="5350000"/>
            <a:ext cx="10424160" cy="219456"/>
          </a:xfrm>
          <a:prstGeom prst="rect">
            <a:avLst/>
          </a:prstGeom>
          <a:noFill/>
          <a:ln/>
        </p:spPr>
        <p:txBody>
          <a:bodyPr wrap="square" lIns="0" tIns="0" rIns="0" bIns="0" rtlCol="0" anchor="ctr"/>
          <a:lstStyle/>
          <a:p>
            <a:pPr indent="0" marL="0">
              <a:buNone/>
            </a:pPr>
            <a:r>
              <a:rPr lang="en-US" sz="800" i="1" dirty="0">
                <a:solidFill>
                  <a:srgbClr val="7C848D"/>
                </a:solidFill>
                <a:latin typeface="Calibri" pitchFamily="34" charset="0"/>
                <a:ea typeface="Calibri" pitchFamily="34" charset="-122"/>
                <a:cs typeface="Calibri" pitchFamily="34" charset="-120"/>
              </a:rPr>
              <a:t>Both measured back to back, Chrome closed, load avg ~1 — still powersave governor (no root here), so absolute numbers stay provisional; the ratio held within 5% of a heavier-load run.</a:t>
            </a:r>
            <a:endParaRPr lang="en-US" sz="800" dirty="0"/>
          </a:p>
        </p:txBody>
      </p:sp>
      <p:sp>
        <p:nvSpPr>
          <p:cNvPr id="20" name="Text 18"/>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1" name="Text 19"/>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09 · FINDING 1</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build issue does not exist</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05840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The task was framed as fixing a library/build problem with the KAIST ckks_fv RtF bridge. There is no build problem.</a:t>
            </a:r>
            <a:endParaRPr lang="en-US" sz="1450" dirty="0"/>
          </a:p>
        </p:txBody>
      </p:sp>
      <p:sp>
        <p:nvSpPr>
          <p:cNvPr id="7" name="Shape 5"/>
          <p:cNvSpPr/>
          <p:nvPr/>
        </p:nvSpPr>
        <p:spPr>
          <a:xfrm>
            <a:off x="658368" y="2331720"/>
            <a:ext cx="5120640" cy="1417320"/>
          </a:xfrm>
          <a:prstGeom prst="rect">
            <a:avLst/>
          </a:prstGeom>
          <a:solidFill>
            <a:srgbClr val="FFFFFF"/>
          </a:solidFill>
          <a:ln w="12700">
            <a:solidFill>
              <a:srgbClr val="D3CCC0"/>
            </a:solidFill>
            <a:prstDash val="dash"/>
          </a:ln>
        </p:spPr>
      </p:sp>
      <p:sp>
        <p:nvSpPr>
          <p:cNvPr id="8" name="Text 6"/>
          <p:cNvSpPr/>
          <p:nvPr/>
        </p:nvSpPr>
        <p:spPr>
          <a:xfrm>
            <a:off x="950976" y="2514600"/>
            <a:ext cx="4480560" cy="256032"/>
          </a:xfrm>
          <a:prstGeom prst="rect">
            <a:avLst/>
          </a:prstGeom>
          <a:noFill/>
          <a:ln/>
        </p:spPr>
        <p:txBody>
          <a:bodyPr wrap="square" lIns="0" tIns="0" rIns="0" bIns="0" rtlCol="0" anchor="ctr"/>
          <a:lstStyle/>
          <a:p>
            <a:pPr indent="0" marL="0">
              <a:buNone/>
            </a:pPr>
            <a:r>
              <a:rPr lang="en-US" sz="1100" b="1" spc="100" kern="0" dirty="0">
                <a:solidFill>
                  <a:srgbClr val="7C848D"/>
                </a:solidFill>
                <a:latin typeface="Calibri" pitchFamily="34" charset="0"/>
                <a:ea typeface="Calibri" pitchFamily="34" charset="-122"/>
                <a:cs typeface="Calibri" pitchFamily="34" charset="-120"/>
              </a:rPr>
              <a:t>As framed</a:t>
            </a:r>
            <a:endParaRPr lang="en-US" sz="1100" dirty="0"/>
          </a:p>
        </p:txBody>
      </p:sp>
      <p:sp>
        <p:nvSpPr>
          <p:cNvPr id="9" name="Text 7"/>
          <p:cNvSpPr/>
          <p:nvPr/>
        </p:nvSpPr>
        <p:spPr>
          <a:xfrm>
            <a:off x="950976" y="2834640"/>
            <a:ext cx="4480560" cy="731520"/>
          </a:xfrm>
          <a:prstGeom prst="rect">
            <a:avLst/>
          </a:prstGeom>
          <a:noFill/>
          <a:ln/>
        </p:spPr>
        <p:txBody>
          <a:bodyPr wrap="square" lIns="0" tIns="0" rIns="0" bIns="0" rtlCol="0" anchor="ctr"/>
          <a:lstStyle/>
          <a:p>
            <a:pPr indent="0" marL="0">
              <a:lnSpc>
                <a:spcPts val="1900"/>
              </a:lnSpc>
              <a:buNone/>
            </a:pPr>
            <a:r>
              <a:rPr lang="en-US" sz="1250" dirty="0">
                <a:solidFill>
                  <a:srgbClr val="7C848D"/>
                </a:solidFill>
                <a:latin typeface="Calibri" pitchFamily="34" charset="0"/>
                <a:ea typeface="Calibri" pitchFamily="34" charset="-122"/>
                <a:cs typeface="Calibri" pitchFamily="34" charset="-120"/>
              </a:rPr>
              <a:t>The RtF bridge does not build; fix the library before anything else can proceed.</a:t>
            </a:r>
            <a:endParaRPr lang="en-US" sz="1250" dirty="0"/>
          </a:p>
        </p:txBody>
      </p:sp>
      <p:sp>
        <p:nvSpPr>
          <p:cNvPr id="10" name="Shape 8"/>
          <p:cNvSpPr/>
          <p:nvPr/>
        </p:nvSpPr>
        <p:spPr>
          <a:xfrm>
            <a:off x="6400800" y="2331720"/>
            <a:ext cx="5120640" cy="1417320"/>
          </a:xfrm>
          <a:prstGeom prst="rect">
            <a:avLst/>
          </a:prstGeom>
          <a:solidFill>
            <a:srgbClr val="E4D8BF"/>
          </a:solidFill>
          <a:ln w="19050">
            <a:solidFill>
              <a:srgbClr val="9A6A28"/>
            </a:solidFill>
            <a:prstDash val="solid"/>
          </a:ln>
        </p:spPr>
      </p:sp>
      <p:sp>
        <p:nvSpPr>
          <p:cNvPr id="11" name="Text 9"/>
          <p:cNvSpPr/>
          <p:nvPr/>
        </p:nvSpPr>
        <p:spPr>
          <a:xfrm>
            <a:off x="6693408" y="2514600"/>
            <a:ext cx="4480560" cy="256032"/>
          </a:xfrm>
          <a:prstGeom prst="rect">
            <a:avLst/>
          </a:prstGeom>
          <a:noFill/>
          <a:ln/>
        </p:spPr>
        <p:txBody>
          <a:bodyPr wrap="square" lIns="0" tIns="0" rIns="0" bIns="0" rtlCol="0" anchor="ctr"/>
          <a:lstStyle/>
          <a:p>
            <a:pPr indent="0" marL="0">
              <a:buNone/>
            </a:pPr>
            <a:r>
              <a:rPr lang="en-US" sz="1100" b="1" spc="100" kern="0" dirty="0">
                <a:solidFill>
                  <a:srgbClr val="9A6A28"/>
                </a:solidFill>
                <a:latin typeface="Calibri" pitchFamily="34" charset="0"/>
                <a:ea typeface="Calibri" pitchFamily="34" charset="-122"/>
                <a:cs typeface="Calibri" pitchFamily="34" charset="-120"/>
              </a:rPr>
              <a:t>As found</a:t>
            </a:r>
            <a:endParaRPr lang="en-US" sz="1100" dirty="0"/>
          </a:p>
        </p:txBody>
      </p:sp>
      <p:sp>
        <p:nvSpPr>
          <p:cNvPr id="12" name="Text 10"/>
          <p:cNvSpPr/>
          <p:nvPr/>
        </p:nvSpPr>
        <p:spPr>
          <a:xfrm>
            <a:off x="6693408" y="2834640"/>
            <a:ext cx="4480560" cy="777240"/>
          </a:xfrm>
          <a:prstGeom prst="rect">
            <a:avLst/>
          </a:prstGeom>
          <a:noFill/>
          <a:ln/>
        </p:spPr>
        <p:txBody>
          <a:bodyPr wrap="square" lIns="0" tIns="0" rIns="0" bIns="0" rtlCol="0" anchor="ctr"/>
          <a:lstStyle/>
          <a:p>
            <a:pPr indent="0" marL="0">
              <a:lnSpc>
                <a:spcPts val="1900"/>
              </a:lnSpc>
              <a:buNone/>
            </a:pPr>
            <a:r>
              <a:rPr lang="en-US" sz="1250" dirty="0">
                <a:solidFill>
                  <a:srgbClr val="1C2530"/>
                </a:solidFill>
                <a:latin typeface="Calibri" pitchFamily="34" charset="0"/>
                <a:ea typeface="Calibri" pitchFamily="34" charset="-122"/>
                <a:cs typeface="Calibri" pitchFamily="34" charset="-120"/>
              </a:rPr>
              <a:t>The fork builds clean under Go 1.25 with zero source changes. go vet and go test -c both exit 0. The only blocker is RAM.</a:t>
            </a:r>
            <a:endParaRPr lang="en-US" sz="1250" dirty="0"/>
          </a:p>
        </p:txBody>
      </p:sp>
      <p:sp>
        <p:nvSpPr>
          <p:cNvPr id="13" name="Shape 11"/>
          <p:cNvSpPr/>
          <p:nvPr/>
        </p:nvSpPr>
        <p:spPr>
          <a:xfrm>
            <a:off x="5870448" y="3035808"/>
            <a:ext cx="475488" cy="0"/>
          </a:xfrm>
          <a:prstGeom prst="line">
            <a:avLst/>
          </a:prstGeom>
          <a:noFill/>
          <a:ln w="19050">
            <a:solidFill>
              <a:srgbClr val="1C2530"/>
            </a:solidFill>
            <a:prstDash val="solid"/>
            <a:headEnd type="none"/>
            <a:tailEnd type="triangle"/>
          </a:ln>
        </p:spPr>
      </p:sp>
      <p:sp>
        <p:nvSpPr>
          <p:cNvPr id="14" name="Shape 12"/>
          <p:cNvSpPr/>
          <p:nvPr/>
        </p:nvSpPr>
        <p:spPr>
          <a:xfrm>
            <a:off x="658368" y="4160520"/>
            <a:ext cx="10881360" cy="1051560"/>
          </a:xfrm>
          <a:prstGeom prst="rect">
            <a:avLst/>
          </a:prstGeom>
          <a:solidFill>
            <a:srgbClr val="EDE8DE"/>
          </a:solidFill>
          <a:ln w="12700">
            <a:solidFill>
              <a:srgbClr val="7C848D"/>
            </a:solidFill>
            <a:prstDash val="solid"/>
          </a:ln>
        </p:spPr>
      </p:sp>
      <p:sp>
        <p:nvSpPr>
          <p:cNvPr id="15" name="Text 13"/>
          <p:cNvSpPr/>
          <p:nvPr/>
        </p:nvSpPr>
        <p:spPr>
          <a:xfrm>
            <a:off x="950976" y="4297680"/>
            <a:ext cx="3657600"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Pinned reproducibly</a:t>
            </a:r>
            <a:endParaRPr lang="en-US" sz="1050" dirty="0"/>
          </a:p>
        </p:txBody>
      </p:sp>
      <p:sp>
        <p:nvSpPr>
          <p:cNvPr id="16" name="Text 14"/>
          <p:cNvSpPr/>
          <p:nvPr/>
        </p:nvSpPr>
        <p:spPr>
          <a:xfrm>
            <a:off x="950976" y="4553712"/>
            <a:ext cx="10287000" cy="502920"/>
          </a:xfrm>
          <a:prstGeom prst="rect">
            <a:avLst/>
          </a:prstGeom>
          <a:noFill/>
          <a:ln/>
        </p:spPr>
        <p:txBody>
          <a:bodyPr wrap="square" lIns="0" tIns="0" rIns="0" bIns="0" rtlCol="0" anchor="ctr"/>
          <a:lstStyle/>
          <a:p>
            <a:pPr indent="0" marL="0">
              <a:lnSpc>
                <a:spcPts val="1500"/>
              </a:lnSpc>
              <a:buNone/>
            </a:pPr>
            <a:r>
              <a:rPr lang="en-US" sz="950" dirty="0">
                <a:solidFill>
                  <a:srgbClr val="3B4650"/>
                </a:solidFill>
                <a:latin typeface="Courier New" pitchFamily="34" charset="0"/>
                <a:ea typeface="Courier New" pitchFamily="34" charset="-122"/>
                <a:cs typeface="Courier New" pitchFamily="34" charset="-120"/>
              </a:rPr>
              <a:t>SHA 105fc73115b56f1d6ff357029c7682b19a6d8510 · fetched by third_party/fetch_rtf.sh · recorded in third_party/BUILD_NOTES.md · checkout gitignored</a:t>
            </a:r>
            <a:endParaRPr lang="en-US" sz="950" dirty="0"/>
          </a:p>
        </p:txBody>
      </p:sp>
      <p:sp>
        <p:nvSpPr>
          <p:cNvPr id="17" name="Text 15"/>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8" name="Text 16"/>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10 · FINDING 2</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Toy-scale correctness: PASS</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Built a LogN 16 → 10 reduced copy of RtFHeraParams[3] ("128as"), all moduli reused unchanged, and ran the complete server-side path.</a:t>
            </a:r>
            <a:endParaRPr lang="en-US" sz="1450" dirty="0"/>
          </a:p>
        </p:txBody>
      </p:sp>
      <p:sp>
        <p:nvSpPr>
          <p:cNvPr id="7" name="Shape 5"/>
          <p:cNvSpPr/>
          <p:nvPr/>
        </p:nvSpPr>
        <p:spPr>
          <a:xfrm>
            <a:off x="658368" y="2395728"/>
            <a:ext cx="2487168" cy="749808"/>
          </a:xfrm>
          <a:prstGeom prst="rect">
            <a:avLst/>
          </a:prstGeom>
          <a:solidFill>
            <a:srgbClr val="FFFFFF"/>
          </a:solidFill>
          <a:ln w="12700">
            <a:solidFill>
              <a:srgbClr val="1C2530"/>
            </a:solidFill>
            <a:prstDash val="solid"/>
          </a:ln>
        </p:spPr>
      </p:sp>
      <p:sp>
        <p:nvSpPr>
          <p:cNvPr id="8" name="Text 6"/>
          <p:cNvSpPr/>
          <p:nvPr/>
        </p:nvSpPr>
        <p:spPr>
          <a:xfrm>
            <a:off x="841248"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Homomorphic HERA in BFV</a:t>
            </a:r>
            <a:endParaRPr lang="en-US" sz="1150" dirty="0"/>
          </a:p>
        </p:txBody>
      </p:sp>
      <p:sp>
        <p:nvSpPr>
          <p:cNvPr id="9" name="Shape 7"/>
          <p:cNvSpPr/>
          <p:nvPr/>
        </p:nvSpPr>
        <p:spPr>
          <a:xfrm>
            <a:off x="3182112" y="2770632"/>
            <a:ext cx="219456" cy="0"/>
          </a:xfrm>
          <a:prstGeom prst="line">
            <a:avLst/>
          </a:prstGeom>
          <a:noFill/>
          <a:ln w="15875">
            <a:solidFill>
              <a:srgbClr val="7C848D"/>
            </a:solidFill>
            <a:prstDash val="solid"/>
            <a:headEnd type="none"/>
            <a:tailEnd type="triangle"/>
          </a:ln>
        </p:spPr>
      </p:sp>
      <p:sp>
        <p:nvSpPr>
          <p:cNvPr id="10" name="Shape 8"/>
          <p:cNvSpPr/>
          <p:nvPr/>
        </p:nvSpPr>
        <p:spPr>
          <a:xfrm>
            <a:off x="3438144" y="2395728"/>
            <a:ext cx="2487168" cy="749808"/>
          </a:xfrm>
          <a:prstGeom prst="rect">
            <a:avLst/>
          </a:prstGeom>
          <a:solidFill>
            <a:srgbClr val="FFFFFF"/>
          </a:solidFill>
          <a:ln w="12700">
            <a:solidFill>
              <a:srgbClr val="1C2530"/>
            </a:solidFill>
            <a:prstDash val="solid"/>
          </a:ln>
        </p:spPr>
      </p:sp>
      <p:sp>
        <p:nvSpPr>
          <p:cNvPr id="11" name="Text 9"/>
          <p:cNvSpPr/>
          <p:nvPr/>
        </p:nvSpPr>
        <p:spPr>
          <a:xfrm>
            <a:off x="3621024"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HalfBoot</a:t>
            </a:r>
            <a:endParaRPr lang="en-US" sz="1150" dirty="0"/>
          </a:p>
        </p:txBody>
      </p:sp>
      <p:sp>
        <p:nvSpPr>
          <p:cNvPr id="12" name="Shape 10"/>
          <p:cNvSpPr/>
          <p:nvPr/>
        </p:nvSpPr>
        <p:spPr>
          <a:xfrm>
            <a:off x="5961888" y="2770632"/>
            <a:ext cx="219456" cy="0"/>
          </a:xfrm>
          <a:prstGeom prst="line">
            <a:avLst/>
          </a:prstGeom>
          <a:noFill/>
          <a:ln w="15875">
            <a:solidFill>
              <a:srgbClr val="7C848D"/>
            </a:solidFill>
            <a:prstDash val="solid"/>
            <a:headEnd type="none"/>
            <a:tailEnd type="triangle"/>
          </a:ln>
        </p:spPr>
      </p:sp>
      <p:sp>
        <p:nvSpPr>
          <p:cNvPr id="13" name="Shape 11"/>
          <p:cNvSpPr/>
          <p:nvPr/>
        </p:nvSpPr>
        <p:spPr>
          <a:xfrm>
            <a:off x="6217920" y="2395728"/>
            <a:ext cx="2487168" cy="749808"/>
          </a:xfrm>
          <a:prstGeom prst="rect">
            <a:avLst/>
          </a:prstGeom>
          <a:solidFill>
            <a:srgbClr val="FFFFFF"/>
          </a:solidFill>
          <a:ln w="12700">
            <a:solidFill>
              <a:srgbClr val="1C2530"/>
            </a:solidFill>
            <a:prstDash val="solid"/>
          </a:ln>
        </p:spPr>
      </p:sp>
      <p:sp>
        <p:nvSpPr>
          <p:cNvPr id="14" name="Text 12"/>
          <p:cNvSpPr/>
          <p:nvPr/>
        </p:nvSpPr>
        <p:spPr>
          <a:xfrm>
            <a:off x="6400800"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FV → CKKS repack</a:t>
            </a:r>
            <a:endParaRPr lang="en-US" sz="1150" dirty="0"/>
          </a:p>
        </p:txBody>
      </p:sp>
      <p:sp>
        <p:nvSpPr>
          <p:cNvPr id="15" name="Shape 13"/>
          <p:cNvSpPr/>
          <p:nvPr/>
        </p:nvSpPr>
        <p:spPr>
          <a:xfrm>
            <a:off x="8741664" y="2770632"/>
            <a:ext cx="219456" cy="0"/>
          </a:xfrm>
          <a:prstGeom prst="line">
            <a:avLst/>
          </a:prstGeom>
          <a:noFill/>
          <a:ln w="15875">
            <a:solidFill>
              <a:srgbClr val="7C848D"/>
            </a:solidFill>
            <a:prstDash val="solid"/>
            <a:headEnd type="none"/>
            <a:tailEnd type="triangle"/>
          </a:ln>
        </p:spPr>
      </p:sp>
      <p:sp>
        <p:nvSpPr>
          <p:cNvPr id="16" name="Shape 14"/>
          <p:cNvSpPr/>
          <p:nvPr/>
        </p:nvSpPr>
        <p:spPr>
          <a:xfrm>
            <a:off x="8997696" y="2395728"/>
            <a:ext cx="2487168" cy="749808"/>
          </a:xfrm>
          <a:prstGeom prst="rect">
            <a:avLst/>
          </a:prstGeom>
          <a:solidFill>
            <a:srgbClr val="FFFFFF"/>
          </a:solidFill>
          <a:ln w="12700">
            <a:solidFill>
              <a:srgbClr val="1C2530"/>
            </a:solidFill>
            <a:prstDash val="solid"/>
          </a:ln>
        </p:spPr>
      </p:sp>
      <p:sp>
        <p:nvSpPr>
          <p:cNvPr id="17" name="Text 15"/>
          <p:cNvSpPr/>
          <p:nvPr/>
        </p:nvSpPr>
        <p:spPr>
          <a:xfrm>
            <a:off x="9180576"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CKKS circuit evaluation (2x+1)</a:t>
            </a:r>
            <a:endParaRPr lang="en-US" sz="1150" dirty="0"/>
          </a:p>
        </p:txBody>
      </p:sp>
      <p:sp>
        <p:nvSpPr>
          <p:cNvPr id="18" name="Shape 16"/>
          <p:cNvSpPr/>
          <p:nvPr/>
        </p:nvSpPr>
        <p:spPr>
          <a:xfrm>
            <a:off x="658368" y="3520440"/>
            <a:ext cx="2514600" cy="1143000"/>
          </a:xfrm>
          <a:prstGeom prst="rect">
            <a:avLst/>
          </a:prstGeom>
          <a:solidFill>
            <a:srgbClr val="E4D8BF"/>
          </a:solidFill>
          <a:ln w="19050">
            <a:solidFill>
              <a:srgbClr val="9A6A28"/>
            </a:solidFill>
            <a:prstDash val="solid"/>
          </a:ln>
        </p:spPr>
      </p:sp>
      <p:sp>
        <p:nvSpPr>
          <p:cNvPr id="19" name="Text 17"/>
          <p:cNvSpPr/>
          <p:nvPr/>
        </p:nvSpPr>
        <p:spPr>
          <a:xfrm>
            <a:off x="859536" y="3712464"/>
            <a:ext cx="2103120" cy="438912"/>
          </a:xfrm>
          <a:prstGeom prst="rect">
            <a:avLst/>
          </a:prstGeom>
          <a:noFill/>
          <a:ln/>
        </p:spPr>
        <p:txBody>
          <a:bodyPr wrap="square" lIns="0" tIns="0" rIns="0" bIns="0" rtlCol="0" anchor="ctr"/>
          <a:lstStyle/>
          <a:p>
            <a:pPr indent="0" marL="0">
              <a:buNone/>
            </a:pPr>
            <a:r>
              <a:rPr lang="en-US" sz="2000" dirty="0">
                <a:solidFill>
                  <a:srgbClr val="9A6A28"/>
                </a:solidFill>
                <a:latin typeface="Century Schoolbook" pitchFamily="34" charset="0"/>
                <a:ea typeface="Century Schoolbook" pitchFamily="34" charset="-122"/>
                <a:cs typeface="Century Schoolbook" pitchFamily="34" charset="-120"/>
              </a:rPr>
              <a:t>2.1 × 10⁻⁵</a:t>
            </a:r>
            <a:endParaRPr lang="en-US" sz="2000" dirty="0"/>
          </a:p>
        </p:txBody>
      </p:sp>
      <p:sp>
        <p:nvSpPr>
          <p:cNvPr id="20" name="Text 18"/>
          <p:cNvSpPr/>
          <p:nvPr/>
        </p:nvSpPr>
        <p:spPr>
          <a:xfrm>
            <a:off x="85953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max absolute error</a:t>
            </a:r>
            <a:endParaRPr lang="en-US" sz="1050" dirty="0"/>
          </a:p>
        </p:txBody>
      </p:sp>
      <p:sp>
        <p:nvSpPr>
          <p:cNvPr id="21" name="Shape 19"/>
          <p:cNvSpPr/>
          <p:nvPr/>
        </p:nvSpPr>
        <p:spPr>
          <a:xfrm>
            <a:off x="3447288" y="3520440"/>
            <a:ext cx="2514600" cy="1143000"/>
          </a:xfrm>
          <a:prstGeom prst="rect">
            <a:avLst/>
          </a:prstGeom>
          <a:solidFill>
            <a:srgbClr val="FFFFFF"/>
          </a:solidFill>
          <a:ln w="12700">
            <a:solidFill>
              <a:srgbClr val="D3CCC0"/>
            </a:solidFill>
            <a:prstDash val="solid"/>
          </a:ln>
        </p:spPr>
      </p:sp>
      <p:sp>
        <p:nvSpPr>
          <p:cNvPr id="22" name="Text 20"/>
          <p:cNvSpPr/>
          <p:nvPr/>
        </p:nvSpPr>
        <p:spPr>
          <a:xfrm>
            <a:off x="3648456" y="3712464"/>
            <a:ext cx="2103120" cy="438912"/>
          </a:xfrm>
          <a:prstGeom prst="rect">
            <a:avLst/>
          </a:prstGeom>
          <a:noFill/>
          <a:ln/>
        </p:spPr>
        <p:txBody>
          <a:bodyPr wrap="square" lIns="0" tIns="0" rIns="0" bIns="0" rtlCol="0" anchor="ctr"/>
          <a:lstStyle/>
          <a:p>
            <a:pPr indent="0" marL="0">
              <a:buNone/>
            </a:pPr>
            <a:r>
              <a:rPr lang="en-US" sz="2000" dirty="0">
                <a:solidFill>
                  <a:srgbClr val="1C2530"/>
                </a:solidFill>
                <a:latin typeface="Century Schoolbook" pitchFamily="34" charset="0"/>
                <a:ea typeface="Century Schoolbook" pitchFamily="34" charset="-122"/>
                <a:cs typeface="Century Schoolbook" pitchFamily="34" charset="-120"/>
              </a:rPr>
              <a:t>5 × 10⁻²</a:t>
            </a:r>
            <a:endParaRPr lang="en-US" sz="2000" dirty="0"/>
          </a:p>
        </p:txBody>
      </p:sp>
      <p:sp>
        <p:nvSpPr>
          <p:cNvPr id="23" name="Text 21"/>
          <p:cNvSpPr/>
          <p:nvPr/>
        </p:nvSpPr>
        <p:spPr>
          <a:xfrm>
            <a:off x="364845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tolerance</a:t>
            </a:r>
            <a:endParaRPr lang="en-US" sz="1050" dirty="0"/>
          </a:p>
        </p:txBody>
      </p:sp>
      <p:sp>
        <p:nvSpPr>
          <p:cNvPr id="24" name="Shape 22"/>
          <p:cNvSpPr/>
          <p:nvPr/>
        </p:nvSpPr>
        <p:spPr>
          <a:xfrm>
            <a:off x="6236208" y="3520440"/>
            <a:ext cx="2514600" cy="1143000"/>
          </a:xfrm>
          <a:prstGeom prst="rect">
            <a:avLst/>
          </a:prstGeom>
          <a:solidFill>
            <a:srgbClr val="FFFFFF"/>
          </a:solidFill>
          <a:ln w="12700">
            <a:solidFill>
              <a:srgbClr val="D3CCC0"/>
            </a:solidFill>
            <a:prstDash val="solid"/>
          </a:ln>
        </p:spPr>
      </p:sp>
      <p:sp>
        <p:nvSpPr>
          <p:cNvPr id="25" name="Text 23"/>
          <p:cNvSpPr/>
          <p:nvPr/>
        </p:nvSpPr>
        <p:spPr>
          <a:xfrm>
            <a:off x="6437376" y="3712464"/>
            <a:ext cx="2103120" cy="438912"/>
          </a:xfrm>
          <a:prstGeom prst="rect">
            <a:avLst/>
          </a:prstGeom>
          <a:noFill/>
          <a:ln/>
        </p:spPr>
        <p:txBody>
          <a:bodyPr wrap="square" lIns="0" tIns="0" rIns="0" bIns="0" rtlCol="0" anchor="ctr"/>
          <a:lstStyle/>
          <a:p>
            <a:pPr indent="0" marL="0">
              <a:buNone/>
            </a:pPr>
            <a:r>
              <a:rPr lang="en-US" sz="2000" dirty="0">
                <a:solidFill>
                  <a:srgbClr val="1C2530"/>
                </a:solidFill>
                <a:latin typeface="Century Schoolbook" pitchFamily="34" charset="0"/>
                <a:ea typeface="Century Schoolbook" pitchFamily="34" charset="-122"/>
                <a:cs typeface="Century Schoolbook" pitchFamily="34" charset="-120"/>
              </a:rPr>
              <a:t>~275 MB</a:t>
            </a:r>
            <a:endParaRPr lang="en-US" sz="2000" dirty="0"/>
          </a:p>
        </p:txBody>
      </p:sp>
      <p:sp>
        <p:nvSpPr>
          <p:cNvPr id="26" name="Text 24"/>
          <p:cNvSpPr/>
          <p:nvPr/>
        </p:nvSpPr>
        <p:spPr>
          <a:xfrm>
            <a:off x="643737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peak RSS</a:t>
            </a:r>
            <a:endParaRPr lang="en-US" sz="1050" dirty="0"/>
          </a:p>
        </p:txBody>
      </p:sp>
      <p:sp>
        <p:nvSpPr>
          <p:cNvPr id="27" name="Shape 25"/>
          <p:cNvSpPr/>
          <p:nvPr/>
        </p:nvSpPr>
        <p:spPr>
          <a:xfrm>
            <a:off x="9052560" y="3520440"/>
            <a:ext cx="2468880" cy="1143000"/>
          </a:xfrm>
          <a:prstGeom prst="rect">
            <a:avLst/>
          </a:prstGeom>
          <a:solidFill>
            <a:srgbClr val="1C2530"/>
          </a:solidFill>
          <a:ln w="12700">
            <a:solidFill>
              <a:srgbClr val="1C2530"/>
            </a:solidFill>
            <a:prstDash val="solid"/>
          </a:ln>
        </p:spPr>
      </p:sp>
      <p:sp>
        <p:nvSpPr>
          <p:cNvPr id="28" name="Text 26"/>
          <p:cNvSpPr/>
          <p:nvPr/>
        </p:nvSpPr>
        <p:spPr>
          <a:xfrm>
            <a:off x="9052560" y="3675888"/>
            <a:ext cx="2468880" cy="457200"/>
          </a:xfrm>
          <a:prstGeom prst="rect">
            <a:avLst/>
          </a:prstGeom>
          <a:noFill/>
          <a:ln/>
        </p:spPr>
        <p:txBody>
          <a:bodyPr wrap="square" lIns="0" tIns="0" rIns="0" bIns="0" rtlCol="0" anchor="ctr"/>
          <a:lstStyle/>
          <a:p>
            <a:pPr algn="ctr" indent="0" marL="0">
              <a:buNone/>
            </a:pPr>
            <a:r>
              <a:rPr lang="en-US" sz="2600" dirty="0">
                <a:solidFill>
                  <a:srgbClr val="F6F3EC"/>
                </a:solidFill>
                <a:latin typeface="Century Schoolbook" pitchFamily="34" charset="0"/>
                <a:ea typeface="Century Schoolbook" pitchFamily="34" charset="-122"/>
                <a:cs typeface="Century Schoolbook" pitchFamily="34" charset="-120"/>
              </a:rPr>
              <a:t>PASS</a:t>
            </a:r>
            <a:endParaRPr lang="en-US" sz="2600" dirty="0"/>
          </a:p>
        </p:txBody>
      </p:sp>
      <p:sp>
        <p:nvSpPr>
          <p:cNvPr id="29" name="Text 27"/>
          <p:cNvSpPr/>
          <p:nvPr/>
        </p:nvSpPr>
        <p:spPr>
          <a:xfrm>
            <a:off x="9052560" y="4169664"/>
            <a:ext cx="2468880" cy="274320"/>
          </a:xfrm>
          <a:prstGeom prst="rect">
            <a:avLst/>
          </a:prstGeom>
          <a:noFill/>
          <a:ln/>
        </p:spPr>
        <p:txBody>
          <a:bodyPr wrap="square" lIns="0" tIns="0" rIns="0" bIns="0" rtlCol="0" anchor="ctr"/>
          <a:lstStyle/>
          <a:p>
            <a:pPr algn="ctr" indent="0" marL="0">
              <a:buNone/>
            </a:pPr>
            <a:r>
              <a:rPr lang="en-US" sz="950" dirty="0">
                <a:solidFill>
                  <a:srgbClr val="A9B2BB"/>
                </a:solidFill>
                <a:latin typeface="Calibri" pitchFamily="34" charset="0"/>
                <a:ea typeface="Calibri" pitchFamily="34" charset="-122"/>
                <a:cs typeface="Calibri" pitchFamily="34" charset="-120"/>
              </a:rPr>
              <a:t>full server path, end to end</a:t>
            </a:r>
            <a:endParaRPr lang="en-US" sz="950" dirty="0"/>
          </a:p>
        </p:txBody>
      </p:sp>
      <p:sp>
        <p:nvSpPr>
          <p:cNvPr id="30" name="Text 28"/>
          <p:cNvSpPr/>
          <p:nvPr/>
        </p:nvSpPr>
        <p:spPr>
          <a:xfrm>
            <a:off x="658368" y="4983480"/>
            <a:ext cx="10424160" cy="320040"/>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What remains is a resource-scaling problem, not a correctness problem.</a:t>
            </a:r>
            <a:endParaRPr lang="en-US" sz="1400" dirty="0"/>
          </a:p>
        </p:txBody>
      </p:sp>
      <p:sp>
        <p:nvSpPr>
          <p:cNvPr id="31" name="Text 2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32" name="Text 3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11 · FINDING 3</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60 GB premise, measured</a:t>
            </a:r>
            <a:endParaRPr lang="en-US" sz="2700" dirty="0"/>
          </a:p>
        </p:txBody>
      </p:sp>
      <p:sp>
        <p:nvSpPr>
          <p:cNvPr id="4" name="Text 2"/>
          <p:cNvSpPr/>
          <p:nvPr/>
        </p:nvSpPr>
        <p:spPr>
          <a:xfrm>
            <a:off x="658368" y="1389888"/>
            <a:ext cx="10241280" cy="256032"/>
          </a:xfrm>
          <a:prstGeom prst="rect">
            <a:avLst/>
          </a:prstGeom>
          <a:noFill/>
          <a:ln/>
        </p:spPr>
        <p:txBody>
          <a:bodyPr wrap="square" lIns="0" tIns="0" rIns="0" bIns="0" rtlCol="0" anchor="ctr"/>
          <a:lstStyle/>
          <a:p>
            <a:pPr indent="0" marL="0">
              <a:buNone/>
            </a:pPr>
            <a:r>
              <a:rPr lang="en-US" sz="1150" dirty="0">
                <a:solidFill>
                  <a:srgbClr val="3B4650"/>
                </a:solidFill>
                <a:latin typeface="Calibri" pitchFamily="34" charset="0"/>
                <a:ea typeface="Calibri" pitchFamily="34" charset="-122"/>
                <a:cs typeface="Calibri" pitchFamily="34" charset="-120"/>
              </a:rPr>
              <a:t>Direct instrumentation of hera.Crypt at full scale, LogN 16 "128as" — artifacts/hera_crypt_rss_full_run.jsonl</a:t>
            </a:r>
            <a:endParaRPr lang="en-US" sz="1150" dirty="0"/>
          </a:p>
        </p:txBody>
      </p:sp>
      <p:sp>
        <p:nvSpPr>
          <p:cNvPr id="5" name="Text 3"/>
          <p:cNvSpPr/>
          <p:nvPr/>
        </p:nvSpPr>
        <p:spPr>
          <a:xfrm>
            <a:off x="7248168" y="1947672"/>
            <a:ext cx="4017240" cy="219456"/>
          </a:xfrm>
          <a:prstGeom prst="rect">
            <a:avLst/>
          </a:prstGeom>
          <a:noFill/>
          <a:ln/>
        </p:spPr>
        <p:txBody>
          <a:bodyPr wrap="square" lIns="0" tIns="0" rIns="0" bIns="0" rtlCol="0" anchor="ctr"/>
          <a:lstStyle/>
          <a:p>
            <a:pPr algn="r" indent="0" marL="0">
              <a:buNone/>
            </a:pPr>
            <a:r>
              <a:rPr lang="en-US" sz="950" b="1" dirty="0">
                <a:solidFill>
                  <a:srgbClr val="9A6A28"/>
                </a:solidFill>
                <a:latin typeface="Calibri" pitchFamily="34" charset="0"/>
                <a:ea typeface="Calibri" pitchFamily="34" charset="-122"/>
                <a:cs typeface="Calibri" pitchFamily="34" charset="-120"/>
              </a:rPr>
              <a:t>hera.Crypt: 278 MB — 3% of memory, 70% of runtime</a:t>
            </a:r>
            <a:endParaRPr lang="en-US" sz="950" dirty="0"/>
          </a:p>
        </p:txBody>
      </p:sp>
      <p:sp>
        <p:nvSpPr>
          <p:cNvPr id="6" name="Shape 4"/>
          <p:cNvSpPr/>
          <p:nvPr/>
        </p:nvSpPr>
        <p:spPr>
          <a:xfrm>
            <a:off x="7248168" y="2194560"/>
            <a:ext cx="0" cy="1399032"/>
          </a:xfrm>
          <a:prstGeom prst="line">
            <a:avLst/>
          </a:prstGeom>
          <a:noFill/>
          <a:ln w="19050">
            <a:solidFill>
              <a:srgbClr val="9A6A28"/>
            </a:solidFill>
            <a:prstDash val="dash"/>
          </a:ln>
        </p:spPr>
      </p:sp>
      <p:sp>
        <p:nvSpPr>
          <p:cNvPr id="7" name="Text 5"/>
          <p:cNvSpPr/>
          <p:nvPr/>
        </p:nvSpPr>
        <p:spPr>
          <a:xfrm>
            <a:off x="658368" y="2404872"/>
            <a:ext cx="5486400" cy="219456"/>
          </a:xfrm>
          <a:prstGeom prst="rect">
            <a:avLst/>
          </a:prstGeom>
          <a:noFill/>
          <a:ln/>
        </p:spPr>
        <p:txBody>
          <a:bodyPr wrap="square" lIns="0" tIns="0" rIns="0" bIns="0" rtlCol="0" anchor="ctr"/>
          <a:lstStyle/>
          <a:p>
            <a:pPr indent="0" marL="0">
              <a:buNone/>
            </a:pPr>
            <a:r>
              <a:rPr lang="en-US" sz="950" i="1" dirty="0">
                <a:solidFill>
                  <a:srgbClr val="7C848D"/>
                </a:solidFill>
                <a:latin typeface="Calibri" pitchFamily="34" charset="0"/>
                <a:ea typeface="Calibri" pitchFamily="34" charset="-122"/>
                <a:cs typeface="Calibri" pitchFamily="34" charset="-120"/>
              </a:rPr>
              <a:t>15 GB dev host — the whole budget</a:t>
            </a:r>
            <a:endParaRPr lang="en-US" sz="950" dirty="0"/>
          </a:p>
        </p:txBody>
      </p:sp>
      <p:sp>
        <p:nvSpPr>
          <p:cNvPr id="8" name="Shape 6"/>
          <p:cNvSpPr/>
          <p:nvPr/>
        </p:nvSpPr>
        <p:spPr>
          <a:xfrm>
            <a:off x="658368" y="2697480"/>
            <a:ext cx="10607040" cy="896112"/>
          </a:xfrm>
          <a:prstGeom prst="rect">
            <a:avLst/>
          </a:prstGeom>
          <a:solidFill>
            <a:srgbClr val="EBE6DC"/>
          </a:solidFill>
          <a:ln w="12700">
            <a:solidFill>
              <a:srgbClr val="7C848D"/>
            </a:solidFill>
            <a:prstDash val="dash"/>
          </a:ln>
        </p:spPr>
      </p:sp>
      <p:sp>
        <p:nvSpPr>
          <p:cNvPr id="9" name="Shape 7"/>
          <p:cNvSpPr/>
          <p:nvPr/>
        </p:nvSpPr>
        <p:spPr>
          <a:xfrm>
            <a:off x="658368" y="2697480"/>
            <a:ext cx="591166" cy="896112"/>
          </a:xfrm>
          <a:prstGeom prst="rect">
            <a:avLst/>
          </a:prstGeom>
          <a:solidFill>
            <a:srgbClr val="E4D8BF"/>
          </a:solidFill>
          <a:ln w="6350">
            <a:solidFill>
              <a:srgbClr val="F6F3EC"/>
            </a:solidFill>
            <a:prstDash val="solid"/>
          </a:ln>
        </p:spPr>
      </p:sp>
      <p:sp>
        <p:nvSpPr>
          <p:cNvPr id="10" name="Shape 8"/>
          <p:cNvSpPr/>
          <p:nvPr/>
        </p:nvSpPr>
        <p:spPr>
          <a:xfrm>
            <a:off x="1249534" y="2697480"/>
            <a:ext cx="2158886" cy="896112"/>
          </a:xfrm>
          <a:prstGeom prst="rect">
            <a:avLst/>
          </a:prstGeom>
          <a:solidFill>
            <a:srgbClr val="D9CDB2"/>
          </a:solidFill>
          <a:ln w="6350">
            <a:solidFill>
              <a:srgbClr val="F6F3EC"/>
            </a:solidFill>
            <a:prstDash val="solid"/>
          </a:ln>
        </p:spPr>
      </p:sp>
      <p:sp>
        <p:nvSpPr>
          <p:cNvPr id="11" name="Text 9"/>
          <p:cNvSpPr/>
          <p:nvPr/>
        </p:nvSpPr>
        <p:spPr>
          <a:xfrm>
            <a:off x="1249534" y="2825496"/>
            <a:ext cx="2158886" cy="347472"/>
          </a:xfrm>
          <a:prstGeom prst="rect">
            <a:avLst/>
          </a:prstGeom>
          <a:noFill/>
          <a:ln/>
        </p:spPr>
        <p:txBody>
          <a:bodyPr wrap="square" lIns="0" tIns="0" rIns="0" bIns="0" rtlCol="0" anchor="ctr"/>
          <a:lstStyle/>
          <a:p>
            <a:pPr algn="ctr" indent="0" marL="0">
              <a:buNone/>
            </a:pPr>
            <a:r>
              <a:rPr lang="en-US" sz="1300" b="1" dirty="0">
                <a:solidFill>
                  <a:srgbClr val="1C2530"/>
                </a:solidFill>
                <a:latin typeface="Century Schoolbook" pitchFamily="34" charset="0"/>
                <a:ea typeface="Century Schoolbook" pitchFamily="34" charset="-122"/>
                <a:cs typeface="Century Schoolbook" pitchFamily="34" charset="-120"/>
              </a:rPr>
              <a:t>3,053 MB</a:t>
            </a:r>
            <a:endParaRPr lang="en-US" sz="1300" dirty="0"/>
          </a:p>
        </p:txBody>
      </p:sp>
      <p:sp>
        <p:nvSpPr>
          <p:cNvPr id="12" name="Text 10"/>
          <p:cNvSpPr/>
          <p:nvPr/>
        </p:nvSpPr>
        <p:spPr>
          <a:xfrm>
            <a:off x="1249534" y="3172968"/>
            <a:ext cx="2158886" cy="256032"/>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StC precompute</a:t>
            </a:r>
            <a:endParaRPr lang="en-US" sz="950" dirty="0"/>
          </a:p>
        </p:txBody>
      </p:sp>
      <p:sp>
        <p:nvSpPr>
          <p:cNvPr id="13" name="Shape 11"/>
          <p:cNvSpPr/>
          <p:nvPr/>
        </p:nvSpPr>
        <p:spPr>
          <a:xfrm>
            <a:off x="3408420" y="2697480"/>
            <a:ext cx="2583875" cy="896112"/>
          </a:xfrm>
          <a:prstGeom prst="rect">
            <a:avLst/>
          </a:prstGeom>
          <a:solidFill>
            <a:srgbClr val="E4D8BF"/>
          </a:solidFill>
          <a:ln w="6350">
            <a:solidFill>
              <a:srgbClr val="F6F3EC"/>
            </a:solidFill>
            <a:prstDash val="solid"/>
          </a:ln>
        </p:spPr>
      </p:sp>
      <p:sp>
        <p:nvSpPr>
          <p:cNvPr id="14" name="Text 12"/>
          <p:cNvSpPr/>
          <p:nvPr/>
        </p:nvSpPr>
        <p:spPr>
          <a:xfrm>
            <a:off x="3408420" y="2825496"/>
            <a:ext cx="2583875" cy="347472"/>
          </a:xfrm>
          <a:prstGeom prst="rect">
            <a:avLst/>
          </a:prstGeom>
          <a:noFill/>
          <a:ln/>
        </p:spPr>
        <p:txBody>
          <a:bodyPr wrap="square" lIns="0" tIns="0" rIns="0" bIns="0" rtlCol="0" anchor="ctr"/>
          <a:lstStyle/>
          <a:p>
            <a:pPr algn="ctr" indent="0" marL="0">
              <a:buNone/>
            </a:pPr>
            <a:r>
              <a:rPr lang="en-US" sz="1300" b="1" dirty="0">
                <a:solidFill>
                  <a:srgbClr val="1C2530"/>
                </a:solidFill>
                <a:latin typeface="Century Schoolbook" pitchFamily="34" charset="0"/>
                <a:ea typeface="Century Schoolbook" pitchFamily="34" charset="-122"/>
                <a:cs typeface="Century Schoolbook" pitchFamily="34" charset="-120"/>
              </a:rPr>
              <a:t>3,654 MB</a:t>
            </a:r>
            <a:endParaRPr lang="en-US" sz="1300" dirty="0"/>
          </a:p>
        </p:txBody>
      </p:sp>
      <p:sp>
        <p:nvSpPr>
          <p:cNvPr id="15" name="Text 13"/>
          <p:cNvSpPr/>
          <p:nvPr/>
        </p:nvSpPr>
        <p:spPr>
          <a:xfrm>
            <a:off x="3408420" y="3172968"/>
            <a:ext cx="2583875" cy="256032"/>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key material</a:t>
            </a:r>
            <a:endParaRPr lang="en-US" sz="950" dirty="0"/>
          </a:p>
        </p:txBody>
      </p:sp>
      <p:sp>
        <p:nvSpPr>
          <p:cNvPr id="16" name="Shape 14"/>
          <p:cNvSpPr/>
          <p:nvPr/>
        </p:nvSpPr>
        <p:spPr>
          <a:xfrm>
            <a:off x="5992295" y="2697480"/>
            <a:ext cx="267297" cy="896112"/>
          </a:xfrm>
          <a:prstGeom prst="rect">
            <a:avLst/>
          </a:prstGeom>
          <a:solidFill>
            <a:srgbClr val="D9CDB2"/>
          </a:solidFill>
          <a:ln w="6350">
            <a:solidFill>
              <a:srgbClr val="F6F3EC"/>
            </a:solidFill>
            <a:prstDash val="solid"/>
          </a:ln>
        </p:spPr>
      </p:sp>
      <p:sp>
        <p:nvSpPr>
          <p:cNvPr id="17" name="Shape 15"/>
          <p:cNvSpPr/>
          <p:nvPr/>
        </p:nvSpPr>
        <p:spPr>
          <a:xfrm>
            <a:off x="6259592" y="2697480"/>
            <a:ext cx="890284" cy="896112"/>
          </a:xfrm>
          <a:prstGeom prst="rect">
            <a:avLst/>
          </a:prstGeom>
          <a:solidFill>
            <a:srgbClr val="E4D8BF"/>
          </a:solidFill>
          <a:ln w="6350">
            <a:solidFill>
              <a:srgbClr val="F6F3EC"/>
            </a:solidFill>
            <a:prstDash val="solid"/>
          </a:ln>
        </p:spPr>
      </p:sp>
      <p:sp>
        <p:nvSpPr>
          <p:cNvPr id="18" name="Text 16"/>
          <p:cNvSpPr/>
          <p:nvPr/>
        </p:nvSpPr>
        <p:spPr>
          <a:xfrm>
            <a:off x="6259592" y="2871000"/>
            <a:ext cx="890284" cy="310896"/>
          </a:xfrm>
          <a:prstGeom prst="rect">
            <a:avLst/>
          </a:prstGeom>
          <a:noFill/>
          <a:ln/>
        </p:spPr>
        <p:txBody>
          <a:bodyPr wrap="square" lIns="0" tIns="0" rIns="0" bIns="0" rtlCol="0" anchor="ctr"/>
          <a:lstStyle/>
          <a:p>
            <a:pPr algn="ctr" indent="0" marL="0">
              <a:buNone/>
            </a:pPr>
            <a:r>
              <a:rPr lang="en-US" sz="900" b="1" dirty="0">
                <a:solidFill>
                  <a:srgbClr val="1C2530"/>
                </a:solidFill>
                <a:latin typeface="Calibri" pitchFamily="34" charset="0"/>
                <a:ea typeface="Calibri" pitchFamily="34" charset="-122"/>
                <a:cs typeface="Calibri" pitchFamily="34" charset="-120"/>
              </a:rPr>
              <a:t>1,259 MB</a:t>
            </a:r>
            <a:endParaRPr lang="en-US" sz="900" dirty="0"/>
          </a:p>
        </p:txBody>
      </p:sp>
      <p:sp>
        <p:nvSpPr>
          <p:cNvPr id="19" name="Text 17"/>
          <p:cNvSpPr/>
          <p:nvPr/>
        </p:nvSpPr>
        <p:spPr>
          <a:xfrm>
            <a:off x="6259592" y="3181896"/>
            <a:ext cx="890284" cy="237744"/>
          </a:xfrm>
          <a:prstGeom prst="rect">
            <a:avLst/>
          </a:prstGeom>
          <a:noFill/>
          <a:ln/>
        </p:spPr>
        <p:txBody>
          <a:bodyPr wrap="square" lIns="0" tIns="0" rIns="0" bIns="0" rtlCol="0" anchor="ctr"/>
          <a:lstStyle/>
          <a:p>
            <a:pPr algn="ctr" indent="0" marL="0">
              <a:buNone/>
            </a:pPr>
            <a:r>
              <a:rPr lang="en-US" sz="750" dirty="0">
                <a:solidFill>
                  <a:srgbClr val="3B4650"/>
                </a:solidFill>
                <a:latin typeface="Calibri" pitchFamily="34" charset="0"/>
                <a:ea typeface="Calibri" pitchFamily="34" charset="-122"/>
                <a:cs typeface="Calibri" pitchFamily="34" charset="-120"/>
              </a:rPr>
              <a:t>encKey</a:t>
            </a:r>
            <a:endParaRPr lang="en-US" sz="750" dirty="0"/>
          </a:p>
        </p:txBody>
      </p:sp>
      <p:sp>
        <p:nvSpPr>
          <p:cNvPr id="20" name="Shape 18"/>
          <p:cNvSpPr/>
          <p:nvPr/>
        </p:nvSpPr>
        <p:spPr>
          <a:xfrm>
            <a:off x="7149876" y="2697480"/>
            <a:ext cx="196584" cy="896112"/>
          </a:xfrm>
          <a:prstGeom prst="rect">
            <a:avLst/>
          </a:prstGeom>
          <a:solidFill>
            <a:srgbClr val="FFFFFF"/>
          </a:solidFill>
          <a:ln w="19050">
            <a:solidFill>
              <a:srgbClr val="9A6A28"/>
            </a:solidFill>
            <a:prstDash val="solid"/>
          </a:ln>
        </p:spPr>
      </p:sp>
      <p:sp>
        <p:nvSpPr>
          <p:cNvPr id="21" name="Shape 19"/>
          <p:cNvSpPr/>
          <p:nvPr/>
        </p:nvSpPr>
        <p:spPr>
          <a:xfrm>
            <a:off x="658368" y="3685032"/>
            <a:ext cx="10607040" cy="0"/>
          </a:xfrm>
          <a:prstGeom prst="line">
            <a:avLst/>
          </a:prstGeom>
          <a:noFill/>
          <a:ln w="12700">
            <a:solidFill>
              <a:srgbClr val="D3CCC0"/>
            </a:solidFill>
            <a:prstDash val="solid"/>
          </a:ln>
        </p:spPr>
      </p:sp>
      <p:sp>
        <p:nvSpPr>
          <p:cNvPr id="22" name="Shape 20"/>
          <p:cNvSpPr/>
          <p:nvPr/>
        </p:nvSpPr>
        <p:spPr>
          <a:xfrm>
            <a:off x="658368" y="3685032"/>
            <a:ext cx="0" cy="73152"/>
          </a:xfrm>
          <a:prstGeom prst="line">
            <a:avLst/>
          </a:prstGeom>
          <a:noFill/>
          <a:ln w="12700">
            <a:solidFill>
              <a:srgbClr val="D3CCC0"/>
            </a:solidFill>
            <a:prstDash val="solid"/>
          </a:ln>
        </p:spPr>
      </p:sp>
      <p:sp>
        <p:nvSpPr>
          <p:cNvPr id="23" name="Text 21"/>
          <p:cNvSpPr/>
          <p:nvPr/>
        </p:nvSpPr>
        <p:spPr>
          <a:xfrm>
            <a:off x="658368" y="3776472"/>
            <a:ext cx="731520" cy="201168"/>
          </a:xfrm>
          <a:prstGeom prst="rect">
            <a:avLst/>
          </a:prstGeom>
          <a:noFill/>
          <a:ln/>
        </p:spPr>
        <p:txBody>
          <a:bodyPr wrap="square" lIns="0" tIns="0" rIns="0" bIns="0" rtlCol="0" anchor="ctr"/>
          <a:lstStyle/>
          <a:p>
            <a:pPr algn="l" indent="0" marL="0">
              <a:buNone/>
            </a:pPr>
            <a:r>
              <a:rPr lang="en-US" sz="850" dirty="0">
                <a:solidFill>
                  <a:srgbClr val="7C848D"/>
                </a:solidFill>
                <a:latin typeface="Calibri" pitchFamily="34" charset="0"/>
                <a:ea typeface="Calibri" pitchFamily="34" charset="-122"/>
                <a:cs typeface="Calibri" pitchFamily="34" charset="-120"/>
              </a:rPr>
              <a:t>0 GB</a:t>
            </a:r>
            <a:endParaRPr lang="en-US" sz="850" dirty="0"/>
          </a:p>
        </p:txBody>
      </p:sp>
      <p:sp>
        <p:nvSpPr>
          <p:cNvPr id="24" name="Shape 22"/>
          <p:cNvSpPr/>
          <p:nvPr/>
        </p:nvSpPr>
        <p:spPr>
          <a:xfrm>
            <a:off x="4194048" y="3685032"/>
            <a:ext cx="0" cy="73152"/>
          </a:xfrm>
          <a:prstGeom prst="line">
            <a:avLst/>
          </a:prstGeom>
          <a:noFill/>
          <a:ln w="12700">
            <a:solidFill>
              <a:srgbClr val="D3CCC0"/>
            </a:solidFill>
            <a:prstDash val="solid"/>
          </a:ln>
        </p:spPr>
      </p:sp>
      <p:sp>
        <p:nvSpPr>
          <p:cNvPr id="25" name="Text 23"/>
          <p:cNvSpPr/>
          <p:nvPr/>
        </p:nvSpPr>
        <p:spPr>
          <a:xfrm>
            <a:off x="382828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5 GB</a:t>
            </a:r>
            <a:endParaRPr lang="en-US" sz="850" dirty="0"/>
          </a:p>
        </p:txBody>
      </p:sp>
      <p:sp>
        <p:nvSpPr>
          <p:cNvPr id="26" name="Shape 24"/>
          <p:cNvSpPr/>
          <p:nvPr/>
        </p:nvSpPr>
        <p:spPr>
          <a:xfrm>
            <a:off x="7729728" y="3685032"/>
            <a:ext cx="0" cy="73152"/>
          </a:xfrm>
          <a:prstGeom prst="line">
            <a:avLst/>
          </a:prstGeom>
          <a:noFill/>
          <a:ln w="12700">
            <a:solidFill>
              <a:srgbClr val="D3CCC0"/>
            </a:solidFill>
            <a:prstDash val="solid"/>
          </a:ln>
        </p:spPr>
      </p:sp>
      <p:sp>
        <p:nvSpPr>
          <p:cNvPr id="27" name="Text 25"/>
          <p:cNvSpPr/>
          <p:nvPr/>
        </p:nvSpPr>
        <p:spPr>
          <a:xfrm>
            <a:off x="736396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10 GB</a:t>
            </a:r>
            <a:endParaRPr lang="en-US" sz="850" dirty="0"/>
          </a:p>
        </p:txBody>
      </p:sp>
      <p:sp>
        <p:nvSpPr>
          <p:cNvPr id="28" name="Shape 26"/>
          <p:cNvSpPr/>
          <p:nvPr/>
        </p:nvSpPr>
        <p:spPr>
          <a:xfrm>
            <a:off x="11265408" y="3685032"/>
            <a:ext cx="0" cy="73152"/>
          </a:xfrm>
          <a:prstGeom prst="line">
            <a:avLst/>
          </a:prstGeom>
          <a:noFill/>
          <a:ln w="12700">
            <a:solidFill>
              <a:srgbClr val="D3CCC0"/>
            </a:solidFill>
            <a:prstDash val="solid"/>
          </a:ln>
        </p:spPr>
      </p:sp>
      <p:sp>
        <p:nvSpPr>
          <p:cNvPr id="29" name="Text 27"/>
          <p:cNvSpPr/>
          <p:nvPr/>
        </p:nvSpPr>
        <p:spPr>
          <a:xfrm>
            <a:off x="1089964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15 GB</a:t>
            </a:r>
            <a:endParaRPr lang="en-US" sz="850" dirty="0"/>
          </a:p>
        </p:txBody>
      </p:sp>
      <p:sp>
        <p:nvSpPr>
          <p:cNvPr id="30" name="Shape 28"/>
          <p:cNvSpPr/>
          <p:nvPr/>
        </p:nvSpPr>
        <p:spPr>
          <a:xfrm>
            <a:off x="658368" y="4224528"/>
            <a:ext cx="5120640" cy="1188720"/>
          </a:xfrm>
          <a:prstGeom prst="rect">
            <a:avLst/>
          </a:prstGeom>
          <a:solidFill>
            <a:srgbClr val="FFFFFF"/>
          </a:solidFill>
          <a:ln w="12700">
            <a:solidFill>
              <a:srgbClr val="D3CCC0"/>
            </a:solidFill>
            <a:prstDash val="solid"/>
          </a:ln>
        </p:spPr>
      </p:sp>
      <p:sp>
        <p:nvSpPr>
          <p:cNvPr id="31" name="Text 29"/>
          <p:cNvSpPr/>
          <p:nvPr/>
        </p:nvSpPr>
        <p:spPr>
          <a:xfrm>
            <a:off x="914400" y="4352544"/>
            <a:ext cx="4572000"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Prior anchor corrected</a:t>
            </a:r>
            <a:endParaRPr lang="en-US" sz="1100" dirty="0"/>
          </a:p>
        </p:txBody>
      </p:sp>
      <p:sp>
        <p:nvSpPr>
          <p:cNvPr id="32" name="Text 30"/>
          <p:cNvSpPr/>
          <p:nvPr/>
        </p:nvSpPr>
        <p:spPr>
          <a:xfrm>
            <a:off x="914400" y="4608576"/>
            <a:ext cx="4617720" cy="73152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60 GB was never measured. Direct instrumentation at full scale (LogN 16, 128as) measured a peak of 9.54 GB — comfortable headroom on the existing 15 GB host, no cloud spend needed.</a:t>
            </a:r>
            <a:endParaRPr lang="en-US" sz="1050" dirty="0"/>
          </a:p>
        </p:txBody>
      </p:sp>
      <p:sp>
        <p:nvSpPr>
          <p:cNvPr id="33" name="Shape 31"/>
          <p:cNvSpPr/>
          <p:nvPr/>
        </p:nvSpPr>
        <p:spPr>
          <a:xfrm>
            <a:off x="6400800" y="4224528"/>
            <a:ext cx="5120640" cy="1188720"/>
          </a:xfrm>
          <a:prstGeom prst="rect">
            <a:avLst/>
          </a:prstGeom>
          <a:solidFill>
            <a:srgbClr val="FFFFFF"/>
          </a:solidFill>
          <a:ln w="12700">
            <a:solidFill>
              <a:srgbClr val="D3CCC0"/>
            </a:solidFill>
            <a:prstDash val="solid"/>
          </a:ln>
        </p:spPr>
      </p:sp>
      <p:sp>
        <p:nvSpPr>
          <p:cNvPr id="34" name="Text 32"/>
          <p:cNvSpPr/>
          <p:nvPr/>
        </p:nvSpPr>
        <p:spPr>
          <a:xfrm>
            <a:off x="6656832" y="4352544"/>
            <a:ext cx="4572000"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Where it actually is</a:t>
            </a:r>
            <a:endParaRPr lang="en-US" sz="1100" dirty="0"/>
          </a:p>
        </p:txBody>
      </p:sp>
      <p:sp>
        <p:nvSpPr>
          <p:cNvPr id="35" name="Text 33"/>
          <p:cNvSpPr/>
          <p:nvPr/>
        </p:nvSpPr>
        <p:spPr>
          <a:xfrm>
            <a:off x="6656832" y="4608576"/>
            <a:ext cx="4617720" cy="73152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Setup dominates: key material (3,654 MB) + StC precompute (3,053 MB) are 70% of peak by themselves. hera.Crypt — the presumed culprit — is 278 MB, 3% of peak. The other two thin slivers in the bar are encoder/encryptor (836 MB) and the evaluator (378 MB).</a:t>
            </a:r>
            <a:endParaRPr lang="en-US" sz="1050" dirty="0"/>
          </a:p>
        </p:txBody>
      </p:sp>
      <p:sp>
        <p:nvSpPr>
          <p:cNvPr id="36" name="Shape 34"/>
          <p:cNvSpPr/>
          <p:nvPr/>
        </p:nvSpPr>
        <p:spPr>
          <a:xfrm>
            <a:off x="10234879" y="402336"/>
            <a:ext cx="1298448" cy="219456"/>
          </a:xfrm>
          <a:prstGeom prst="rect">
            <a:avLst/>
          </a:prstGeom>
          <a:solidFill>
            <a:srgbClr val="1C2530"/>
          </a:solidFill>
          <a:ln w="9525">
            <a:solidFill>
              <a:srgbClr val="1C2530"/>
            </a:solidFill>
            <a:prstDash val="solid"/>
          </a:ln>
        </p:spPr>
      </p:sp>
      <p:sp>
        <p:nvSpPr>
          <p:cNvPr id="37" name="Text 35"/>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38" name="Text 36"/>
          <p:cNvSpPr/>
          <p:nvPr/>
        </p:nvSpPr>
        <p:spPr>
          <a:xfrm>
            <a:off x="658368" y="5669280"/>
            <a:ext cx="10881360" cy="32004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9.54 GB peak measured, 5.46 GB of headroom on the 15 GB host — hera.Crypt is not where the memory is.</a:t>
            </a:r>
            <a:endParaRPr lang="en-US" sz="1300" dirty="0"/>
          </a:p>
        </p:txBody>
      </p:sp>
      <p:sp>
        <p:nvSpPr>
          <p:cNvPr id="39" name="Text 37"/>
          <p:cNvSpPr/>
          <p:nvPr/>
        </p:nvSpPr>
        <p:spPr>
          <a:xfrm>
            <a:off x="658368" y="6015000"/>
            <a:ext cx="10881360" cy="182880"/>
          </a:xfrm>
          <a:prstGeom prst="rect">
            <a:avLst/>
          </a:prstGeom>
          <a:noFill/>
          <a:ln/>
        </p:spPr>
        <p:txBody>
          <a:bodyPr wrap="square" lIns="0" tIns="0" rIns="0" bIns="0" rtlCol="0" anchor="ctr"/>
          <a:lstStyle/>
          <a:p>
            <a:pPr indent="0" marL="0">
              <a:buNone/>
            </a:pPr>
            <a:r>
              <a:rPr lang="en-US" sz="750" i="1" dirty="0">
                <a:solidFill>
                  <a:srgbClr val="7C848D"/>
                </a:solidFill>
                <a:latin typeface="Calibri" pitchFamily="34" charset="0"/>
                <a:ea typeface="Calibri" pitchFamily="34" charset="-122"/>
                <a:cs typeface="Calibri" pitchFamily="34" charset="-120"/>
              </a:rPr>
              <a:t>Measured under GOMEMLIMIT=11GiB, GOGC=50 — a constrained peak, not the unconstrained maximum.</a:t>
            </a:r>
            <a:endParaRPr lang="en-US" sz="750" dirty="0"/>
          </a:p>
        </p:txBody>
      </p:sp>
      <p:sp>
        <p:nvSpPr>
          <p:cNvPr id="40" name="Text 38"/>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41" name="Text 39"/>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12 · FINDING 4</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memory/runtime inversion</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389888"/>
            <a:ext cx="10241280" cy="256032"/>
          </a:xfrm>
          <a:prstGeom prst="rect">
            <a:avLst/>
          </a:prstGeom>
          <a:noFill/>
          <a:ln/>
        </p:spPr>
        <p:txBody>
          <a:bodyPr wrap="square" lIns="0" tIns="0" rIns="0" bIns="0" rtlCol="0" anchor="ctr"/>
          <a:lstStyle/>
          <a:p>
            <a:pPr indent="0" marL="0">
              <a:buNone/>
            </a:pPr>
            <a:r>
              <a:rPr lang="en-US" sz="1150" dirty="0">
                <a:solidFill>
                  <a:srgbClr val="3B4650"/>
                </a:solidFill>
                <a:latin typeface="Calibri" pitchFamily="34" charset="0"/>
                <a:ea typeface="Calibri" pitchFamily="34" charset="-122"/>
                <a:cs typeface="Calibri" pitchFamily="34" charset="-120"/>
              </a:rPr>
              <a:t>Same run, same instrumentation. The share of memory and the share of runtime tell opposite stories.</a:t>
            </a:r>
            <a:endParaRPr lang="en-US" sz="1150" dirty="0"/>
          </a:p>
        </p:txBody>
      </p:sp>
      <p:sp>
        <p:nvSpPr>
          <p:cNvPr id="7" name="Text 5"/>
          <p:cNvSpPr/>
          <p:nvPr/>
        </p:nvSpPr>
        <p:spPr>
          <a:xfrm>
            <a:off x="658368" y="1750000"/>
            <a:ext cx="2000000" cy="256032"/>
          </a:xfrm>
          <a:prstGeom prst="rect">
            <a:avLst/>
          </a:prstGeom>
          <a:noFill/>
          <a:ln/>
        </p:spPr>
        <p:txBody>
          <a:bodyPr wrap="square" lIns="0" tIns="0" rIns="0" bIns="0" rtlCol="0" anchor="ctr"/>
          <a:lstStyle/>
          <a:p>
            <a:pPr indent="0" marL="0">
              <a:buNone/>
            </a:pPr>
            <a:r>
              <a:rPr lang="en-US" sz="1200" b="1" spc="80" dirty="0">
                <a:solidFill>
                  <a:srgbClr val="1C2530"/>
                </a:solidFill>
                <a:latin typeface="Calibri" pitchFamily="34" charset="0"/>
                <a:ea typeface="Calibri" pitchFamily="34" charset="-122"/>
                <a:cs typeface="Calibri" pitchFamily="34" charset="-120"/>
              </a:rPr>
              <a:t>MEMORY</a:t>
            </a:r>
            <a:endParaRPr lang="en-US" sz="1200" dirty="0"/>
          </a:p>
        </p:txBody>
      </p:sp>
      <p:sp>
        <p:nvSpPr>
          <p:cNvPr id="8" name="Text 6"/>
          <p:cNvSpPr/>
          <p:nvPr/>
        </p:nvSpPr>
        <p:spPr>
          <a:xfrm>
            <a:off x="7000000" y="1750000"/>
            <a:ext cx="4265408" cy="256032"/>
          </a:xfrm>
          <a:prstGeom prst="rect">
            <a:avLst/>
          </a:prstGeom>
          <a:noFill/>
          <a:ln/>
        </p:spPr>
        <p:txBody>
          <a:bodyPr wrap="square" lIns="0" tIns="0" rIns="0" bIns="0" rtlCol="0" anchor="ctr"/>
          <a:lstStyle/>
          <a:p>
            <a:pPr algn="r" indent="0" marL="0">
              <a:buNone/>
            </a:pPr>
            <a:r>
              <a:rPr lang="en-US" sz="1050" dirty="0">
                <a:solidFill>
                  <a:srgbClr val="3B4650"/>
                </a:solidFill>
                <a:latin typeface="Calibri" pitchFamily="34" charset="0"/>
                <a:ea typeface="Calibri" pitchFamily="34" charset="-122"/>
                <a:cs typeface="Calibri" pitchFamily="34" charset="-120"/>
              </a:rPr>
              <a:t>9.54 GB peak — 97.1% setup, 2.9% hera.Crypt</a:t>
            </a:r>
            <a:endParaRPr lang="en-US" sz="1050" dirty="0"/>
          </a:p>
        </p:txBody>
      </p:sp>
      <p:sp>
        <p:nvSpPr>
          <p:cNvPr id="9" name="Shape 7"/>
          <p:cNvSpPr/>
          <p:nvPr/>
        </p:nvSpPr>
        <p:spPr>
          <a:xfrm>
            <a:off x="658368" y="2039632"/>
            <a:ext cx="10297826" cy="700000"/>
          </a:xfrm>
          <a:prstGeom prst="rect">
            <a:avLst/>
          </a:prstGeom>
          <a:solidFill>
            <a:srgbClr val="E4D8BF"/>
          </a:solidFill>
          <a:ln w="6350">
            <a:solidFill>
              <a:srgbClr val="F6F3EC"/>
            </a:solidFill>
            <a:prstDash val="solid"/>
          </a:ln>
        </p:spPr>
      </p:sp>
      <p:sp>
        <p:nvSpPr>
          <p:cNvPr id="10" name="Text 8"/>
          <p:cNvSpPr/>
          <p:nvPr/>
        </p:nvSpPr>
        <p:spPr>
          <a:xfrm>
            <a:off x="658368" y="2224632"/>
            <a:ext cx="10297826" cy="330000"/>
          </a:xfrm>
          <a:prstGeom prst="rect">
            <a:avLst/>
          </a:prstGeom>
          <a:noFill/>
          <a:ln/>
        </p:spPr>
        <p:txBody>
          <a:bodyPr wrap="square" lIns="0" tIns="0" rIns="0" bIns="0" rtlCol="0" anchor="ctr"/>
          <a:lstStyle/>
          <a:p>
            <a:pPr algn="ctr" indent="0" marL="0">
              <a:buNone/>
            </a:pPr>
            <a:r>
              <a:rPr lang="en-US" sz="1300" b="1" dirty="0">
                <a:solidFill>
                  <a:srgbClr val="1C2530"/>
                </a:solidFill>
                <a:latin typeface="Century Schoolbook" pitchFamily="34" charset="0"/>
                <a:ea typeface="Century Schoolbook" pitchFamily="34" charset="-122"/>
                <a:cs typeface="Century Schoolbook" pitchFamily="34" charset="-120"/>
              </a:rPr>
              <a:t>9.26 GB — setup (97.1%)</a:t>
            </a:r>
            <a:endParaRPr lang="en-US" sz="1300" dirty="0"/>
          </a:p>
        </p:txBody>
      </p:sp>
      <p:sp>
        <p:nvSpPr>
          <p:cNvPr id="11" name="Shape 9"/>
          <p:cNvSpPr/>
          <p:nvPr/>
        </p:nvSpPr>
        <p:spPr>
          <a:xfrm>
            <a:off x="10956194" y="2039632"/>
            <a:ext cx="309214" cy="700000"/>
          </a:xfrm>
          <a:prstGeom prst="rect">
            <a:avLst/>
          </a:prstGeom>
          <a:solidFill>
            <a:srgbClr val="FFFFFF"/>
          </a:solidFill>
          <a:ln w="19050">
            <a:solidFill>
              <a:srgbClr val="9A6A28"/>
            </a:solidFill>
            <a:prstDash val="solid"/>
          </a:ln>
        </p:spPr>
      </p:sp>
      <p:sp>
        <p:nvSpPr>
          <p:cNvPr id="12" name="Text 10"/>
          <p:cNvSpPr/>
          <p:nvPr/>
        </p:nvSpPr>
        <p:spPr>
          <a:xfrm>
            <a:off x="658368" y="2989632"/>
            <a:ext cx="2000000" cy="256032"/>
          </a:xfrm>
          <a:prstGeom prst="rect">
            <a:avLst/>
          </a:prstGeom>
          <a:noFill/>
          <a:ln/>
        </p:spPr>
        <p:txBody>
          <a:bodyPr wrap="square" lIns="0" tIns="0" rIns="0" bIns="0" rtlCol="0" anchor="ctr"/>
          <a:lstStyle/>
          <a:p>
            <a:pPr indent="0" marL="0">
              <a:buNone/>
            </a:pPr>
            <a:r>
              <a:rPr lang="en-US" sz="1200" b="1" spc="80" dirty="0">
                <a:solidFill>
                  <a:srgbClr val="1C2530"/>
                </a:solidFill>
                <a:latin typeface="Calibri" pitchFamily="34" charset="0"/>
                <a:ea typeface="Calibri" pitchFamily="34" charset="-122"/>
                <a:cs typeface="Calibri" pitchFamily="34" charset="-120"/>
              </a:rPr>
              <a:t>RUNTIME</a:t>
            </a:r>
            <a:endParaRPr lang="en-US" sz="1200" dirty="0"/>
          </a:p>
        </p:txBody>
      </p:sp>
      <p:sp>
        <p:nvSpPr>
          <p:cNvPr id="13" name="Text 11"/>
          <p:cNvSpPr/>
          <p:nvPr/>
        </p:nvSpPr>
        <p:spPr>
          <a:xfrm>
            <a:off x="7000000" y="2989632"/>
            <a:ext cx="4265408" cy="256032"/>
          </a:xfrm>
          <a:prstGeom prst="rect">
            <a:avLst/>
          </a:prstGeom>
          <a:noFill/>
          <a:ln/>
        </p:spPr>
        <p:txBody>
          <a:bodyPr wrap="square" lIns="0" tIns="0" rIns="0" bIns="0" rtlCol="0" anchor="ctr"/>
          <a:lstStyle/>
          <a:p>
            <a:pPr algn="r" indent="0" marL="0">
              <a:buNone/>
            </a:pPr>
            <a:r>
              <a:rPr lang="en-US" sz="1050" dirty="0">
                <a:solidFill>
                  <a:srgbClr val="3B4650"/>
                </a:solidFill>
                <a:latin typeface="Calibri" pitchFamily="34" charset="0"/>
                <a:ea typeface="Calibri" pitchFamily="34" charset="-122"/>
                <a:cs typeface="Calibri" pitchFamily="34" charset="-120"/>
              </a:rPr>
              <a:t>73.7 s total — 29.7% setup, 70.3% hera.Crypt</a:t>
            </a:r>
            <a:endParaRPr lang="en-US" sz="1050" dirty="0"/>
          </a:p>
        </p:txBody>
      </p:sp>
      <p:sp>
        <p:nvSpPr>
          <p:cNvPr id="14" name="Shape 12"/>
          <p:cNvSpPr/>
          <p:nvPr/>
        </p:nvSpPr>
        <p:spPr>
          <a:xfrm>
            <a:off x="658368" y="3245664"/>
            <a:ext cx="3155221" cy="700000"/>
          </a:xfrm>
          <a:prstGeom prst="rect">
            <a:avLst/>
          </a:prstGeom>
          <a:solidFill>
            <a:srgbClr val="FFFFFF"/>
          </a:solidFill>
          <a:ln w="12700">
            <a:solidFill>
              <a:srgbClr val="D3CCC0"/>
            </a:solidFill>
            <a:prstDash val="solid"/>
          </a:ln>
        </p:spPr>
      </p:sp>
      <p:sp>
        <p:nvSpPr>
          <p:cNvPr id="15" name="Text 13"/>
          <p:cNvSpPr/>
          <p:nvPr/>
        </p:nvSpPr>
        <p:spPr>
          <a:xfrm>
            <a:off x="658368" y="3430664"/>
            <a:ext cx="3155221" cy="330000"/>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21.9 s — setup (29.7%)</a:t>
            </a:r>
            <a:endParaRPr lang="en-US" sz="1150" dirty="0"/>
          </a:p>
        </p:txBody>
      </p:sp>
      <p:sp>
        <p:nvSpPr>
          <p:cNvPr id="16" name="Shape 15"/>
          <p:cNvSpPr/>
          <p:nvPr/>
        </p:nvSpPr>
        <p:spPr>
          <a:xfrm>
            <a:off x="3813589" y="3245664"/>
            <a:ext cx="7451819" cy="700000"/>
          </a:xfrm>
          <a:prstGeom prst="rect">
            <a:avLst/>
          </a:prstGeom>
          <a:solidFill>
            <a:srgbClr val="D9CDB2"/>
          </a:solidFill>
          <a:ln w="19050">
            <a:solidFill>
              <a:srgbClr val="9A6A28"/>
            </a:solidFill>
            <a:prstDash val="solid"/>
          </a:ln>
        </p:spPr>
      </p:sp>
      <p:sp>
        <p:nvSpPr>
          <p:cNvPr id="17" name="Text 16"/>
          <p:cNvSpPr/>
          <p:nvPr/>
        </p:nvSpPr>
        <p:spPr>
          <a:xfrm>
            <a:off x="3813589" y="3373664"/>
            <a:ext cx="7451819" cy="330000"/>
          </a:xfrm>
          <a:prstGeom prst="rect">
            <a:avLst/>
          </a:prstGeom>
          <a:noFill/>
          <a:ln/>
        </p:spPr>
        <p:txBody>
          <a:bodyPr wrap="square" lIns="0" tIns="0" rIns="0" bIns="0" rtlCol="0" anchor="ctr"/>
          <a:lstStyle/>
          <a:p>
            <a:pPr algn="ctr" indent="0" marL="0">
              <a:buNone/>
            </a:pPr>
            <a:r>
              <a:rPr lang="en-US" sz="1300" b="1" dirty="0">
                <a:solidFill>
                  <a:srgbClr val="1C2530"/>
                </a:solidFill>
                <a:latin typeface="Century Schoolbook" pitchFamily="34" charset="0"/>
                <a:ea typeface="Century Schoolbook" pitchFamily="34" charset="-122"/>
                <a:cs typeface="Century Schoolbook" pitchFamily="34" charset="-120"/>
              </a:rPr>
              <a:t>51.8 s — hera.Crypt (70.3%)</a:t>
            </a:r>
            <a:endParaRPr lang="en-US" sz="1300" dirty="0"/>
          </a:p>
        </p:txBody>
      </p:sp>
      <p:sp>
        <p:nvSpPr>
          <p:cNvPr id="18" name="Text 17"/>
          <p:cNvSpPr/>
          <p:nvPr/>
        </p:nvSpPr>
        <p:spPr>
          <a:xfrm>
            <a:off x="3813589" y="3703664"/>
            <a:ext cx="7451819" cy="237744"/>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cube/S-box alone: 47.5 s — 92% of it</a:t>
            </a:r>
            <a:endParaRPr lang="en-US" sz="950" dirty="0"/>
          </a:p>
        </p:txBody>
      </p:sp>
      <p:sp>
        <p:nvSpPr>
          <p:cNvPr id="19" name="Text 18"/>
          <p:cNvSpPr/>
          <p:nvPr/>
        </p:nvSpPr>
        <p:spPr>
          <a:xfrm>
            <a:off x="658368" y="4245664"/>
            <a:ext cx="10881360" cy="32004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The step blamed for memory is 2.9% of it. The step nobody profiled for time is 70% of it.</a:t>
            </a:r>
            <a:endParaRPr lang="en-US" sz="1300" dirty="0"/>
          </a:p>
        </p:txBody>
      </p:sp>
      <p:sp>
        <p:nvSpPr>
          <p:cNvPr id="20" name="Shape 21"/>
          <p:cNvSpPr/>
          <p:nvPr/>
        </p:nvSpPr>
        <p:spPr>
          <a:xfrm>
            <a:off x="658368" y="4800000"/>
            <a:ext cx="10881360" cy="950000"/>
          </a:xfrm>
          <a:prstGeom prst="rect">
            <a:avLst/>
          </a:prstGeom>
          <a:solidFill>
            <a:srgbClr val="FFFFFF"/>
          </a:solidFill>
          <a:ln w="12700">
            <a:solidFill>
              <a:srgbClr val="D3CCC0"/>
            </a:solidFill>
            <a:prstDash val="solid"/>
          </a:ln>
        </p:spPr>
      </p:sp>
      <p:sp>
        <p:nvSpPr>
          <p:cNvPr id="21" name="Text 20"/>
          <p:cNvSpPr/>
          <p:nvPr/>
        </p:nvSpPr>
        <p:spPr>
          <a:xfrm>
            <a:off x="914400" y="4928616"/>
            <a:ext cx="4572000"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Within hera.Crypt</a:t>
            </a:r>
            <a:endParaRPr lang="en-US" sz="1100" dirty="0"/>
          </a:p>
        </p:txBody>
      </p:sp>
      <p:sp>
        <p:nvSpPr>
          <p:cNvPr id="22" name="Text 21"/>
          <p:cNvSpPr/>
          <p:nvPr/>
        </p:nvSpPr>
        <p:spPr>
          <a:xfrm>
            <a:off x="914400" y="5197872"/>
            <a:ext cx="101126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Five rounds, one expensive step each. cube/S-box: 47.5 s of 51.8 s — 6.7–12.1 s per round. linlayer and modswitch: sub-second, every round.</a:t>
            </a:r>
            <a:endParaRPr lang="en-US" sz="1050" dirty="0"/>
          </a:p>
        </p:txBody>
      </p:sp>
      <p:sp>
        <p:nvSpPr>
          <p:cNvPr id="23" name="Text 22"/>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4" name="Text 23"/>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14 · THE REAL TRADE</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architectural cost, stated plainly</a:t>
            </a:r>
            <a:endParaRPr lang="en-US" sz="2700" dirty="0"/>
          </a:p>
        </p:txBody>
      </p:sp>
      <p:sp>
        <p:nvSpPr>
          <p:cNvPr id="4" name="Text 2"/>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HalfBoot only functions at substantially larger encryption parameters. Adopting transciphering does not bolt a stage onto the front of the pipeline.</a:t>
            </a:r>
            <a:endParaRPr lang="en-US" sz="1450" dirty="0"/>
          </a:p>
        </p:txBody>
      </p:sp>
      <p:sp>
        <p:nvSpPr>
          <p:cNvPr id="5" name="Shape 3"/>
          <p:cNvSpPr/>
          <p:nvPr/>
        </p:nvSpPr>
        <p:spPr>
          <a:xfrm>
            <a:off x="658368" y="2194560"/>
            <a:ext cx="10881360" cy="868680"/>
          </a:xfrm>
          <a:prstGeom prst="rect">
            <a:avLst/>
          </a:prstGeom>
          <a:solidFill>
            <a:srgbClr val="1C2530"/>
          </a:solidFill>
          <a:ln w="12700">
            <a:solidFill>
              <a:srgbClr val="1C2530"/>
            </a:solidFill>
            <a:prstDash val="solid"/>
          </a:ln>
        </p:spPr>
      </p:sp>
      <p:sp>
        <p:nvSpPr>
          <p:cNvPr id="6" name="Text 4"/>
          <p:cNvSpPr/>
          <p:nvPr/>
        </p:nvSpPr>
        <p:spPr>
          <a:xfrm>
            <a:off x="978408" y="2286000"/>
            <a:ext cx="10241280" cy="685800"/>
          </a:xfrm>
          <a:prstGeom prst="rect">
            <a:avLst/>
          </a:prstGeom>
          <a:noFill/>
          <a:ln/>
        </p:spPr>
        <p:txBody>
          <a:bodyPr wrap="square" lIns="0" tIns="0" rIns="0" bIns="0" rtlCol="0" anchor="ctr"/>
          <a:lstStyle/>
          <a:p>
            <a:pPr indent="0" marL="0">
              <a:lnSpc>
                <a:spcPts val="2200"/>
              </a:lnSpc>
              <a:buNone/>
            </a:pPr>
            <a:r>
              <a:rPr lang="en-US" sz="1450" dirty="0">
                <a:solidFill>
                  <a:srgbClr val="F6F3EC"/>
                </a:solidFill>
                <a:latin typeface="Calibri" pitchFamily="34" charset="0"/>
                <a:ea typeface="Calibri" pitchFamily="34" charset="-122"/>
                <a:cs typeface="Calibri" pitchFamily="34" charset="-120"/>
              </a:rPr>
              <a:t>It moves the entire downstream computation — the fraud model included — onto a bigger and slower parameter setting. Every operation after the conversion becomes more expensive, permanently.</a:t>
            </a:r>
            <a:endParaRPr lang="en-US" sz="1450" dirty="0"/>
          </a:p>
        </p:txBody>
      </p:sp>
      <p:sp>
        <p:nvSpPr>
          <p:cNvPr id="7" name="Text 5"/>
          <p:cNvSpPr/>
          <p:nvPr/>
        </p:nvSpPr>
        <p:spPr>
          <a:xfrm>
            <a:off x="658368" y="3401568"/>
            <a:ext cx="7315200" cy="274320"/>
          </a:xfrm>
          <a:prstGeom prst="rect">
            <a:avLst/>
          </a:prstGeom>
          <a:noFill/>
          <a:ln/>
        </p:spPr>
        <p:txBody>
          <a:bodyPr wrap="square" lIns="0" tIns="0" rIns="0" bIns="0" rtlCol="0" anchor="ctr"/>
          <a:lstStyle/>
          <a:p>
            <a:pPr indent="0" marL="0">
              <a:buNone/>
            </a:pPr>
            <a:r>
              <a:rPr lang="en-US" sz="1200" b="1" dirty="0">
                <a:solidFill>
                  <a:srgbClr val="9A6A28"/>
                </a:solidFill>
                <a:latin typeface="Calibri" pitchFamily="34" charset="0"/>
                <a:ea typeface="Calibri" pitchFamily="34" charset="-122"/>
                <a:cs typeface="Calibri" pitchFamily="34" charset="-120"/>
              </a:rPr>
              <a:t>The counterargument — an open question, not an answer</a:t>
            </a:r>
            <a:endParaRPr lang="en-US" sz="1200" dirty="0"/>
          </a:p>
        </p:txBody>
      </p:sp>
      <p:sp>
        <p:nvSpPr>
          <p:cNvPr id="8" name="Shape 6"/>
          <p:cNvSpPr/>
          <p:nvPr/>
        </p:nvSpPr>
        <p:spPr>
          <a:xfrm>
            <a:off x="658368" y="3749040"/>
            <a:ext cx="10881360" cy="1051560"/>
          </a:xfrm>
          <a:prstGeom prst="rect">
            <a:avLst/>
          </a:prstGeom>
          <a:solidFill>
            <a:srgbClr val="EFE7D6"/>
          </a:solidFill>
          <a:ln w="12700">
            <a:solidFill>
              <a:srgbClr val="9A6A28"/>
            </a:solidFill>
            <a:prstDash val="dash"/>
          </a:ln>
        </p:spPr>
      </p:sp>
      <p:sp>
        <p:nvSpPr>
          <p:cNvPr id="9" name="Text 7"/>
          <p:cNvSpPr/>
          <p:nvPr/>
        </p:nvSpPr>
        <p:spPr>
          <a:xfrm>
            <a:off x="978408" y="3877056"/>
            <a:ext cx="10241280" cy="822960"/>
          </a:xfrm>
          <a:prstGeom prst="rect">
            <a:avLst/>
          </a:prstGeom>
          <a:noFill/>
          <a:ln/>
        </p:spPr>
        <p:txBody>
          <a:bodyPr wrap="square" lIns="0" tIns="0" rIns="0" bIns="0" rtlCol="0" anchor="ctr"/>
          <a:lstStyle/>
          <a:p>
            <a:pPr indent="0" marL="0">
              <a:lnSpc>
                <a:spcPts val="2000"/>
              </a:lnSpc>
              <a:buNone/>
            </a:pPr>
            <a:r>
              <a:rPr lang="en-US" sz="1300" dirty="0">
                <a:solidFill>
                  <a:srgbClr val="3B4650"/>
                </a:solidFill>
                <a:latin typeface="Calibri" pitchFamily="34" charset="0"/>
                <a:ea typeface="Calibri" pitchFamily="34" charset="-122"/>
                <a:cs typeface="Calibri" pitchFamily="34" charset="-120"/>
              </a:rPr>
              <a:t>The larger setting also has far more SIMD slots, so many transactions can be scored in one ciphertext. Whether the throughput gain outweighs the per-operation penalty is exactly what the pending benchmark would settle.</a:t>
            </a:r>
            <a:endParaRPr lang="en-US" sz="1300" dirty="0"/>
          </a:p>
        </p:txBody>
      </p:sp>
      <p:sp>
        <p:nvSpPr>
          <p:cNvPr id="10" name="Text 8"/>
          <p:cNvSpPr/>
          <p:nvPr/>
        </p:nvSpPr>
        <p:spPr>
          <a:xfrm>
            <a:off x="658368" y="5074920"/>
            <a:ext cx="10881360" cy="457200"/>
          </a:xfrm>
          <a:prstGeom prst="rect">
            <a:avLst/>
          </a:prstGeom>
          <a:noFill/>
          <a:ln/>
        </p:spPr>
        <p:txBody>
          <a:bodyPr wrap="square" lIns="0" tIns="0" rIns="0" bIns="0" rtlCol="0" anchor="ctr"/>
          <a:lstStyle/>
          <a:p>
            <a:pPr indent="0" marL="0">
              <a:lnSpc>
                <a:spcPts val="2000"/>
              </a:lnSpc>
              <a:buNone/>
            </a:pPr>
            <a:r>
              <a:rPr lang="en-US" sz="1300" b="1" dirty="0">
                <a:solidFill>
                  <a:srgbClr val="1C2530"/>
                </a:solidFill>
                <a:latin typeface="Calibri" pitchFamily="34" charset="0"/>
                <a:ea typeface="Calibri" pitchFamily="34" charset="-122"/>
                <a:cs typeface="Calibri" pitchFamily="34" charset="-120"/>
              </a:rPr>
              <a:t>Transciphering may be better understood as a throughput optimisation than a bandwidth optimisation. I am not asserting that — it is what the benchmark is for.</a:t>
            </a:r>
            <a:endParaRPr lang="en-US" sz="1300" dirty="0"/>
          </a:p>
        </p:txBody>
      </p:sp>
      <p:sp>
        <p:nvSpPr>
          <p:cNvPr id="11" name="Text 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2" name="Text 1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15 · NEXT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Open items, in priority order</a:t>
            </a:r>
            <a:endParaRPr lang="en-US" sz="2700" dirty="0"/>
          </a:p>
        </p:txBody>
      </p:sp>
      <p:sp>
        <p:nvSpPr>
          <p:cNvPr id="4" name="Shape 2"/>
          <p:cNvSpPr/>
          <p:nvPr/>
        </p:nvSpPr>
        <p:spPr>
          <a:xfrm>
            <a:off x="658368" y="1508760"/>
            <a:ext cx="10881360" cy="1078992"/>
          </a:xfrm>
          <a:prstGeom prst="rect">
            <a:avLst/>
          </a:prstGeom>
          <a:solidFill>
            <a:srgbClr val="EFE7D6"/>
          </a:solidFill>
          <a:ln w="19050">
            <a:solidFill>
              <a:srgbClr val="9A6A28"/>
            </a:solidFill>
            <a:prstDash val="solid"/>
          </a:ln>
        </p:spPr>
      </p:sp>
      <p:sp>
        <p:nvSpPr>
          <p:cNvPr id="5" name="Text 3"/>
          <p:cNvSpPr/>
          <p:nvPr/>
        </p:nvSpPr>
        <p:spPr>
          <a:xfrm>
            <a:off x="932688" y="1783080"/>
            <a:ext cx="457200" cy="457200"/>
          </a:xfrm>
          <a:prstGeom prst="rect">
            <a:avLst/>
          </a:prstGeom>
          <a:noFill/>
          <a:ln/>
        </p:spPr>
        <p:txBody>
          <a:bodyPr wrap="square" lIns="0" tIns="0" rIns="0" bIns="0" rtlCol="0" anchor="ctr"/>
          <a:lstStyle/>
          <a:p>
            <a:pPr indent="0" marL="0">
              <a:buNone/>
            </a:pPr>
            <a:r>
              <a:rPr lang="en-US" sz="2200" dirty="0">
                <a:solidFill>
                  <a:srgbClr val="9A6A28"/>
                </a:solidFill>
                <a:latin typeface="Century Schoolbook" pitchFamily="34" charset="0"/>
                <a:ea typeface="Century Schoolbook" pitchFamily="34" charset="-122"/>
                <a:cs typeface="Century Schoolbook" pitchFamily="34" charset="-120"/>
              </a:rPr>
              <a:t>1</a:t>
            </a:r>
            <a:endParaRPr lang="en-US" sz="2200" dirty="0"/>
          </a:p>
        </p:txBody>
      </p:sp>
      <p:sp>
        <p:nvSpPr>
          <p:cNvPr id="6" name="Text 4"/>
          <p:cNvSpPr/>
          <p:nvPr/>
        </p:nvSpPr>
        <p:spPr>
          <a:xfrm>
            <a:off x="1527048" y="1709928"/>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Run the cloud benchmark</a:t>
            </a:r>
            <a:endParaRPr lang="en-US" sz="1400" dirty="0"/>
          </a:p>
        </p:txBody>
      </p:sp>
      <p:sp>
        <p:nvSpPr>
          <p:cNvPr id="7" name="Text 5"/>
          <p:cNvSpPr/>
          <p:nvPr/>
        </p:nvSpPr>
        <p:spPr>
          <a:xfrm>
            <a:off x="1527048" y="2039112"/>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scripts/cloud_transcipher_bench/ is scaffolded against BenchmarkRtFHera80as — but the full-scale path already completes in 74 s on the existing 15 GB host. May not need cloud at all; confirm before spending anything.</a:t>
            </a:r>
            <a:endParaRPr lang="en-US" sz="1050" dirty="0"/>
          </a:p>
        </p:txBody>
      </p:sp>
      <p:sp>
        <p:nvSpPr>
          <p:cNvPr id="8" name="Shape 6"/>
          <p:cNvSpPr/>
          <p:nvPr/>
        </p:nvSpPr>
        <p:spPr>
          <a:xfrm>
            <a:off x="658368" y="2715768"/>
            <a:ext cx="10881360" cy="1078992"/>
          </a:xfrm>
          <a:prstGeom prst="rect">
            <a:avLst/>
          </a:prstGeom>
          <a:solidFill>
            <a:srgbClr val="FFFFFF"/>
          </a:solidFill>
          <a:ln w="12700">
            <a:solidFill>
              <a:srgbClr val="D3CCC0"/>
            </a:solidFill>
            <a:prstDash val="solid"/>
          </a:ln>
        </p:spPr>
      </p:sp>
      <p:sp>
        <p:nvSpPr>
          <p:cNvPr id="9" name="Text 7"/>
          <p:cNvSpPr/>
          <p:nvPr/>
        </p:nvSpPr>
        <p:spPr>
          <a:xfrm>
            <a:off x="932688" y="2990088"/>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2</a:t>
            </a:r>
            <a:endParaRPr lang="en-US" sz="2200" dirty="0"/>
          </a:p>
        </p:txBody>
      </p:sp>
      <p:sp>
        <p:nvSpPr>
          <p:cNvPr id="10" name="Text 8"/>
          <p:cNvSpPr/>
          <p:nvPr/>
        </p:nvSpPr>
        <p:spPr>
          <a:xfrm>
            <a:off x="1527048" y="2916936"/>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Fill artifacts/hhe_breakeven.json</a:t>
            </a:r>
            <a:endParaRPr lang="en-US" sz="1400" dirty="0"/>
          </a:p>
        </p:txBody>
      </p:sp>
      <p:sp>
        <p:nvSpPr>
          <p:cNvPr id="11" name="Text 9"/>
          <p:cNvSpPr/>
          <p:nvPr/>
        </p:nvSpPr>
        <p:spPr>
          <a:xfrm>
            <a:off x="1527048" y="3246120"/>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All cells still PENDING. There is no end-to-end HHE-vs-plain-CKKS timing result yet.</a:t>
            </a:r>
            <a:endParaRPr lang="en-US" sz="1050" dirty="0"/>
          </a:p>
        </p:txBody>
      </p:sp>
      <p:sp>
        <p:nvSpPr>
          <p:cNvPr id="12" name="Shape 10"/>
          <p:cNvSpPr/>
          <p:nvPr/>
        </p:nvSpPr>
        <p:spPr>
          <a:xfrm>
            <a:off x="658368" y="3922776"/>
            <a:ext cx="10881360" cy="1078992"/>
          </a:xfrm>
          <a:prstGeom prst="rect">
            <a:avLst/>
          </a:prstGeom>
          <a:solidFill>
            <a:srgbClr val="FFFFFF"/>
          </a:solidFill>
          <a:ln w="12700">
            <a:solidFill>
              <a:srgbClr val="D3CCC0"/>
            </a:solidFill>
            <a:prstDash val="solid"/>
          </a:ln>
        </p:spPr>
      </p:sp>
      <p:sp>
        <p:nvSpPr>
          <p:cNvPr id="13" name="Text 11"/>
          <p:cNvSpPr/>
          <p:nvPr/>
        </p:nvSpPr>
        <p:spPr>
          <a:xfrm>
            <a:off x="932688" y="4197096"/>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3</a:t>
            </a:r>
            <a:endParaRPr lang="en-US" sz="2200" dirty="0"/>
          </a:p>
        </p:txBody>
      </p:sp>
      <p:sp>
        <p:nvSpPr>
          <p:cNvPr id="14" name="Text 12"/>
          <p:cNvSpPr/>
          <p:nvPr/>
        </p:nvSpPr>
        <p:spPr>
          <a:xfrm>
            <a:off x="1527048" y="4123944"/>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Batched-reduction correctness at 256-slot blocks</a:t>
            </a:r>
            <a:endParaRPr lang="en-US" sz="1400" dirty="0"/>
          </a:p>
        </p:txBody>
      </p:sp>
      <p:sp>
        <p:nvSpPr>
          <p:cNvPr id="15" name="Text 13"/>
          <p:cNvSpPr/>
          <p:nvPr/>
        </p:nvSpPr>
        <p:spPr>
          <a:xfrm>
            <a:off x="1527048" y="4453128"/>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Correctness so far is single-block, toy scale (slide 13). Reduction across 256-slot batches is untested — the next structural gap before throughput claims are trustworthy.</a:t>
            </a:r>
            <a:endParaRPr lang="en-US" sz="1050" dirty="0"/>
          </a:p>
        </p:txBody>
      </p:sp>
      <p:sp>
        <p:nvSpPr>
          <p:cNvPr id="16" name="Shape 14"/>
          <p:cNvSpPr/>
          <p:nvPr/>
        </p:nvSpPr>
        <p:spPr>
          <a:xfrm>
            <a:off x="658368" y="5129784"/>
            <a:ext cx="10881360" cy="1078992"/>
          </a:xfrm>
          <a:prstGeom prst="rect">
            <a:avLst/>
          </a:prstGeom>
          <a:solidFill>
            <a:srgbClr val="FFFFFF"/>
          </a:solidFill>
          <a:ln w="12700">
            <a:solidFill>
              <a:srgbClr val="D3CCC0"/>
            </a:solidFill>
            <a:prstDash val="solid"/>
          </a:ln>
        </p:spPr>
      </p:sp>
      <p:sp>
        <p:nvSpPr>
          <p:cNvPr id="17" name="Text 15"/>
          <p:cNvSpPr/>
          <p:nvPr/>
        </p:nvSpPr>
        <p:spPr>
          <a:xfrm>
            <a:off x="932688" y="5404104"/>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4</a:t>
            </a:r>
            <a:endParaRPr lang="en-US" sz="2200" dirty="0"/>
          </a:p>
        </p:txBody>
      </p:sp>
      <p:sp>
        <p:nvSpPr>
          <p:cNvPr id="18" name="Text 16"/>
          <p:cNvSpPr/>
          <p:nvPr/>
        </p:nvSpPr>
        <p:spPr>
          <a:xfrm>
            <a:off x="1527048" y="5330952"/>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Run the real fraud circuit in the toy harness</a:t>
            </a:r>
            <a:endParaRPr lang="en-US" sz="1400" dirty="0"/>
          </a:p>
        </p:txBody>
      </p:sp>
      <p:sp>
        <p:nvSpPr>
          <p:cNvPr id="19" name="Text 17"/>
          <p:cNvSpPr/>
          <p:nvPr/>
        </p:nvSpPr>
        <p:spPr>
          <a:xfrm>
            <a:off x="1527048" y="5660136"/>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The toy harness (slide 13) validates the pipeline shape with a trivial 2x+1 circuit, not the fraud model. Swapping in the real circuit is what turns "architecture works" into "the model works."</a:t>
            </a:r>
            <a:endParaRPr lang="en-US" sz="1050" dirty="0"/>
          </a:p>
        </p:txBody>
      </p:sp>
      <p:sp>
        <p:nvSpPr>
          <p:cNvPr id="20" name="Text 18"/>
          <p:cNvSpPr/>
          <p:nvPr/>
        </p:nvSpPr>
        <p:spPr>
          <a:xfrm>
            <a:off x="8869680" y="1764792"/>
            <a:ext cx="2560320" cy="219456"/>
          </a:xfrm>
          <a:prstGeom prst="rect">
            <a:avLst/>
          </a:prstGeom>
          <a:noFill/>
          <a:ln/>
        </p:spPr>
        <p:txBody>
          <a:bodyPr wrap="square" lIns="0" tIns="0" rIns="0" bIns="0" rtlCol="0" anchor="ctr"/>
          <a:lstStyle/>
          <a:p>
            <a:pPr algn="r" indent="0" marL="0">
              <a:buNone/>
            </a:pPr>
            <a:r>
              <a:rPr lang="en-US" sz="950" b="1" i="1" dirty="0">
                <a:solidFill>
                  <a:srgbClr val="9A6A28"/>
                </a:solidFill>
                <a:latin typeface="Calibri" pitchFamily="34" charset="0"/>
                <a:ea typeface="Calibri" pitchFamily="34" charset="-122"/>
                <a:cs typeface="Calibri" pitchFamily="34" charset="-120"/>
              </a:rPr>
              <a:t>confirm before spending anything</a:t>
            </a:r>
            <a:endParaRPr lang="en-US" sz="950" dirty="0"/>
          </a:p>
        </p:txBody>
      </p:sp>
      <p:sp>
        <p:nvSpPr>
          <p:cNvPr id="21" name="Text 1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2" name="Text 2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2530"/>
        </a:solidFill>
      </p:bgPr>
    </p:bg>
    <p:spTree>
      <p:nvGrpSpPr>
        <p:cNvPr id="1" name=""/>
        <p:cNvGrpSpPr/>
        <p:nvPr/>
      </p:nvGrpSpPr>
      <p:grpSpPr>
        <a:xfrm>
          <a:off x="0" y="0"/>
          <a:ext cx="0" cy="0"/>
          <a:chOff x="0" y="0"/>
          <a:chExt cx="0" cy="0"/>
        </a:xfrm>
      </p:grpSpPr>
      <p:sp>
        <p:nvSpPr>
          <p:cNvPr id="2" name="Text 0"/>
          <p:cNvSpPr/>
          <p:nvPr/>
        </p:nvSpPr>
        <p:spPr>
          <a:xfrm>
            <a:off x="658368" y="1143000"/>
            <a:ext cx="8229600" cy="548640"/>
          </a:xfrm>
          <a:prstGeom prst="rect">
            <a:avLst/>
          </a:prstGeom>
          <a:noFill/>
          <a:ln/>
        </p:spPr>
        <p:txBody>
          <a:bodyPr wrap="square" lIns="0" tIns="0" rIns="0" bIns="0" rtlCol="0" anchor="ctr"/>
          <a:lstStyle/>
          <a:p>
            <a:pPr indent="0" marL="0">
              <a:buNone/>
            </a:pPr>
            <a:r>
              <a:rPr lang="en-US" sz="3000" dirty="0">
                <a:solidFill>
                  <a:srgbClr val="F6F3EC"/>
                </a:solidFill>
                <a:latin typeface="Century Schoolbook" pitchFamily="34" charset="0"/>
                <a:ea typeface="Century Schoolbook" pitchFamily="34" charset="-122"/>
                <a:cs typeface="Century Schoolbook" pitchFamily="34" charset="-120"/>
              </a:rPr>
              <a:t>What I need to proceed</a:t>
            </a:r>
            <a:endParaRPr lang="en-US" sz="3000" dirty="0"/>
          </a:p>
        </p:txBody>
      </p:sp>
      <p:sp>
        <p:nvSpPr>
          <p:cNvPr id="3" name="Shape 1"/>
          <p:cNvSpPr/>
          <p:nvPr/>
        </p:nvSpPr>
        <p:spPr>
          <a:xfrm>
            <a:off x="658368" y="1874520"/>
            <a:ext cx="3730752" cy="0"/>
          </a:xfrm>
          <a:prstGeom prst="line">
            <a:avLst/>
          </a:prstGeom>
          <a:noFill/>
          <a:ln w="12700">
            <a:solidFill>
              <a:srgbClr val="5A6472"/>
            </a:solidFill>
            <a:prstDash val="solid"/>
          </a:ln>
        </p:spPr>
      </p:sp>
      <p:sp>
        <p:nvSpPr>
          <p:cNvPr id="4" name="Shape 2"/>
          <p:cNvSpPr/>
          <p:nvPr/>
        </p:nvSpPr>
        <p:spPr>
          <a:xfrm>
            <a:off x="658368" y="2286000"/>
            <a:ext cx="10881360" cy="1325880"/>
          </a:xfrm>
          <a:prstGeom prst="rect">
            <a:avLst/>
          </a:prstGeom>
          <a:solidFill>
            <a:srgbClr val="27313D"/>
          </a:solidFill>
          <a:ln w="12700">
            <a:solidFill>
              <a:srgbClr val="3D4855"/>
            </a:solidFill>
            <a:prstDash val="solid"/>
          </a:ln>
        </p:spPr>
      </p:sp>
      <p:sp>
        <p:nvSpPr>
          <p:cNvPr id="5" name="Text 3"/>
          <p:cNvSpPr/>
          <p:nvPr/>
        </p:nvSpPr>
        <p:spPr>
          <a:xfrm>
            <a:off x="1024128" y="2487168"/>
            <a:ext cx="1463040" cy="237744"/>
          </a:xfrm>
          <a:prstGeom prst="rect">
            <a:avLst/>
          </a:prstGeom>
          <a:noFill/>
          <a:ln/>
        </p:spPr>
        <p:txBody>
          <a:bodyPr wrap="square" lIns="0" tIns="0" rIns="0" bIns="0" rtlCol="0" anchor="ctr"/>
          <a:lstStyle/>
          <a:p>
            <a:pPr indent="0" marL="0">
              <a:buNone/>
            </a:pPr>
            <a:r>
              <a:rPr lang="en-US" sz="950" b="1" spc="140" kern="0" dirty="0">
                <a:solidFill>
                  <a:srgbClr val="9A6A28"/>
                </a:solidFill>
                <a:latin typeface="Calibri" pitchFamily="34" charset="0"/>
                <a:ea typeface="Calibri" pitchFamily="34" charset="-122"/>
                <a:cs typeface="Calibri" pitchFamily="34" charset="-120"/>
              </a:rPr>
              <a:t>FIRST</a:t>
            </a:r>
            <a:endParaRPr lang="en-US" sz="950" dirty="0"/>
          </a:p>
        </p:txBody>
      </p:sp>
      <p:sp>
        <p:nvSpPr>
          <p:cNvPr id="6" name="Text 4"/>
          <p:cNvSpPr/>
          <p:nvPr/>
        </p:nvSpPr>
        <p:spPr>
          <a:xfrm>
            <a:off x="1024128" y="2761488"/>
            <a:ext cx="4572000" cy="310896"/>
          </a:xfrm>
          <a:prstGeom prst="rect">
            <a:avLst/>
          </a:prstGeom>
          <a:noFill/>
          <a:ln/>
        </p:spPr>
        <p:txBody>
          <a:bodyPr wrap="square" lIns="0" tIns="0" rIns="0" bIns="0" rtlCol="0" anchor="ctr"/>
          <a:lstStyle/>
          <a:p>
            <a:pPr indent="0" marL="0">
              <a:buNone/>
            </a:pPr>
            <a:r>
              <a:rPr lang="en-US" sz="1550" b="1" dirty="0">
                <a:solidFill>
                  <a:srgbClr val="F6F3EC"/>
                </a:solidFill>
                <a:latin typeface="Calibri" pitchFamily="34" charset="0"/>
                <a:ea typeface="Calibri" pitchFamily="34" charset="-122"/>
                <a:cs typeface="Calibri" pitchFamily="34" charset="-120"/>
              </a:rPr>
              <a:t>No cloud instance needed</a:t>
            </a:r>
            <a:endParaRPr lang="en-US" sz="1550" dirty="0"/>
          </a:p>
        </p:txBody>
      </p:sp>
      <p:sp>
        <p:nvSpPr>
          <p:cNvPr id="7" name="Text 5"/>
          <p:cNvSpPr/>
          <p:nvPr/>
        </p:nvSpPr>
        <p:spPr>
          <a:xfrm>
            <a:off x="5577840" y="2560320"/>
            <a:ext cx="5760720" cy="822960"/>
          </a:xfrm>
          <a:prstGeom prst="rect">
            <a:avLst/>
          </a:prstGeom>
          <a:noFill/>
          <a:ln/>
        </p:spPr>
        <p:txBody>
          <a:bodyPr wrap="square" lIns="0" tIns="0" rIns="0" bIns="0" rtlCol="0" anchor="ctr"/>
          <a:lstStyle/>
          <a:p>
            <a:pPr indent="0" marL="0">
              <a:lnSpc>
                <a:spcPts val="1700"/>
              </a:lnSpc>
              <a:buNone/>
            </a:pPr>
            <a:r>
              <a:rPr lang="en-US" sz="1150" dirty="0">
                <a:solidFill>
                  <a:srgbClr val="B9C0C8"/>
                </a:solidFill>
                <a:latin typeface="Calibri" pitchFamily="34" charset="0"/>
                <a:ea typeface="Calibri" pitchFamily="34" charset="-122"/>
                <a:cs typeface="Calibri" pitchFamily="34" charset="-120"/>
              </a:rPr>
              <a:t>The full-scale path (LogN 16, 128as) completes in 74 seconds on the existing 15 GB host — measured, not estimated. There is nothing left to provision for.</a:t>
            </a:r>
            <a:endParaRPr lang="en-US" sz="1150" dirty="0"/>
          </a:p>
        </p:txBody>
      </p:sp>
      <p:sp>
        <p:nvSpPr>
          <p:cNvPr id="8" name="Shape 6"/>
          <p:cNvSpPr/>
          <p:nvPr/>
        </p:nvSpPr>
        <p:spPr>
          <a:xfrm>
            <a:off x="658368" y="3886200"/>
            <a:ext cx="10881360" cy="1325880"/>
          </a:xfrm>
          <a:prstGeom prst="rect">
            <a:avLst/>
          </a:prstGeom>
          <a:solidFill>
            <a:srgbClr val="27313D"/>
          </a:solidFill>
          <a:ln w="12700">
            <a:solidFill>
              <a:srgbClr val="3D4855"/>
            </a:solidFill>
            <a:prstDash val="solid"/>
          </a:ln>
        </p:spPr>
      </p:sp>
      <p:sp>
        <p:nvSpPr>
          <p:cNvPr id="9" name="Text 7"/>
          <p:cNvSpPr/>
          <p:nvPr/>
        </p:nvSpPr>
        <p:spPr>
          <a:xfrm>
            <a:off x="1024128" y="4087368"/>
            <a:ext cx="1463040" cy="237744"/>
          </a:xfrm>
          <a:prstGeom prst="rect">
            <a:avLst/>
          </a:prstGeom>
          <a:noFill/>
          <a:ln/>
        </p:spPr>
        <p:txBody>
          <a:bodyPr wrap="square" lIns="0" tIns="0" rIns="0" bIns="0" rtlCol="0" anchor="ctr"/>
          <a:lstStyle/>
          <a:p>
            <a:pPr indent="0" marL="0">
              <a:buNone/>
            </a:pPr>
            <a:r>
              <a:rPr lang="en-US" sz="950" b="1" spc="140" kern="0" dirty="0">
                <a:solidFill>
                  <a:srgbClr val="9A6A28"/>
                </a:solidFill>
                <a:latin typeface="Calibri" pitchFamily="34" charset="0"/>
                <a:ea typeface="Calibri" pitchFamily="34" charset="-122"/>
                <a:cs typeface="Calibri" pitchFamily="34" charset="-120"/>
              </a:rPr>
              <a:t>THEN</a:t>
            </a:r>
            <a:endParaRPr lang="en-US" sz="950" dirty="0"/>
          </a:p>
        </p:txBody>
      </p:sp>
      <p:sp>
        <p:nvSpPr>
          <p:cNvPr id="10" name="Text 8"/>
          <p:cNvSpPr/>
          <p:nvPr/>
        </p:nvSpPr>
        <p:spPr>
          <a:xfrm>
            <a:off x="1024128" y="4361688"/>
            <a:ext cx="4572000" cy="310896"/>
          </a:xfrm>
          <a:prstGeom prst="rect">
            <a:avLst/>
          </a:prstGeom>
          <a:noFill/>
          <a:ln/>
        </p:spPr>
        <p:txBody>
          <a:bodyPr wrap="square" lIns="0" tIns="0" rIns="0" bIns="0" rtlCol="0" anchor="ctr"/>
          <a:lstStyle/>
          <a:p>
            <a:pPr indent="0" marL="0">
              <a:buNone/>
            </a:pPr>
            <a:r>
              <a:rPr lang="en-US" sz="1550" b="1" dirty="0">
                <a:solidFill>
                  <a:srgbClr val="F6F3EC"/>
                </a:solidFill>
                <a:latin typeface="Calibri" pitchFamily="34" charset="0"/>
                <a:ea typeface="Calibri" pitchFamily="34" charset="-122"/>
                <a:cs typeface="Calibri" pitchFamily="34" charset="-120"/>
              </a:rPr>
              <a:t>Fix the preflight gate</a:t>
            </a:r>
            <a:endParaRPr lang="en-US" sz="1550" dirty="0"/>
          </a:p>
        </p:txBody>
      </p:sp>
      <p:sp>
        <p:nvSpPr>
          <p:cNvPr id="11" name="Text 9"/>
          <p:cNvSpPr/>
          <p:nvPr/>
        </p:nvSpPr>
        <p:spPr>
          <a:xfrm>
            <a:off x="5577840" y="4160520"/>
            <a:ext cx="5760720" cy="822960"/>
          </a:xfrm>
          <a:prstGeom prst="rect">
            <a:avLst/>
          </a:prstGeom>
          <a:noFill/>
          <a:ln/>
        </p:spPr>
        <p:txBody>
          <a:bodyPr wrap="square" lIns="0" tIns="0" rIns="0" bIns="0" rtlCol="0" anchor="ctr"/>
          <a:lstStyle/>
          <a:p>
            <a:pPr indent="0" marL="0">
              <a:lnSpc>
                <a:spcPts val="1700"/>
              </a:lnSpc>
              <a:buNone/>
            </a:pPr>
            <a:r>
              <a:rPr lang="en-US" sz="1150" dirty="0">
                <a:solidFill>
                  <a:srgbClr val="B9C0C8"/>
                </a:solidFill>
                <a:latin typeface="Calibri" pitchFamily="34" charset="0"/>
                <a:ea typeface="Calibri" pitchFamily="34" charset="-122"/>
                <a:cs typeface="Calibri" pitchFamily="34" charset="-120"/>
              </a:rPr>
              <a:t>scripts/cloud_transcipher_bench/run_benchmark.sh refuses to start below a ~90 GB preflight check — 9.4× the measured peak. It would reject a job that already runs locally. I'd like to revise it before anyone hits it.</a:t>
            </a:r>
            <a:endParaRPr lang="en-US" sz="1150" dirty="0"/>
          </a:p>
        </p:txBody>
      </p:sp>
      <p:sp>
        <p:nvSpPr>
          <p:cNvPr id="12" name="Text 10"/>
          <p:cNvSpPr/>
          <p:nvPr/>
        </p:nvSpPr>
        <p:spPr>
          <a:xfrm>
            <a:off x="658368" y="5669280"/>
            <a:ext cx="10881360" cy="365760"/>
          </a:xfrm>
          <a:prstGeom prst="rect">
            <a:avLst/>
          </a:prstGeom>
          <a:noFill/>
          <a:ln/>
        </p:spPr>
        <p:txBody>
          <a:bodyPr wrap="square" lIns="0" tIns="0" rIns="0" bIns="0" rtlCol="0" anchor="ctr"/>
          <a:lstStyle/>
          <a:p>
            <a:pPr indent="0" marL="0">
              <a:buNone/>
            </a:pPr>
            <a:r>
              <a:rPr lang="en-US" sz="1200" i="1" dirty="0">
                <a:solidFill>
                  <a:srgbClr val="E4D8BF"/>
                </a:solidFill>
                <a:latin typeface="Calibri" pitchFamily="34" charset="0"/>
                <a:ea typeface="Calibri" pitchFamily="34" charset="-122"/>
                <a:cs typeface="Calibri" pitchFamily="34" charset="-120"/>
              </a:rPr>
              <a:t>The cloud-instance decision that used to gate this project is resolved: nothing here is blocked on hardware anymore. What's left — breakeven numbers, batching, the real circuit — is work, not procurement.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13 · FINDING 5</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Precision is not the binding constraint</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389888"/>
            <a:ext cx="10241280" cy="256032"/>
          </a:xfrm>
          <a:prstGeom prst="rect">
            <a:avLst/>
          </a:prstGeom>
          <a:noFill/>
          <a:ln/>
        </p:spPr>
        <p:txBody>
          <a:bodyPr wrap="square" lIns="0" tIns="0" rIns="0" bIns="0" rtlCol="0" anchor="ctr"/>
          <a:lstStyle/>
          <a:p>
            <a:pPr indent="0" marL="0">
              <a:buNone/>
            </a:pPr>
            <a:r>
              <a:rPr lang="en-US" sz="1150" dirty="0">
                <a:solidFill>
                  <a:srgbClr val="3B4650"/>
                </a:solidFill>
                <a:latin typeface="Calibri" pitchFamily="34" charset="0"/>
                <a:ea typeface="Calibri" pitchFamily="34" charset="-122"/>
                <a:cs typeface="Calibri" pitchFamily="34" charset="-120"/>
              </a:rPr>
              <a:t>Quantised input features against the float LR surrogate, AUC 0.9794 / AUPRC 0.8238 — artifacts/quantisation_sweep.json</a:t>
            </a:r>
            <a:endParaRPr lang="en-US" sz="1150" dirty="0"/>
          </a:p>
        </p:txBody>
      </p:sp>
      <p:sp>
        <p:nvSpPr>
          <p:cNvPr id="7" name="Shape 5"/>
          <p:cNvSpPr/>
          <p:nvPr/>
        </p:nvSpPr>
        <p:spPr>
          <a:xfrm>
            <a:off x="658368" y="1750000"/>
            <a:ext cx="2514600" cy="1143000"/>
          </a:xfrm>
          <a:prstGeom prst="rect">
            <a:avLst/>
          </a:prstGeom>
          <a:solidFill>
            <a:srgbClr val="FFFFFF"/>
          </a:solidFill>
          <a:ln w="12700">
            <a:solidFill>
              <a:srgbClr val="D3CCC0"/>
            </a:solidFill>
            <a:prstDash val="solid"/>
          </a:ln>
        </p:spPr>
      </p:sp>
      <p:sp>
        <p:nvSpPr>
          <p:cNvPr id="8" name="Text 6"/>
          <p:cNvSpPr/>
          <p:nvPr/>
        </p:nvSpPr>
        <p:spPr>
          <a:xfrm>
            <a:off x="658368" y="1942024"/>
            <a:ext cx="2514600" cy="438912"/>
          </a:xfrm>
          <a:prstGeom prst="rect">
            <a:avLst/>
          </a:prstGeom>
          <a:noFill/>
          <a:ln/>
        </p:spPr>
        <p:txBody>
          <a:bodyPr wrap="square" lIns="0" tIns="0" rIns="0" bIns="0" rtlCol="0" anchor="ctr"/>
          <a:lstStyle/>
          <a:p>
            <a:pPr algn="ctr" indent="0" marL="0">
              <a:buNone/>
            </a:pPr>
            <a:r>
              <a:rPr lang="en-US" sz="2000" dirty="0">
                <a:solidFill>
                  <a:srgbClr val="1C2530"/>
                </a:solidFill>
                <a:latin typeface="Century Schoolbook" pitchFamily="34" charset="0"/>
                <a:ea typeface="Century Schoolbook" pitchFamily="34" charset="-122"/>
                <a:cs typeface="Century Schoolbook" pitchFamily="34" charset="-120"/>
              </a:rPr>
              <a:t>10 bits</a:t>
            </a:r>
            <a:endParaRPr lang="en-US" sz="2000" dirty="0"/>
          </a:p>
        </p:txBody>
      </p:sp>
      <p:sp>
        <p:nvSpPr>
          <p:cNvPr id="9" name="Text 7"/>
          <p:cNvSpPr/>
          <p:nvPr/>
        </p:nvSpPr>
        <p:spPr>
          <a:xfrm>
            <a:off x="658368" y="2417512"/>
            <a:ext cx="2514600" cy="274320"/>
          </a:xfrm>
          <a:prstGeom prst="rect">
            <a:avLst/>
          </a:prstGeom>
          <a:noFill/>
          <a:ln/>
        </p:spPr>
        <p:txBody>
          <a:bodyPr wrap="square" lIns="0" tIns="0" rIns="0" bIns="0" rtlCol="0" anchor="ctr"/>
          <a:lstStyle/>
          <a:p>
            <a:pPr algn="ctr" indent="0" marL="0">
              <a:buNone/>
            </a:pPr>
            <a:r>
              <a:rPr lang="en-US" sz="1000" dirty="0">
                <a:solidFill>
                  <a:srgbClr val="3B4650"/>
                </a:solidFill>
                <a:latin typeface="Calibri" pitchFamily="34" charset="0"/>
                <a:ea typeface="Calibri" pitchFamily="34" charset="-122"/>
                <a:cs typeface="Calibri" pitchFamily="34" charset="-120"/>
              </a:rPr>
              <a:t>sufficient depth (ΔAUC &lt; 0.005)</a:t>
            </a:r>
            <a:endParaRPr lang="en-US" sz="1000" dirty="0"/>
          </a:p>
        </p:txBody>
      </p:sp>
      <p:sp>
        <p:nvSpPr>
          <p:cNvPr id="10" name="Shape 8"/>
          <p:cNvSpPr/>
          <p:nvPr/>
        </p:nvSpPr>
        <p:spPr>
          <a:xfrm>
            <a:off x="3447288" y="1750000"/>
            <a:ext cx="2514600" cy="1143000"/>
          </a:xfrm>
          <a:prstGeom prst="rect">
            <a:avLst/>
          </a:prstGeom>
          <a:solidFill>
            <a:srgbClr val="FFFFFF"/>
          </a:solidFill>
          <a:ln w="12700">
            <a:solidFill>
              <a:srgbClr val="D3CCC0"/>
            </a:solidFill>
            <a:prstDash val="solid"/>
          </a:ln>
        </p:spPr>
      </p:sp>
      <p:sp>
        <p:nvSpPr>
          <p:cNvPr id="11" name="Text 9"/>
          <p:cNvSpPr/>
          <p:nvPr/>
        </p:nvSpPr>
        <p:spPr>
          <a:xfrm>
            <a:off x="3447288" y="1942024"/>
            <a:ext cx="2514600" cy="438912"/>
          </a:xfrm>
          <a:prstGeom prst="rect">
            <a:avLst/>
          </a:prstGeom>
          <a:noFill/>
          <a:ln/>
        </p:spPr>
        <p:txBody>
          <a:bodyPr wrap="square" lIns="0" tIns="0" rIns="0" bIns="0" rtlCol="0" anchor="ctr"/>
          <a:lstStyle/>
          <a:p>
            <a:pPr algn="ctr" indent="0" marL="0">
              <a:buNone/>
            </a:pPr>
            <a:r>
              <a:rPr lang="en-US" sz="2000" dirty="0">
                <a:solidFill>
                  <a:srgbClr val="1C2530"/>
                </a:solidFill>
                <a:latin typeface="Century Schoolbook" pitchFamily="34" charset="0"/>
                <a:ea typeface="Century Schoolbook" pitchFamily="34" charset="-122"/>
                <a:cs typeface="Century Schoolbook" pitchFamily="34" charset="-120"/>
              </a:rPr>
              <a:t>16 bits</a:t>
            </a:r>
            <a:endParaRPr lang="en-US" sz="2000" dirty="0"/>
          </a:p>
        </p:txBody>
      </p:sp>
      <p:sp>
        <p:nvSpPr>
          <p:cNvPr id="12" name="Text 10"/>
          <p:cNvSpPr/>
          <p:nvPr/>
        </p:nvSpPr>
        <p:spPr>
          <a:xfrm>
            <a:off x="3447288" y="2417512"/>
            <a:ext cx="2514600" cy="274320"/>
          </a:xfrm>
          <a:prstGeom prst="rect">
            <a:avLst/>
          </a:prstGeom>
          <a:noFill/>
          <a:ln/>
        </p:spPr>
        <p:txBody>
          <a:bodyPr wrap="square" lIns="0" tIns="0" rIns="0" bIns="0" rtlCol="0" anchor="ctr"/>
          <a:lstStyle/>
          <a:p>
            <a:pPr algn="ctr" indent="0" marL="0">
              <a:buNone/>
            </a:pPr>
            <a:r>
              <a:rPr lang="en-US" sz="1000" dirty="0">
                <a:solidFill>
                  <a:srgbClr val="3B4650"/>
                </a:solidFill>
                <a:latin typeface="Calibri" pitchFamily="34" charset="0"/>
                <a:ea typeface="Calibri" pitchFamily="34" charset="-122"/>
                <a:cs typeface="Calibri" pitchFamily="34" charset="-120"/>
              </a:rPr>
              <a:t>headroom under t = 2²⁶</a:t>
            </a:r>
            <a:endParaRPr lang="en-US" sz="1000" dirty="0"/>
          </a:p>
        </p:txBody>
      </p:sp>
      <p:sp>
        <p:nvSpPr>
          <p:cNvPr id="13" name="Shape 11"/>
          <p:cNvSpPr/>
          <p:nvPr/>
        </p:nvSpPr>
        <p:spPr>
          <a:xfrm>
            <a:off x="6236208" y="1750000"/>
            <a:ext cx="2514600" cy="1143000"/>
          </a:xfrm>
          <a:prstGeom prst="rect">
            <a:avLst/>
          </a:prstGeom>
          <a:solidFill>
            <a:srgbClr val="FFFFFF"/>
          </a:solidFill>
          <a:ln w="12700">
            <a:solidFill>
              <a:srgbClr val="D3CCC0"/>
            </a:solidFill>
            <a:prstDash val="solid"/>
          </a:ln>
        </p:spPr>
      </p:sp>
      <p:sp>
        <p:nvSpPr>
          <p:cNvPr id="14" name="Text 12"/>
          <p:cNvSpPr/>
          <p:nvPr/>
        </p:nvSpPr>
        <p:spPr>
          <a:xfrm>
            <a:off x="6236208" y="1942024"/>
            <a:ext cx="2514600" cy="438912"/>
          </a:xfrm>
          <a:prstGeom prst="rect">
            <a:avLst/>
          </a:prstGeom>
          <a:noFill/>
          <a:ln/>
        </p:spPr>
        <p:txBody>
          <a:bodyPr wrap="square" lIns="0" tIns="0" rIns="0" bIns="0" rtlCol="0" anchor="ctr"/>
          <a:lstStyle/>
          <a:p>
            <a:pPr algn="ctr" indent="0" marL="0">
              <a:buNone/>
            </a:pPr>
            <a:r>
              <a:rPr lang="en-US" sz="1700" dirty="0">
                <a:solidFill>
                  <a:srgbClr val="1C2530"/>
                </a:solidFill>
                <a:latin typeface="Century Schoolbook" pitchFamily="34" charset="0"/>
                <a:ea typeface="Century Schoolbook" pitchFamily="34" charset="-122"/>
                <a:cs typeface="Century Schoolbook" pitchFamily="34" charset="-120"/>
              </a:rPr>
              <a:t>8.5e-3 → 1.3e-7</a:t>
            </a:r>
            <a:endParaRPr lang="en-US" sz="1700" dirty="0"/>
          </a:p>
        </p:txBody>
      </p:sp>
      <p:sp>
        <p:nvSpPr>
          <p:cNvPr id="15" name="Text 13"/>
          <p:cNvSpPr/>
          <p:nvPr/>
        </p:nvSpPr>
        <p:spPr>
          <a:xfrm>
            <a:off x="6236208" y="2417512"/>
            <a:ext cx="2514600" cy="274320"/>
          </a:xfrm>
          <a:prstGeom prst="rect">
            <a:avLst/>
          </a:prstGeom>
          <a:noFill/>
          <a:ln/>
        </p:spPr>
        <p:txBody>
          <a:bodyPr wrap="square" lIns="0" tIns="0" rIns="0" bIns="0" rtlCol="0" anchor="ctr"/>
          <a:lstStyle/>
          <a:p>
            <a:pPr algn="ctr" indent="0" marL="0">
              <a:buNone/>
            </a:pPr>
            <a:r>
              <a:rPr lang="en-US" sz="1000" dirty="0">
                <a:solidFill>
                  <a:srgbClr val="3B4650"/>
                </a:solidFill>
                <a:latin typeface="Calibri" pitchFamily="34" charset="0"/>
                <a:ea typeface="Calibri" pitchFamily="34" charset="-122"/>
                <a:cs typeface="Calibri" pitchFamily="34" charset="-120"/>
              </a:rPr>
              <a:t>logit Δmax, 10→26 bits</a:t>
            </a:r>
            <a:endParaRPr lang="en-US" sz="1000" dirty="0"/>
          </a:p>
        </p:txBody>
      </p:sp>
      <p:sp>
        <p:nvSpPr>
          <p:cNvPr id="16" name="Shape 14"/>
          <p:cNvSpPr/>
          <p:nvPr/>
        </p:nvSpPr>
        <p:spPr>
          <a:xfrm>
            <a:off x="9052560" y="1750000"/>
            <a:ext cx="2468880" cy="1143000"/>
          </a:xfrm>
          <a:prstGeom prst="rect">
            <a:avLst/>
          </a:prstGeom>
          <a:solidFill>
            <a:srgbClr val="1C2530"/>
          </a:solidFill>
          <a:ln w="12700">
            <a:solidFill>
              <a:srgbClr val="1C2530"/>
            </a:solidFill>
            <a:prstDash val="solid"/>
          </a:ln>
        </p:spPr>
      </p:sp>
      <p:sp>
        <p:nvSpPr>
          <p:cNvPr id="17" name="Text 15"/>
          <p:cNvSpPr/>
          <p:nvPr/>
        </p:nvSpPr>
        <p:spPr>
          <a:xfrm>
            <a:off x="9052560" y="1905448"/>
            <a:ext cx="2468880" cy="457200"/>
          </a:xfrm>
          <a:prstGeom prst="rect">
            <a:avLst/>
          </a:prstGeom>
          <a:noFill/>
          <a:ln/>
        </p:spPr>
        <p:txBody>
          <a:bodyPr wrap="square" lIns="0" tIns="0" rIns="0" bIns="0" rtlCol="0" anchor="ctr"/>
          <a:lstStyle/>
          <a:p>
            <a:pPr algn="ctr" indent="0" marL="0">
              <a:buNone/>
            </a:pPr>
            <a:r>
              <a:rPr lang="en-US" sz="1900" dirty="0">
                <a:solidFill>
                  <a:srgbClr val="F6F3EC"/>
                </a:solidFill>
                <a:latin typeface="Century Schoolbook" pitchFamily="34" charset="0"/>
                <a:ea typeface="Century Schoolbook" pitchFamily="34" charset="-122"/>
                <a:cs typeface="Century Schoolbook" pitchFamily="34" charset="-120"/>
              </a:rPr>
              <a:t>NOT BINDING</a:t>
            </a:r>
            <a:endParaRPr lang="en-US" sz="1900" dirty="0"/>
          </a:p>
        </p:txBody>
      </p:sp>
      <p:sp>
        <p:nvSpPr>
          <p:cNvPr id="18" name="Text 16"/>
          <p:cNvSpPr/>
          <p:nvPr/>
        </p:nvSpPr>
        <p:spPr>
          <a:xfrm>
            <a:off x="9052560" y="2399224"/>
            <a:ext cx="2468880" cy="274320"/>
          </a:xfrm>
          <a:prstGeom prst="rect">
            <a:avLst/>
          </a:prstGeom>
          <a:noFill/>
          <a:ln/>
        </p:spPr>
        <p:txBody>
          <a:bodyPr wrap="square" lIns="0" tIns="0" rIns="0" bIns="0" rtlCol="0" anchor="ctr"/>
          <a:lstStyle/>
          <a:p>
            <a:pPr algn="ctr" indent="0" marL="0">
              <a:buNone/>
            </a:pPr>
            <a:r>
              <a:rPr lang="en-US" sz="950" dirty="0">
                <a:solidFill>
                  <a:srgbClr val="A9B2BB"/>
                </a:solidFill>
                <a:latin typeface="Calibri" pitchFamily="34" charset="0"/>
                <a:ea typeface="Calibri" pitchFamily="34" charset="-122"/>
                <a:cs typeface="Calibri" pitchFamily="34" charset="-120"/>
              </a:rPr>
              <a:t>feature precision is not the constraint</a:t>
            </a:r>
            <a:endParaRPr lang="en-US" sz="950" dirty="0"/>
          </a:p>
        </p:txBody>
      </p:sp>
      <p:sp>
        <p:nvSpPr>
          <p:cNvPr id="19" name="Text 17"/>
          <p:cNvSpPr/>
          <p:nvPr/>
        </p:nvSpPr>
        <p:spPr>
          <a:xfrm>
            <a:off x="658368" y="2993000"/>
            <a:ext cx="10881360" cy="32004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Verdict: feature precision is not the binding constraint — 16 of 26 plaintext-modulus bits are unused headroom.</a:t>
            </a:r>
            <a:endParaRPr lang="en-US" sz="1300" dirty="0"/>
          </a:p>
        </p:txBody>
      </p:sp>
      <p:sp>
        <p:nvSpPr>
          <p:cNvPr id="20" name="Shape 18"/>
          <p:cNvSpPr/>
          <p:nvPr/>
        </p:nvSpPr>
        <p:spPr>
          <a:xfrm>
            <a:off x="658368" y="3450000"/>
            <a:ext cx="3402346" cy="1050000"/>
          </a:xfrm>
          <a:prstGeom prst="rect">
            <a:avLst/>
          </a:prstGeom>
          <a:solidFill>
            <a:srgbClr val="FFFFFF"/>
          </a:solidFill>
          <a:ln w="12700">
            <a:solidFill>
              <a:srgbClr val="D3CCC0"/>
            </a:solidFill>
            <a:prstDash val="solid"/>
          </a:ln>
        </p:spPr>
      </p:sp>
      <p:sp>
        <p:nvSpPr>
          <p:cNvPr id="21" name="Text 19"/>
          <p:cNvSpPr/>
          <p:nvPr/>
        </p:nvSpPr>
        <p:spPr>
          <a:xfrm>
            <a:off x="658368" y="3570000"/>
            <a:ext cx="3402346" cy="237744"/>
          </a:xfrm>
          <a:prstGeom prst="rect">
            <a:avLst/>
          </a:prstGeom>
          <a:noFill/>
          <a:ln/>
        </p:spPr>
        <p:txBody>
          <a:bodyPr wrap="square" lIns="0" tIns="0" rIns="0" bIns="0" rtlCol="0" anchor="ctr"/>
          <a:lstStyle/>
          <a:p>
            <a:pPr algn="ctr" indent="0" marL="0">
              <a:buNone/>
            </a:pPr>
            <a:r>
              <a:rPr lang="en-US" sz="1100" b="1" spc="60" dirty="0">
                <a:solidFill>
                  <a:srgbClr val="1C2530"/>
                </a:solidFill>
                <a:latin typeface="Calibri" pitchFamily="34" charset="0"/>
                <a:ea typeface="Calibri" pitchFamily="34" charset="-122"/>
                <a:cs typeface="Calibri" pitchFamily="34" charset="-120"/>
              </a:rPr>
              <a:t>MAX-F1</a:t>
            </a:r>
            <a:endParaRPr lang="en-US" sz="1100" dirty="0"/>
          </a:p>
        </p:txBody>
      </p:sp>
      <p:sp>
        <p:nvSpPr>
          <p:cNvPr id="22" name="Text 20"/>
          <p:cNvSpPr/>
          <p:nvPr/>
        </p:nvSpPr>
        <p:spPr>
          <a:xfrm>
            <a:off x="658368" y="3900000"/>
            <a:ext cx="3402346" cy="384048"/>
          </a:xfrm>
          <a:prstGeom prst="rect">
            <a:avLst/>
          </a:prstGeom>
          <a:noFill/>
          <a:ln/>
        </p:spPr>
        <p:txBody>
          <a:bodyPr wrap="square" lIns="0" tIns="0" rIns="0" bIns="0" rtlCol="0" anchor="ctr"/>
          <a:lstStyle/>
          <a:p>
            <a:pPr algn="ctr" indent="0" marL="0">
              <a:buNone/>
            </a:pPr>
            <a:r>
              <a:rPr lang="en-US" sz="1600" b="1" dirty="0">
                <a:solidFill>
                  <a:srgbClr val="1C2530"/>
                </a:solidFill>
                <a:latin typeface="Century Schoolbook" pitchFamily="34" charset="0"/>
                <a:ea typeface="Century Schoolbook" pitchFamily="34" charset="-122"/>
                <a:cs typeface="Century Schoolbook" pitchFamily="34" charset="-120"/>
              </a:rPr>
              <a:t>t = 0.3928</a:t>
            </a:r>
            <a:endParaRPr lang="en-US" sz="1600" dirty="0"/>
          </a:p>
        </p:txBody>
      </p:sp>
      <p:sp>
        <p:nvSpPr>
          <p:cNvPr id="23" name="Text 21"/>
          <p:cNvSpPr/>
          <p:nvPr/>
        </p:nvSpPr>
        <p:spPr>
          <a:xfrm>
            <a:off x="658368" y="4330000"/>
            <a:ext cx="3402346" cy="237744"/>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P 0.794 · R 0.827</a:t>
            </a:r>
            <a:endParaRPr lang="en-US" sz="950" dirty="0"/>
          </a:p>
        </p:txBody>
      </p:sp>
      <p:sp>
        <p:nvSpPr>
          <p:cNvPr id="24" name="Shape 22"/>
          <p:cNvSpPr/>
          <p:nvPr/>
        </p:nvSpPr>
        <p:spPr>
          <a:xfrm>
            <a:off x="4260714" y="3450000"/>
            <a:ext cx="3402346" cy="1050000"/>
          </a:xfrm>
          <a:prstGeom prst="rect">
            <a:avLst/>
          </a:prstGeom>
          <a:solidFill>
            <a:srgbClr val="FFFFFF"/>
          </a:solidFill>
          <a:ln w="12700">
            <a:solidFill>
              <a:srgbClr val="D3CCC0"/>
            </a:solidFill>
            <a:prstDash val="solid"/>
          </a:ln>
        </p:spPr>
      </p:sp>
      <p:sp>
        <p:nvSpPr>
          <p:cNvPr id="25" name="Text 23"/>
          <p:cNvSpPr/>
          <p:nvPr/>
        </p:nvSpPr>
        <p:spPr>
          <a:xfrm>
            <a:off x="4260714" y="3570000"/>
            <a:ext cx="3402346" cy="237744"/>
          </a:xfrm>
          <a:prstGeom prst="rect">
            <a:avLst/>
          </a:prstGeom>
          <a:noFill/>
          <a:ln/>
        </p:spPr>
        <p:txBody>
          <a:bodyPr wrap="square" lIns="0" tIns="0" rIns="0" bIns="0" rtlCol="0" anchor="ctr"/>
          <a:lstStyle/>
          <a:p>
            <a:pPr algn="ctr" indent="0" marL="0">
              <a:buNone/>
            </a:pPr>
            <a:r>
              <a:rPr lang="en-US" sz="1100" b="1" spc="60" dirty="0">
                <a:solidFill>
                  <a:srgbClr val="1C2530"/>
                </a:solidFill>
                <a:latin typeface="Calibri" pitchFamily="34" charset="0"/>
                <a:ea typeface="Calibri" pitchFamily="34" charset="-122"/>
                <a:cs typeface="Calibri" pitchFamily="34" charset="-120"/>
              </a:rPr>
              <a:t>RECALL-90</a:t>
            </a:r>
            <a:endParaRPr lang="en-US" sz="1100" dirty="0"/>
          </a:p>
        </p:txBody>
      </p:sp>
      <p:sp>
        <p:nvSpPr>
          <p:cNvPr id="26" name="Text 24"/>
          <p:cNvSpPr/>
          <p:nvPr/>
        </p:nvSpPr>
        <p:spPr>
          <a:xfrm>
            <a:off x="4260714" y="3900000"/>
            <a:ext cx="3402346" cy="384048"/>
          </a:xfrm>
          <a:prstGeom prst="rect">
            <a:avLst/>
          </a:prstGeom>
          <a:noFill/>
          <a:ln/>
        </p:spPr>
        <p:txBody>
          <a:bodyPr wrap="square" lIns="0" tIns="0" rIns="0" bIns="0" rtlCol="0" anchor="ctr"/>
          <a:lstStyle/>
          <a:p>
            <a:pPr algn="ctr" indent="0" marL="0">
              <a:buNone/>
            </a:pPr>
            <a:r>
              <a:rPr lang="en-US" sz="1600" b="1" dirty="0">
                <a:solidFill>
                  <a:srgbClr val="1C2530"/>
                </a:solidFill>
                <a:latin typeface="Century Schoolbook" pitchFamily="34" charset="0"/>
                <a:ea typeface="Century Schoolbook" pitchFamily="34" charset="-122"/>
                <a:cs typeface="Century Schoolbook" pitchFamily="34" charset="-120"/>
              </a:rPr>
              <a:t>t = 0.00158</a:t>
            </a:r>
            <a:endParaRPr lang="en-US" sz="1600" dirty="0"/>
          </a:p>
        </p:txBody>
      </p:sp>
      <p:sp>
        <p:nvSpPr>
          <p:cNvPr id="27" name="Text 25"/>
          <p:cNvSpPr/>
          <p:nvPr/>
        </p:nvSpPr>
        <p:spPr>
          <a:xfrm>
            <a:off x="4260714" y="4330000"/>
            <a:ext cx="3402346" cy="237744"/>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R 0.908 · P 0.083</a:t>
            </a:r>
            <a:endParaRPr lang="en-US" sz="950" dirty="0"/>
          </a:p>
        </p:txBody>
      </p:sp>
      <p:sp>
        <p:nvSpPr>
          <p:cNvPr id="28" name="Shape 26"/>
          <p:cNvSpPr/>
          <p:nvPr/>
        </p:nvSpPr>
        <p:spPr>
          <a:xfrm>
            <a:off x="7863060" y="3450000"/>
            <a:ext cx="3402348" cy="1050000"/>
          </a:xfrm>
          <a:prstGeom prst="rect">
            <a:avLst/>
          </a:prstGeom>
          <a:solidFill>
            <a:srgbClr val="FFFFFF"/>
          </a:solidFill>
          <a:ln w="12700">
            <a:solidFill>
              <a:srgbClr val="D3CCC0"/>
            </a:solidFill>
            <a:prstDash val="solid"/>
          </a:ln>
        </p:spPr>
      </p:sp>
      <p:sp>
        <p:nvSpPr>
          <p:cNvPr id="29" name="Text 27"/>
          <p:cNvSpPr/>
          <p:nvPr/>
        </p:nvSpPr>
        <p:spPr>
          <a:xfrm>
            <a:off x="7863060" y="3570000"/>
            <a:ext cx="3402348" cy="237744"/>
          </a:xfrm>
          <a:prstGeom prst="rect">
            <a:avLst/>
          </a:prstGeom>
          <a:noFill/>
          <a:ln/>
        </p:spPr>
        <p:txBody>
          <a:bodyPr wrap="square" lIns="0" tIns="0" rIns="0" bIns="0" rtlCol="0" anchor="ctr"/>
          <a:lstStyle/>
          <a:p>
            <a:pPr algn="ctr" indent="0" marL="0">
              <a:buNone/>
            </a:pPr>
            <a:r>
              <a:rPr lang="en-US" sz="1100" b="1" spc="60" dirty="0">
                <a:solidFill>
                  <a:srgbClr val="1C2530"/>
                </a:solidFill>
                <a:latin typeface="Calibri" pitchFamily="34" charset="0"/>
                <a:ea typeface="Calibri" pitchFamily="34" charset="-122"/>
                <a:cs typeface="Calibri" pitchFamily="34" charset="-120"/>
              </a:rPr>
              <a:t>RECALL-95</a:t>
            </a:r>
            <a:endParaRPr lang="en-US" sz="1100" dirty="0"/>
          </a:p>
        </p:txBody>
      </p:sp>
      <p:sp>
        <p:nvSpPr>
          <p:cNvPr id="30" name="Text 28"/>
          <p:cNvSpPr/>
          <p:nvPr/>
        </p:nvSpPr>
        <p:spPr>
          <a:xfrm>
            <a:off x="7863060" y="3900000"/>
            <a:ext cx="3402348" cy="384048"/>
          </a:xfrm>
          <a:prstGeom prst="rect">
            <a:avLst/>
          </a:prstGeom>
          <a:noFill/>
          <a:ln/>
        </p:spPr>
        <p:txBody>
          <a:bodyPr wrap="square" lIns="0" tIns="0" rIns="0" bIns="0" rtlCol="0" anchor="ctr"/>
          <a:lstStyle/>
          <a:p>
            <a:pPr algn="ctr" indent="0" marL="0">
              <a:buNone/>
            </a:pPr>
            <a:r>
              <a:rPr lang="en-US" sz="1600" b="1" dirty="0">
                <a:solidFill>
                  <a:srgbClr val="1C2530"/>
                </a:solidFill>
                <a:latin typeface="Century Schoolbook" pitchFamily="34" charset="0"/>
                <a:ea typeface="Century Schoolbook" pitchFamily="34" charset="-122"/>
                <a:cs typeface="Century Schoolbook" pitchFamily="34" charset="-120"/>
              </a:rPr>
              <a:t>t = 0.00044</a:t>
            </a:r>
            <a:endParaRPr lang="en-US" sz="1600" dirty="0"/>
          </a:p>
        </p:txBody>
      </p:sp>
      <p:sp>
        <p:nvSpPr>
          <p:cNvPr id="31" name="Text 29"/>
          <p:cNvSpPr/>
          <p:nvPr/>
        </p:nvSpPr>
        <p:spPr>
          <a:xfrm>
            <a:off x="7863060" y="4330000"/>
            <a:ext cx="3402348" cy="237744"/>
          </a:xfrm>
          <a:prstGeom prst="rect">
            <a:avLst/>
          </a:prstGeom>
          <a:noFill/>
          <a:ln/>
        </p:spPr>
        <p:txBody>
          <a:bodyPr wrap="square" lIns="0" tIns="0" rIns="0" bIns="0" rtlCol="0" anchor="ctr"/>
          <a:lstStyle/>
          <a:p>
            <a:pPr algn="ctr" indent="0" marL="0">
              <a:buNone/>
            </a:pPr>
            <a:r>
              <a:rPr lang="en-US" sz="950" dirty="0">
                <a:solidFill>
                  <a:srgbClr val="3B4650"/>
                </a:solidFill>
                <a:latin typeface="Calibri" pitchFamily="34" charset="0"/>
                <a:ea typeface="Calibri" pitchFamily="34" charset="-122"/>
                <a:cs typeface="Calibri" pitchFamily="34" charset="-120"/>
              </a:rPr>
              <a:t>R 0.959 · P 0.016</a:t>
            </a:r>
            <a:endParaRPr lang="en-US" sz="950" dirty="0"/>
          </a:p>
        </p:txBody>
      </p:sp>
      <p:sp>
        <p:nvSpPr>
          <p:cNvPr id="32" name="Text 30"/>
          <p:cNvSpPr/>
          <p:nvPr/>
        </p:nvSpPr>
        <p:spPr>
          <a:xfrm>
            <a:off x="658368" y="4620000"/>
            <a:ext cx="10881360" cy="182880"/>
          </a:xfrm>
          <a:prstGeom prst="rect">
            <a:avLst/>
          </a:prstGeom>
          <a:noFill/>
          <a:ln/>
        </p:spPr>
        <p:txBody>
          <a:bodyPr wrap="square" lIns="0" tIns="0" rIns="0" bIns="0" rtlCol="0" anchor="ctr"/>
          <a:lstStyle/>
          <a:p>
            <a:pPr indent="0" marL="0">
              <a:buNone/>
            </a:pPr>
            <a:r>
              <a:rPr lang="en-US" sz="800" i="1" dirty="0">
                <a:solidFill>
                  <a:srgbClr val="7C848D"/>
                </a:solidFill>
                <a:latin typeface="Calibri" pitchFamily="34" charset="0"/>
                <a:ea typeface="Calibri" pitchFamily="34" charset="-122"/>
                <a:cs typeface="Calibri" pitchFamily="34" charset="-120"/>
              </a:rPr>
              <a:t>No fixed operating threshold exists in the repo — these three are derived from the float baseline for illustration; none is authoritative.</a:t>
            </a:r>
            <a:endParaRPr lang="en-US" sz="800" dirty="0"/>
          </a:p>
        </p:txBody>
      </p:sp>
      <p:sp>
        <p:nvSpPr>
          <p:cNvPr id="33" name="Shape 31"/>
          <p:cNvSpPr/>
          <p:nvPr/>
        </p:nvSpPr>
        <p:spPr>
          <a:xfrm>
            <a:off x="658368" y="4850000"/>
            <a:ext cx="10881360" cy="1350000"/>
          </a:xfrm>
          <a:prstGeom prst="rect">
            <a:avLst/>
          </a:prstGeom>
          <a:solidFill>
            <a:srgbClr val="FFFFFF"/>
          </a:solidFill>
          <a:ln w="12700">
            <a:solidFill>
              <a:srgbClr val="D3CCC0"/>
            </a:solidFill>
            <a:prstDash val="solid"/>
          </a:ln>
        </p:spPr>
      </p:sp>
      <p:sp>
        <p:nvSpPr>
          <p:cNvPr id="34" name="Text 32"/>
          <p:cNvSpPr/>
          <p:nvPr/>
        </p:nvSpPr>
        <p:spPr>
          <a:xfrm>
            <a:off x="914400" y="4978016"/>
            <a:ext cx="10329408"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Why these three, not one</a:t>
            </a:r>
            <a:endParaRPr lang="en-US" sz="1100" dirty="0"/>
          </a:p>
        </p:txBody>
      </p:sp>
      <p:sp>
        <p:nvSpPr>
          <p:cNvPr id="35" name="Text 33"/>
          <p:cNvSpPr/>
          <p:nvPr/>
        </p:nvSpPr>
        <p:spPr>
          <a:xfrm>
            <a:off x="914400" y="5262048"/>
            <a:ext cx="10329408" cy="8500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No production threshold is fixed in the repo — checked spec.md, bank_client, inference_service_160.cpp. The two AUC constants in auc_dispatch.py gate a code path, not a per-sample cutoff. At every threshold tested, 10-bit quantisation caused zero additional missed-fraud cases versus the float baseline.</a:t>
            </a:r>
            <a:endParaRPr lang="en-US" sz="1050" dirty="0"/>
          </a:p>
        </p:txBody>
      </p:sp>
      <p:sp>
        <p:nvSpPr>
          <p:cNvPr id="36" name="Text 34"/>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37" name="Text 35"/>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RtF Transciphering — Progress Report</dc:title>
  <dc:subject>PptxGenJS Presentation</dc:subject>
  <dc:creator>Raghav Pathak</dc:creator>
  <cp:lastModifiedBy>Raghav Pathak</cp:lastModifiedBy>
  <cp:revision>1</cp:revision>
  <dcterms:created xsi:type="dcterms:W3CDTF">2026-08-03T19:03:19Z</dcterms:created>
  <dcterms:modified xsi:type="dcterms:W3CDTF">2026-08-03T19:03:19Z</dcterms:modified>
</cp:coreProperties>
</file>
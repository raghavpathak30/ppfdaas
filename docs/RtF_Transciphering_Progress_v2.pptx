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framing before I start. This is a progress report on one arm of PPFDaaS — the transciphering arm — not the whole project. I'll spend the first half on architecture, because that's where the design decisions live, and the second half on what I actually measured.
Three things I want you to take away: the client side is done and measured, the server-side pipeline is correct end to end at toy scale, and the memory number we've been planning around turns out to be unsupported.
Likely question — "is this in the Indocrypt draft?" Yes, this arm is scoped in. Amiya is co-writing that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of context and then I move on. PPFDaaS is the fraud-scoring pipeline: client encrypts, server runs a model on ciphertext, only the client can read the score. That part is built and benchmarked.
What I'm working on now is the first box only — the client's encryption step. Everything to the right of it stays the same in principle. I say "in principle" deliberately, and I'll come back to why on slide 16.
Likely question — "is the rest of PPFDaaS on hold?" No. This is an additive arm; the existing CKKS path still works and is still the baseline we measure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here, both measured on my own machine.
262 kilobytes to carry a handful of transaction values. That size comes entirely from the encryption parameters — the formula on screen has no payload term in it. Putting less data in does not make it smaller.
The second number is the one I care about more: nearly three milliseconds of client CPU just to encode and encrypt, per record. Our stated client is a branch terminal or a phone. That is the constraint that motivates everything after this slide.
Likely question — "why not just pick smaller parameters?" Because the parameters are set by the depth the fraud model needs, not by the upload. We can't shrink them without breaking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in one sentence: don't upload homomorphic ciphertexts at all.
The client encrypts with an ordinary stream cipher — output roughly the size of the data. Separately, once, it sends its symmetric key encrypted under homomorphic encryption. The server now holds a small ciphertext and an encrypted copy of the key that opens it, so it can run the decryption inside homomorphic encryption and end up holding the HE ciphertext itself.
The important framing: the cost is moved, not removed. The server now does everything the client used to do, plus conversion work. That's the right trade when the client is thin and the server is a datacentre — but it is a trade, and most of this talk is about its price.
Likely question — "does the server learn anything?" No. It only ever holds an encrypted key and encrypted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has to run the cipher's decryption while everything is still encrypted, and that changes the cost model completely. Adding is nearly free inside HE. Multiplying is expensive, and multiplications in sequence eat a fixed budget — run out and the ciphertext is unusable.
So the metric is depth. AES was designed for CPUs where none of that applies, and evaluating it homomorphically is famously miserable. HERA was designed against this cost model instead: one expensive step per round, four rounds, sixteen-element state.
The bottom box is HERA's neat trick. Randomness normally goes into the mixing step, which is costly; HERA puts it in the key schedule where it's almost free.
Likely question — "why should I believe that's still secure?" That's from the HERA paper's own analysis, not something I've verified — it's tagged as source, not as my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remember; everything else is detail.
HERA is a stream cipher. It makes a keystream from the key and a public nonce, and encryption is data plus keystream. Notice what's missing: the keystream never depends on the data. So the server can generate the encrypted keystream before any record exists — and that's where all the expense sits.
When a record actually arrives, homomorphic decryption is one subtraction, plus the repair step. That's it.
Practically: you run the left panel during idle capacity and amortise it.
Likely question — "how many records does one keystream cover?" One keystream block per record batch; you generate as many as you expect to need. I haven't measured the regeneration cadence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schemes looks like accidental complexity. It isn't.
Ciphers need exact integer arithmetic with wraparound — that wraparound is part of what makes a cipher hard to invert. You can't build one out of smooth decimal arithmetic. So the cipher runs in FV. Our fraud model needs decimals — weights, scores — so that's CKKS.
The bridge is cheap for a nice reason: both schemes store ciphertexts in the same container format under the same key. Switching is a relabel. Think of one file two programs can open with different conventions.
Likely question — "genuinely zero cost?" Zero homomorphic operations. There's a scale bookkeeping step, but no ciphertext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arrange values inside one ciphertext. Coefficient layout is the order data is written in; slot layout is the order the model reads in. Row-major versus column-major is a fair analogy.
Three facts collide. The client writes coefficient layout because placing numbers costs it literally nothing. The fraud model can only read slot layout. And the keystream comes out of HERA in slot layout.
So something has to move, twice: the keystream is pushed into coefficient layout offline so it lines up with data as it arrives, and after the subtraction the data is pushed into slot layout for the model.
You don't need to know how the rearranging works to follow the rest of this. You do need to know it isn't free — it's a large part of the memory number on slide 14.
Likely question — "which direction dominates?" The offline one, on current evidence. But the per-level matrix precompute is the part I measured, not the runtime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subtraction the ciphertext is technically correct but used up — no budget left to compute with, and the model hasn't started. There's a standard, well-known, expensive repair that restores that budget, and it runs in four stages.
Stage 2 moves data into slot layout. Stage 4 moves it back, because normal callers expect it that way. We don't — we want slot layout, because that's what the model reads. So we stop after stage 3. That's what "half" means.
This is the neatest thing in the design. In ordinary use those two layout moves are pure overhead, a tax you pay to get your budget back. Here one of them is doing a job we needed anyway.
Likely question — "so layout conversion is free?" The stage-2 conversion comes bundled, yes. The offline keystream conversion is separate and is not free — that's the 4 GB on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I'd like you to interrogate. Three phase bands down the page, two actors across.
Phase 1, once per session: the client encrypts its HERA key under homomorphic encryption and uploads it. That's the only HE-sized upload in the system, and the server never learns the key.
Phase 2, offline. I've drawn the client explicitly idle because that idleness is the point — this happens before any data exists. The server evaluates HERA homomorphically, which comes out in slot layout, then rearranges into coefficient layout so it lines up with data as it arrives. Output is an encrypted keystream, sitting there, one fresh block per record — a keystream is never reused across two records.
Phase 3, per record. The client symmetric-encrypts — that's the ~1 KB crossing the boundary. The server subtracts the keystream; that subtraction *is* the homomorphic decryption. Then relabel FV as CKKS, which costs nothing. Then HalfBoot, which restores headroom and lands us in slot layout. Then the model runs exactly as it would have. Score goes back encrypted.
Read the right-hand tags to follow scheme and layout at each point. Ochre fill means expensive-and-precomputed; white means cheap-per-record; dashed means no computation.
Likely question — "why is the rearrange in phase 2 rather than after the subtraction?" Because moving the keystream is data-independent and moving the data isn't. Doing it offline is the whole reason the online path is one subtraction.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side is done. Go module in tools/transciphering, HERA-16 with the standard configuration, pushed to main.
Half a millisecond to encrypt a single record, seven milliseconds for a sixteen-lane batch, and the upload goes from 262 kilobytes to just over a kilobyte. That's the 249× figure, and it's the one clean win in this talk.
Everything on this slide is measured on my machine — that's what the tag means.
Likely question — "does the batch scale linearly?" Roughly, over the range I tested. I haven't pushed it past sixteen 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direct about this one, because it changes what the task actually is.
The work was framed as fixing a library or build issue in the KAIST fork. I went and checked. The fork's go.mod declares Go 1.13, which is what makes people assume it won't build — but under Go 1.25 it compiles with zero source changes. go vet exits clean, go test -c exits clean.
So there is no build problem. The only blocker was ever memory. I've pinned the checkout to a specific SHA with a fetch script and build notes so anyone can reproduce that in one command.
Likely question — "are you sure you built the right thing?" The pinned SHA and the fetch script are in the repo; the toy run on the next slide exercises the same checkout end to end, so it isn't just compiling, it's producing correct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I'm most confident about. I built a shrunk copy of the 128as parameter set — ring dimension down from LogN 16 to LogN 10, but every modulus reused unchanged, so the arithmetic structure is identical and only the ring size changed.
Then I ran the whole server-side path: homomorphic HERA in BFV, HalfBoot, the FV-to-CKKS repack, and the CKKS model evaluation. Max absolute error came out at 2.1e-5 against a 5e-2 tolerance. Peak memory 275 megabytes.
The significance is that the architecture is validated. Every conversion, every layout move, the whole shape of it — it works. What's left is making it fit on a machine.
Likely question — "does correctness at LogN 10 imply correctness at LogN 16?" Not formally. It rules out structural errors in the pipeline, which is what was actually in doubt. Caveat on slide 16: I validated 128as and the staged cloud target is 80as.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instrumented the pinned checkout directly rather than re-deriving the estimate, and it corrected the prior number on both of its factors.
The old anchor was "roughly 364 Galois keys, about 10 GB". Measured: twenty distinct Galois keys. Once you account for the RNS digit count the old estimate left out, that's about 3.2 to 3.5 GB of derived key material — meaningful, but not the dominant cost.
Then something nobody had measured showed up: the layout-conversion matrix precompute, about 4 GB, re-encoded once per RNS level — around twenty-four times — and held resident for the whole run. That one is structural. No amount of Galois-key tuning touches it.
So about 7.5 GB is now explained. The rest is attributed to hera.Crypt, which is where the process was killed, and which I have not instrumented. That's the point of the bar: the 60 GB figure has never had a measurement behind it.
Likely question — "so what is the real number?" I don't know yet. Next slide is my estimate, and it's tagged as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careful here, because this is the one number on the slide deck that I have not measured, and I've tagged it accordingly.
The toy run peaked at 275 megabytes at LogN 10, with the limb count held identical to LogN 16. If memory scales linearly with ring dimension, the 64× jump lands somewhere around 16 to 19 gigabytes. That's a very different world from 60.
If it holds, a 32 GB box is enough rather than the 128 GB one we've been planning for, and the 90 GB preflight gate in the benchmark script would be refusing to run a job that would actually fit.
But I'd rather not spend cloud budget on the back of a proportionality argument. The way to settle it is instrumentation, and that runs on the machine I already have.
Likely question — "is linear scaling reasonable?" It's the natural first guess given the limbs are fixed, but hera.Crypt may hold multiple states simultaneously, in which case it's worse. That's exactly why it's a hypothesis and not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caveat I most want on the record, and it matters more than the memory question.
Transciphering does not bolt a stage onto the front of an existing pipeline. HalfBoot only works at much larger encryption parameters — so adopting it moves everything downstream, fraud model included, onto a bigger and slower setting. That's a permanent per-operation tax on work we're already doing, and it's easy to overlook because the 249× headline sits on the client side.
The counterargument is real and I'm not dismissing it: the larger setting has far more SIMD slots, so you can score many more transactions per ciphertext. It's plausible that batching earns the penalty back several times over.
I don't know which way it goes. My honest framing is that this may be a throughput optimisation dressed as a bandwidth optimisation — and that's a question the benchmark answers, not one I can argue.
Likely question — "can we keep the old pipeline for small volumes?" Probably, as two deployment modes. But that's a decision for after we have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in the order I'd do them.
One is the blocker for everything else: instrument hera.Crypt with checkpointed RSS per round. That runs on the machine I already have, today, and it turns the 60 GB question into a measurement.
Two: toy-validate 80as. I validated 128as. The staged cloud target is 80as, and those differ in round count and secret distribution — not just size. I don't want to find that out on paid time.
Three: actually run the cloud benchmark. The runbook is scaffolded and has never been executed.
Four: the breakeven table. Every cell is still PENDING. We have no end-to-end comparison against plain CKKS, and that's the number the paper needs.
Likely question — "can two and three be swapped?" I'd rather not. Toy-validating 80as costs an afternoon; discovering a parameter mismatch on a cloud instance costs money and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asks, and the order matters.
First, time rather than hardware. The instrumentation runs on the machine I already have. What I'd like is agreement that we do that before spending anything on cloud, because it's cheap and it may change the size of the thing we buy.
Second, once there's a measured peak, a right-sized instance. If the estimate holds, that's a 32 GB box rather than a 128 GB one — roughly a quarter of the cost. If it doesn't hold, we'll know that too, and we'll provision against a number instead of an estimate.
That's the whole ask. Happy to take questions — and I'd particularly welcome pushback on slide 16, the architectural cost, because that's where I'm least sure my framing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530"/>
        </a:solidFill>
      </p:bgPr>
    </p:bg>
    <p:spTree>
      <p:nvGrpSpPr>
        <p:cNvPr id="1" name=""/>
        <p:cNvGrpSpPr/>
        <p:nvPr/>
      </p:nvGrpSpPr>
      <p:grpSpPr>
        <a:xfrm>
          <a:off x="0" y="0"/>
          <a:ext cx="0" cy="0"/>
          <a:chOff x="0" y="0"/>
          <a:chExt cx="0" cy="0"/>
        </a:xfrm>
      </p:grpSpPr>
      <p:sp>
        <p:nvSpPr>
          <p:cNvPr id="2" name="Text 0"/>
          <p:cNvSpPr/>
          <p:nvPr/>
        </p:nvSpPr>
        <p:spPr>
          <a:xfrm>
            <a:off x="658368" y="2148840"/>
            <a:ext cx="9144000" cy="777240"/>
          </a:xfrm>
          <a:prstGeom prst="rect">
            <a:avLst/>
          </a:prstGeom>
          <a:noFill/>
          <a:ln/>
        </p:spPr>
        <p:txBody>
          <a:bodyPr wrap="square" lIns="0" tIns="0" rIns="0" bIns="0" rtlCol="0" anchor="ctr"/>
          <a:lstStyle/>
          <a:p>
            <a:pPr indent="0" marL="0">
              <a:buNone/>
            </a:pPr>
            <a:r>
              <a:rPr lang="en-US" sz="4000" dirty="0">
                <a:solidFill>
                  <a:srgbClr val="F6F3EC"/>
                </a:solidFill>
                <a:latin typeface="Century Schoolbook" pitchFamily="34" charset="0"/>
                <a:ea typeface="Century Schoolbook" pitchFamily="34" charset="-122"/>
                <a:cs typeface="Century Schoolbook" pitchFamily="34" charset="-120"/>
              </a:rPr>
              <a:t>RtF Transciphering</a:t>
            </a:r>
            <a:endParaRPr lang="en-US" sz="4000" dirty="0"/>
          </a:p>
        </p:txBody>
      </p:sp>
      <p:sp>
        <p:nvSpPr>
          <p:cNvPr id="3" name="Text 1"/>
          <p:cNvSpPr/>
          <p:nvPr/>
        </p:nvSpPr>
        <p:spPr>
          <a:xfrm>
            <a:off x="658368" y="2944368"/>
            <a:ext cx="9144000" cy="365760"/>
          </a:xfrm>
          <a:prstGeom prst="rect">
            <a:avLst/>
          </a:prstGeom>
          <a:noFill/>
          <a:ln/>
        </p:spPr>
        <p:txBody>
          <a:bodyPr wrap="square" lIns="0" tIns="0" rIns="0" bIns="0" rtlCol="0" anchor="ctr"/>
          <a:lstStyle/>
          <a:p>
            <a:pPr indent="0" marL="0">
              <a:buNone/>
            </a:pPr>
            <a:r>
              <a:rPr lang="en-US" sz="1550" dirty="0">
                <a:solidFill>
                  <a:srgbClr val="E4D8BF"/>
                </a:solidFill>
                <a:latin typeface="Calibri" pitchFamily="34" charset="0"/>
                <a:ea typeface="Calibri" pitchFamily="34" charset="-122"/>
                <a:cs typeface="Calibri" pitchFamily="34" charset="-120"/>
              </a:rPr>
              <a:t>Hybrid homomorphic encryption for the PPFDaaS inference pipeline</a:t>
            </a:r>
            <a:endParaRPr lang="en-US" sz="1550" dirty="0"/>
          </a:p>
        </p:txBody>
      </p:sp>
      <p:sp>
        <p:nvSpPr>
          <p:cNvPr id="4" name="Shape 2"/>
          <p:cNvSpPr/>
          <p:nvPr/>
        </p:nvSpPr>
        <p:spPr>
          <a:xfrm>
            <a:off x="658368" y="3529584"/>
            <a:ext cx="4279392" cy="0"/>
          </a:xfrm>
          <a:prstGeom prst="line">
            <a:avLst/>
          </a:prstGeom>
          <a:noFill/>
          <a:ln w="12700">
            <a:solidFill>
              <a:srgbClr val="5A6472"/>
            </a:solidFill>
            <a:prstDash val="solid"/>
          </a:ln>
        </p:spPr>
      </p:sp>
      <p:sp>
        <p:nvSpPr>
          <p:cNvPr id="5" name="Text 3"/>
          <p:cNvSpPr/>
          <p:nvPr/>
        </p:nvSpPr>
        <p:spPr>
          <a:xfrm>
            <a:off x="658368" y="3712464"/>
            <a:ext cx="6400800" cy="914400"/>
          </a:xfrm>
          <a:prstGeom prst="rect">
            <a:avLst/>
          </a:prstGeom>
          <a:noFill/>
          <a:ln/>
        </p:spPr>
        <p:txBody>
          <a:bodyPr wrap="square" lIns="0" tIns="0" rIns="0" bIns="0" rtlCol="0" anchor="ctr"/>
          <a:lstStyle/>
          <a:p>
            <a:pPr indent="0" marL="0">
              <a:lnSpc>
                <a:spcPts val="1900"/>
              </a:lnSpc>
              <a:buNone/>
            </a:pPr>
            <a:r>
              <a:rPr lang="en-US" sz="1200" b="1" dirty="0">
                <a:solidFill>
                  <a:srgbClr val="B9C0C8"/>
                </a:solidFill>
                <a:latin typeface="Calibri" pitchFamily="34" charset="0"/>
                <a:ea typeface="Calibri" pitchFamily="34" charset="-122"/>
                <a:cs typeface="Calibri" pitchFamily="34" charset="-120"/>
              </a:rPr>
              <a:t>Raghav Pathak</a:t>
            </a:r>
            <a:endParaRPr lang="en-US" sz="1200" dirty="0"/>
          </a:p>
          <a:p>
            <a:pPr indent="0" marL="0">
              <a:lnSpc>
                <a:spcPts val="1900"/>
              </a:lnSpc>
              <a:buNone/>
            </a:pPr>
            <a:r>
              <a:rPr lang="en-US" sz="1200" dirty="0">
                <a:solidFill>
                  <a:srgbClr val="B9C0C8"/>
                </a:solidFill>
                <a:latin typeface="Calibri" pitchFamily="34" charset="0"/>
                <a:ea typeface="Calibri" pitchFamily="34" charset="-122"/>
                <a:cs typeface="Calibri" pitchFamily="34" charset="-120"/>
              </a:rPr>
              <a:t>B.Tech CSE, LNMIIT · with Amiya</a:t>
            </a:r>
            <a:endParaRPr lang="en-US" sz="1200" dirty="0"/>
          </a:p>
          <a:p>
            <a:pPr indent="0" marL="0">
              <a:lnSpc>
                <a:spcPts val="1900"/>
              </a:lnSpc>
              <a:buNone/>
            </a:pPr>
            <a:r>
              <a:rPr lang="en-US" sz="1200" dirty="0">
                <a:solidFill>
                  <a:srgbClr val="B9C0C8"/>
                </a:solidFill>
                <a:latin typeface="Calibri" pitchFamily="34" charset="0"/>
                <a:ea typeface="Calibri" pitchFamily="34" charset="-122"/>
                <a:cs typeface="Calibri" pitchFamily="34" charset="-120"/>
              </a:rPr>
              <a:t>Progress report — architecture, findings, open items</a:t>
            </a:r>
            <a:endParaRPr lang="en-US" sz="1200" dirty="0"/>
          </a:p>
        </p:txBody>
      </p:sp>
      <p:sp>
        <p:nvSpPr>
          <p:cNvPr id="6" name="Text 4"/>
          <p:cNvSpPr/>
          <p:nvPr/>
        </p:nvSpPr>
        <p:spPr>
          <a:xfrm>
            <a:off x="7436815" y="6035040"/>
            <a:ext cx="4114800" cy="274320"/>
          </a:xfrm>
          <a:prstGeom prst="rect">
            <a:avLst/>
          </a:prstGeom>
          <a:noFill/>
          <a:ln/>
        </p:spPr>
        <p:txBody>
          <a:bodyPr wrap="square" lIns="0" tIns="0" rIns="0" bIns="0" rtlCol="0" anchor="ctr"/>
          <a:lstStyle/>
          <a:p>
            <a:pPr algn="r" indent="0" marL="0">
              <a:buNone/>
            </a:pPr>
            <a:r>
              <a:rPr lang="en-US" sz="1050" b="1" dirty="0">
                <a:solidFill>
                  <a:srgbClr val="9A6A28"/>
                </a:solidFill>
                <a:latin typeface="Calibri" pitchFamily="34" charset="0"/>
                <a:ea typeface="Calibri" pitchFamily="34" charset="-122"/>
                <a:cs typeface="Calibri" pitchFamily="34" charset="-120"/>
              </a:rPr>
              <a:t>Indocrypt 2026 target · 15 August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CONTEXT</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Where this sits in PPFDaaS</a:t>
            </a:r>
            <a:endParaRPr lang="en-US" sz="2700" dirty="0"/>
          </a:p>
        </p:txBody>
      </p:sp>
      <p:sp>
        <p:nvSpPr>
          <p:cNvPr id="4" name="Text 2"/>
          <p:cNvSpPr/>
          <p:nvPr/>
        </p:nvSpPr>
        <p:spPr>
          <a:xfrm>
            <a:off x="658368" y="1463040"/>
            <a:ext cx="10424160" cy="109728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PPFDaaS scores transactions for fraud under CKKS without the vendor seeing the transaction. This talk covers one arm: replacing the client's homomorphic encryption step.</a:t>
            </a:r>
            <a:endParaRPr lang="en-US" sz="1450" dirty="0"/>
          </a:p>
        </p:txBody>
      </p:sp>
      <p:sp>
        <p:nvSpPr>
          <p:cNvPr id="5" name="Shape 3"/>
          <p:cNvSpPr/>
          <p:nvPr/>
        </p:nvSpPr>
        <p:spPr>
          <a:xfrm>
            <a:off x="658368" y="3063240"/>
            <a:ext cx="1920240" cy="868680"/>
          </a:xfrm>
          <a:prstGeom prst="rect">
            <a:avLst/>
          </a:prstGeom>
          <a:solidFill>
            <a:srgbClr val="E4D8BF"/>
          </a:solidFill>
          <a:ln w="19050">
            <a:solidFill>
              <a:srgbClr val="9A6A28"/>
            </a:solidFill>
            <a:prstDash val="solid"/>
          </a:ln>
        </p:spPr>
      </p:sp>
      <p:sp>
        <p:nvSpPr>
          <p:cNvPr id="6" name="Text 4"/>
          <p:cNvSpPr/>
          <p:nvPr/>
        </p:nvSpPr>
        <p:spPr>
          <a:xfrm>
            <a:off x="658368" y="3063240"/>
            <a:ext cx="1920240" cy="868680"/>
          </a:xfrm>
          <a:prstGeom prst="rect">
            <a:avLst/>
          </a:prstGeom>
          <a:noFill/>
          <a:ln/>
        </p:spPr>
        <p:txBody>
          <a:bodyPr wrap="square" lIns="0" tIns="0" rIns="0" bIns="0" rtlCol="0" anchor="ctr"/>
          <a:lstStyle/>
          <a:p>
            <a:pPr algn="ctr" indent="0" marL="0">
              <a:buNone/>
            </a:pPr>
            <a:r>
              <a:rPr lang="en-US" sz="1250" b="1" dirty="0">
                <a:solidFill>
                  <a:srgbClr val="1C2530"/>
                </a:solidFill>
                <a:latin typeface="Calibri" pitchFamily="34" charset="0"/>
                <a:ea typeface="Calibri" pitchFamily="34" charset="-122"/>
                <a:cs typeface="Calibri" pitchFamily="34" charset="-120"/>
              </a:rPr>
              <a:t>Client</a:t>
            </a:r>
            <a:endParaRPr lang="en-US" sz="1250" dirty="0"/>
          </a:p>
          <a:p>
            <a:pPr algn="ctr" indent="0" marL="0">
              <a:buNone/>
            </a:pPr>
            <a:r>
              <a:rPr lang="en-US" sz="1250" b="1" dirty="0">
                <a:solidFill>
                  <a:srgbClr val="1C2530"/>
                </a:solidFill>
                <a:latin typeface="Calibri" pitchFamily="34" charset="0"/>
                <a:ea typeface="Calibri" pitchFamily="34" charset="-122"/>
                <a:cs typeface="Calibri" pitchFamily="34" charset="-120"/>
              </a:rPr>
              <a:t>encrypt</a:t>
            </a:r>
            <a:endParaRPr lang="en-US" sz="1250" dirty="0"/>
          </a:p>
        </p:txBody>
      </p:sp>
      <p:sp>
        <p:nvSpPr>
          <p:cNvPr id="7" name="Shape 5"/>
          <p:cNvSpPr/>
          <p:nvPr/>
        </p:nvSpPr>
        <p:spPr>
          <a:xfrm>
            <a:off x="2670048" y="3497580"/>
            <a:ext cx="237744" cy="0"/>
          </a:xfrm>
          <a:prstGeom prst="line">
            <a:avLst/>
          </a:prstGeom>
          <a:noFill/>
          <a:ln w="15875">
            <a:solidFill>
              <a:srgbClr val="7C848D"/>
            </a:solidFill>
            <a:prstDash val="solid"/>
            <a:headEnd type="none"/>
            <a:tailEnd type="triangle"/>
          </a:ln>
        </p:spPr>
      </p:sp>
      <p:sp>
        <p:nvSpPr>
          <p:cNvPr id="8" name="Shape 6"/>
          <p:cNvSpPr/>
          <p:nvPr/>
        </p:nvSpPr>
        <p:spPr>
          <a:xfrm>
            <a:off x="2999232" y="3063240"/>
            <a:ext cx="1920240" cy="868680"/>
          </a:xfrm>
          <a:prstGeom prst="rect">
            <a:avLst/>
          </a:prstGeom>
          <a:solidFill>
            <a:srgbClr val="FFFFFF"/>
          </a:solidFill>
          <a:ln w="12700">
            <a:solidFill>
              <a:srgbClr val="D3CCC0"/>
            </a:solidFill>
            <a:prstDash val="solid"/>
          </a:ln>
        </p:spPr>
      </p:sp>
      <p:sp>
        <p:nvSpPr>
          <p:cNvPr id="9" name="Text 7"/>
          <p:cNvSpPr/>
          <p:nvPr/>
        </p:nvSpPr>
        <p:spPr>
          <a:xfrm>
            <a:off x="2999232" y="3063240"/>
            <a:ext cx="1920240" cy="868680"/>
          </a:xfrm>
          <a:prstGeom prst="rect">
            <a:avLst/>
          </a:prstGeom>
          <a:noFill/>
          <a:ln/>
        </p:spPr>
        <p:txBody>
          <a:bodyPr wrap="square" lIns="0" tIns="0" rIns="0" bIns="0" rtlCol="0" anchor="ctr"/>
          <a:lstStyle/>
          <a:p>
            <a:pPr algn="ctr" indent="0" marL="0">
              <a:buNone/>
            </a:pPr>
            <a:r>
              <a:rPr lang="en-US" sz="1250" dirty="0">
                <a:solidFill>
                  <a:srgbClr val="3B4650"/>
                </a:solidFill>
                <a:latin typeface="Calibri" pitchFamily="34" charset="0"/>
                <a:ea typeface="Calibri" pitchFamily="34" charset="-122"/>
                <a:cs typeface="Calibri" pitchFamily="34" charset="-120"/>
              </a:rPr>
              <a:t>gRPC</a:t>
            </a:r>
            <a:endParaRPr lang="en-US" sz="1250" dirty="0"/>
          </a:p>
          <a:p>
            <a:pPr algn="ctr" indent="0" marL="0">
              <a:buNone/>
            </a:pPr>
            <a:r>
              <a:rPr lang="en-US" sz="1250" dirty="0">
                <a:solidFill>
                  <a:srgbClr val="3B4650"/>
                </a:solidFill>
                <a:latin typeface="Calibri" pitchFamily="34" charset="0"/>
                <a:ea typeface="Calibri" pitchFamily="34" charset="-122"/>
                <a:cs typeface="Calibri" pitchFamily="34" charset="-120"/>
              </a:rPr>
              <a:t>transport</a:t>
            </a:r>
            <a:endParaRPr lang="en-US" sz="1250" dirty="0"/>
          </a:p>
        </p:txBody>
      </p:sp>
      <p:sp>
        <p:nvSpPr>
          <p:cNvPr id="10" name="Shape 8"/>
          <p:cNvSpPr/>
          <p:nvPr/>
        </p:nvSpPr>
        <p:spPr>
          <a:xfrm>
            <a:off x="5010912" y="3497580"/>
            <a:ext cx="237744" cy="0"/>
          </a:xfrm>
          <a:prstGeom prst="line">
            <a:avLst/>
          </a:prstGeom>
          <a:noFill/>
          <a:ln w="15875">
            <a:solidFill>
              <a:srgbClr val="7C848D"/>
            </a:solidFill>
            <a:prstDash val="solid"/>
            <a:headEnd type="none"/>
            <a:tailEnd type="triangle"/>
          </a:ln>
        </p:spPr>
      </p:sp>
      <p:sp>
        <p:nvSpPr>
          <p:cNvPr id="11" name="Shape 9"/>
          <p:cNvSpPr/>
          <p:nvPr/>
        </p:nvSpPr>
        <p:spPr>
          <a:xfrm>
            <a:off x="5340096" y="3063240"/>
            <a:ext cx="1920240" cy="868680"/>
          </a:xfrm>
          <a:prstGeom prst="rect">
            <a:avLst/>
          </a:prstGeom>
          <a:solidFill>
            <a:srgbClr val="FFFFFF"/>
          </a:solidFill>
          <a:ln w="12700">
            <a:solidFill>
              <a:srgbClr val="D3CCC0"/>
            </a:solidFill>
            <a:prstDash val="solid"/>
          </a:ln>
        </p:spPr>
      </p:sp>
      <p:sp>
        <p:nvSpPr>
          <p:cNvPr id="12" name="Text 10"/>
          <p:cNvSpPr/>
          <p:nvPr/>
        </p:nvSpPr>
        <p:spPr>
          <a:xfrm>
            <a:off x="5340096" y="3063240"/>
            <a:ext cx="1920240" cy="868680"/>
          </a:xfrm>
          <a:prstGeom prst="rect">
            <a:avLst/>
          </a:prstGeom>
          <a:noFill/>
          <a:ln/>
        </p:spPr>
        <p:txBody>
          <a:bodyPr wrap="square" lIns="0" tIns="0" rIns="0" bIns="0" rtlCol="0" anchor="ctr"/>
          <a:lstStyle/>
          <a:p>
            <a:pPr algn="ctr" indent="0" marL="0">
              <a:buNone/>
            </a:pPr>
            <a:r>
              <a:rPr lang="en-US" sz="1250" dirty="0">
                <a:solidFill>
                  <a:srgbClr val="3B4650"/>
                </a:solidFill>
                <a:latin typeface="Calibri" pitchFamily="34" charset="0"/>
                <a:ea typeface="Calibri" pitchFamily="34" charset="-122"/>
                <a:cs typeface="Calibri" pitchFamily="34" charset="-120"/>
              </a:rPr>
              <a:t>CKKS</a:t>
            </a:r>
            <a:endParaRPr lang="en-US" sz="1250" dirty="0"/>
          </a:p>
          <a:p>
            <a:pPr algn="ctr" indent="0" marL="0">
              <a:buNone/>
            </a:pPr>
            <a:r>
              <a:rPr lang="en-US" sz="1250" dirty="0">
                <a:solidFill>
                  <a:srgbClr val="3B4650"/>
                </a:solidFill>
                <a:latin typeface="Calibri" pitchFamily="34" charset="0"/>
                <a:ea typeface="Calibri" pitchFamily="34" charset="-122"/>
                <a:cs typeface="Calibri" pitchFamily="34" charset="-120"/>
              </a:rPr>
              <a:t>fraud model</a:t>
            </a:r>
            <a:endParaRPr lang="en-US" sz="1250" dirty="0"/>
          </a:p>
        </p:txBody>
      </p:sp>
      <p:sp>
        <p:nvSpPr>
          <p:cNvPr id="13" name="Shape 11"/>
          <p:cNvSpPr/>
          <p:nvPr/>
        </p:nvSpPr>
        <p:spPr>
          <a:xfrm>
            <a:off x="7351776" y="3497580"/>
            <a:ext cx="237744" cy="0"/>
          </a:xfrm>
          <a:prstGeom prst="line">
            <a:avLst/>
          </a:prstGeom>
          <a:noFill/>
          <a:ln w="15875">
            <a:solidFill>
              <a:srgbClr val="7C848D"/>
            </a:solidFill>
            <a:prstDash val="solid"/>
            <a:headEnd type="none"/>
            <a:tailEnd type="triangle"/>
          </a:ln>
        </p:spPr>
      </p:sp>
      <p:sp>
        <p:nvSpPr>
          <p:cNvPr id="14" name="Shape 12"/>
          <p:cNvSpPr/>
          <p:nvPr/>
        </p:nvSpPr>
        <p:spPr>
          <a:xfrm>
            <a:off x="7680960" y="3063240"/>
            <a:ext cx="1920240" cy="868680"/>
          </a:xfrm>
          <a:prstGeom prst="rect">
            <a:avLst/>
          </a:prstGeom>
          <a:solidFill>
            <a:srgbClr val="FFFFFF"/>
          </a:solidFill>
          <a:ln w="12700">
            <a:solidFill>
              <a:srgbClr val="D3CCC0"/>
            </a:solidFill>
            <a:prstDash val="solid"/>
          </a:ln>
        </p:spPr>
      </p:sp>
      <p:sp>
        <p:nvSpPr>
          <p:cNvPr id="15" name="Text 13"/>
          <p:cNvSpPr/>
          <p:nvPr/>
        </p:nvSpPr>
        <p:spPr>
          <a:xfrm>
            <a:off x="7680960" y="3063240"/>
            <a:ext cx="1920240" cy="868680"/>
          </a:xfrm>
          <a:prstGeom prst="rect">
            <a:avLst/>
          </a:prstGeom>
          <a:noFill/>
          <a:ln/>
        </p:spPr>
        <p:txBody>
          <a:bodyPr wrap="square" lIns="0" tIns="0" rIns="0" bIns="0" rtlCol="0" anchor="ctr"/>
          <a:lstStyle/>
          <a:p>
            <a:pPr algn="ctr" indent="0" marL="0">
              <a:buNone/>
            </a:pPr>
            <a:r>
              <a:rPr lang="en-US" sz="1250" dirty="0">
                <a:solidFill>
                  <a:srgbClr val="3B4650"/>
                </a:solidFill>
                <a:latin typeface="Calibri" pitchFamily="34" charset="0"/>
                <a:ea typeface="Calibri" pitchFamily="34" charset="-122"/>
                <a:cs typeface="Calibri" pitchFamily="34" charset="-120"/>
              </a:rPr>
              <a:t>Encrypted</a:t>
            </a:r>
            <a:endParaRPr lang="en-US" sz="1250" dirty="0"/>
          </a:p>
          <a:p>
            <a:pPr algn="ctr" indent="0" marL="0">
              <a:buNone/>
            </a:pPr>
            <a:r>
              <a:rPr lang="en-US" sz="1250" dirty="0">
                <a:solidFill>
                  <a:srgbClr val="3B4650"/>
                </a:solidFill>
                <a:latin typeface="Calibri" pitchFamily="34" charset="0"/>
                <a:ea typeface="Calibri" pitchFamily="34" charset="-122"/>
                <a:cs typeface="Calibri" pitchFamily="34" charset="-120"/>
              </a:rPr>
              <a:t>score</a:t>
            </a:r>
            <a:endParaRPr lang="en-US" sz="1250" dirty="0"/>
          </a:p>
        </p:txBody>
      </p:sp>
      <p:sp>
        <p:nvSpPr>
          <p:cNvPr id="16" name="Shape 14"/>
          <p:cNvSpPr/>
          <p:nvPr/>
        </p:nvSpPr>
        <p:spPr>
          <a:xfrm flipV="1">
            <a:off x="1618488" y="4041648"/>
            <a:ext cx="0" cy="301752"/>
          </a:xfrm>
          <a:prstGeom prst="line">
            <a:avLst/>
          </a:prstGeom>
          <a:noFill/>
          <a:ln w="19050">
            <a:solidFill>
              <a:srgbClr val="9A6A28"/>
            </a:solidFill>
            <a:prstDash val="solid"/>
            <a:headEnd type="none"/>
            <a:tailEnd type="triangle"/>
          </a:ln>
        </p:spPr>
      </p:sp>
      <p:sp>
        <p:nvSpPr>
          <p:cNvPr id="17" name="Text 15"/>
          <p:cNvSpPr/>
          <p:nvPr/>
        </p:nvSpPr>
        <p:spPr>
          <a:xfrm>
            <a:off x="658368" y="4389120"/>
            <a:ext cx="6949440" cy="274320"/>
          </a:xfrm>
          <a:prstGeom prst="rect">
            <a:avLst/>
          </a:prstGeom>
          <a:noFill/>
          <a:ln/>
        </p:spPr>
        <p:txBody>
          <a:bodyPr wrap="square" lIns="0" tIns="0" rIns="0" bIns="0" rtlCol="0" anchor="ctr"/>
          <a:lstStyle/>
          <a:p>
            <a:pPr indent="0" marL="0">
              <a:buNone/>
            </a:pPr>
            <a:r>
              <a:rPr lang="en-US" sz="1100" b="1" dirty="0">
                <a:solidFill>
                  <a:srgbClr val="9A6A28"/>
                </a:solidFill>
                <a:latin typeface="Calibri" pitchFamily="34" charset="0"/>
                <a:ea typeface="Calibri" pitchFamily="34" charset="-122"/>
                <a:cs typeface="Calibri" pitchFamily="34" charset="-120"/>
              </a:rPr>
              <a:t>this arm — the client's encryption step is what transciphering replaces</a:t>
            </a:r>
            <a:endParaRPr lang="en-US" sz="1100" dirty="0"/>
          </a:p>
        </p:txBody>
      </p:sp>
      <p:sp>
        <p:nvSpPr>
          <p:cNvPr id="18" name="Text 16"/>
          <p:cNvSpPr/>
          <p:nvPr/>
        </p:nvSpPr>
        <p:spPr>
          <a:xfrm>
            <a:off x="658368" y="5029200"/>
            <a:ext cx="8595360" cy="457200"/>
          </a:xfrm>
          <a:prstGeom prst="rect">
            <a:avLst/>
          </a:prstGeom>
          <a:noFill/>
          <a:ln/>
        </p:spPr>
        <p:txBody>
          <a:bodyPr wrap="square" lIns="0" tIns="0" rIns="0" bIns="0" rtlCol="0" anchor="ctr"/>
          <a:lstStyle/>
          <a:p>
            <a:pPr indent="0" marL="0">
              <a:buNone/>
            </a:pPr>
            <a:r>
              <a:rPr lang="en-US" sz="1150" i="1" dirty="0">
                <a:solidFill>
                  <a:srgbClr val="7C848D"/>
                </a:solidFill>
                <a:latin typeface="Calibri" pitchFamily="34" charset="0"/>
                <a:ea typeface="Calibri" pitchFamily="34" charset="-122"/>
                <a:cs typeface="Calibri" pitchFamily="34" charset="-120"/>
              </a:rPr>
              <a:t>Everything downstream of the conversion is the pipeline we already have — which is exactly why its cost matters (slide 16).</a:t>
            </a:r>
            <a:endParaRPr lang="en-US" sz="1150" dirty="0"/>
          </a:p>
        </p:txBody>
      </p:sp>
      <p:sp>
        <p:nvSpPr>
          <p:cNvPr id="19" name="Text 17"/>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0" name="Text 18"/>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01 · THE PROBLEM</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upload is fixed-size, and the client pays for it</a:t>
            </a:r>
            <a:endParaRPr lang="en-US" sz="2700" dirty="0"/>
          </a:p>
        </p:txBody>
      </p:sp>
      <p:sp>
        <p:nvSpPr>
          <p:cNvPr id="4" name="Shape 2"/>
          <p:cNvSpPr/>
          <p:nvPr/>
        </p:nvSpPr>
        <p:spPr>
          <a:xfrm>
            <a:off x="10234879" y="402336"/>
            <a:ext cx="1298448" cy="219456"/>
          </a:xfrm>
          <a:prstGeom prst="rect">
            <a:avLst/>
          </a:prstGeom>
          <a:solidFill>
            <a:srgbClr val="1C2530"/>
          </a:solidFill>
          <a:ln w="9525">
            <a:solidFill>
              <a:srgbClr val="1C2530"/>
            </a:solidFill>
            <a:prstDash val="solid"/>
          </a:ln>
        </p:spPr>
      </p:sp>
      <p:sp>
        <p:nvSpPr>
          <p:cNvPr id="5" name="Text 3"/>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6" name="Text 4"/>
          <p:cNvSpPr/>
          <p:nvPr/>
        </p:nvSpPr>
        <p:spPr>
          <a:xfrm>
            <a:off x="658368" y="1463040"/>
            <a:ext cx="969264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A CKKS ciphertext is a container sized by the encryption parameters, not by the payload.</a:t>
            </a:r>
            <a:endParaRPr lang="en-US" sz="1450" dirty="0"/>
          </a:p>
        </p:txBody>
      </p:sp>
      <p:sp>
        <p:nvSpPr>
          <p:cNvPr id="7" name="Text 5"/>
          <p:cNvSpPr/>
          <p:nvPr/>
        </p:nvSpPr>
        <p:spPr>
          <a:xfrm>
            <a:off x="658368" y="2011680"/>
            <a:ext cx="5486400" cy="310896"/>
          </a:xfrm>
          <a:prstGeom prst="rect">
            <a:avLst/>
          </a:prstGeom>
          <a:noFill/>
          <a:ln/>
        </p:spPr>
        <p:txBody>
          <a:bodyPr wrap="square" lIns="0" tIns="0" rIns="0" bIns="0" rtlCol="0" anchor="ctr"/>
          <a:lstStyle/>
          <a:p>
            <a:pPr indent="0" marL="0">
              <a:buNone/>
            </a:pPr>
            <a:r>
              <a:rPr lang="en-US" sz="1250" dirty="0">
                <a:solidFill>
                  <a:srgbClr val="9A6A28"/>
                </a:solidFill>
                <a:latin typeface="Courier New" pitchFamily="34" charset="0"/>
                <a:ea typeface="Courier New" pitchFamily="34" charset="-122"/>
                <a:cs typeface="Courier New" pitchFamily="34" charset="-120"/>
              </a:rPr>
              <a:t>ciphertext size  =  2 × N × log₂(q) / 8 bytes</a:t>
            </a:r>
            <a:endParaRPr lang="en-US" sz="1250" dirty="0"/>
          </a:p>
        </p:txBody>
      </p:sp>
      <p:sp>
        <p:nvSpPr>
          <p:cNvPr id="8" name="Text 6"/>
          <p:cNvSpPr/>
          <p:nvPr/>
        </p:nvSpPr>
        <p:spPr>
          <a:xfrm>
            <a:off x="5321808" y="2029968"/>
            <a:ext cx="3840480" cy="274320"/>
          </a:xfrm>
          <a:prstGeom prst="rect">
            <a:avLst/>
          </a:prstGeom>
          <a:noFill/>
          <a:ln/>
        </p:spPr>
        <p:txBody>
          <a:bodyPr wrap="square" lIns="0" tIns="0" rIns="0" bIns="0" rtlCol="0" anchor="ctr"/>
          <a:lstStyle/>
          <a:p>
            <a:pPr indent="0" marL="0">
              <a:buNone/>
            </a:pPr>
            <a:r>
              <a:rPr lang="en-US" sz="1100" i="1" dirty="0">
                <a:solidFill>
                  <a:srgbClr val="7C848D"/>
                </a:solidFill>
                <a:latin typeface="Calibri" pitchFamily="34" charset="0"/>
                <a:ea typeface="Calibri" pitchFamily="34" charset="-122"/>
                <a:cs typeface="Calibri" pitchFamily="34" charset="-120"/>
              </a:rPr>
              <a:t>— the payload does not appear in it</a:t>
            </a:r>
            <a:endParaRPr lang="en-US" sz="1100" dirty="0"/>
          </a:p>
        </p:txBody>
      </p:sp>
      <p:sp>
        <p:nvSpPr>
          <p:cNvPr id="9" name="Shape 7"/>
          <p:cNvSpPr/>
          <p:nvPr/>
        </p:nvSpPr>
        <p:spPr>
          <a:xfrm>
            <a:off x="658368" y="2788920"/>
            <a:ext cx="960120" cy="457200"/>
          </a:xfrm>
          <a:prstGeom prst="rect">
            <a:avLst/>
          </a:prstGeom>
          <a:solidFill>
            <a:srgbClr val="E4D8BF"/>
          </a:solidFill>
          <a:ln w="19050">
            <a:solidFill>
              <a:srgbClr val="9A6A28"/>
            </a:solidFill>
            <a:prstDash val="solid"/>
          </a:ln>
        </p:spPr>
      </p:sp>
      <p:sp>
        <p:nvSpPr>
          <p:cNvPr id="10" name="Text 8"/>
          <p:cNvSpPr/>
          <p:nvPr/>
        </p:nvSpPr>
        <p:spPr>
          <a:xfrm>
            <a:off x="658368" y="2788920"/>
            <a:ext cx="960120" cy="457200"/>
          </a:xfrm>
          <a:prstGeom prst="rect">
            <a:avLst/>
          </a:prstGeom>
          <a:noFill/>
          <a:ln/>
        </p:spPr>
        <p:txBody>
          <a:bodyPr wrap="square" lIns="0" tIns="0" rIns="0" bIns="0" rtlCol="0" anchor="ctr"/>
          <a:lstStyle/>
          <a:p>
            <a:pPr algn="ctr" indent="0" marL="0">
              <a:buNone/>
            </a:pPr>
            <a:r>
              <a:rPr lang="en-US" sz="1100" b="1" dirty="0">
                <a:solidFill>
                  <a:srgbClr val="1C2530"/>
                </a:solidFill>
                <a:latin typeface="Calibri" pitchFamily="34" charset="0"/>
                <a:ea typeface="Calibri" pitchFamily="34" charset="-122"/>
                <a:cs typeface="Calibri" pitchFamily="34" charset="-120"/>
              </a:rPr>
              <a:t>~1 KB</a:t>
            </a:r>
            <a:endParaRPr lang="en-US" sz="1100" dirty="0"/>
          </a:p>
        </p:txBody>
      </p:sp>
      <p:sp>
        <p:nvSpPr>
          <p:cNvPr id="11" name="Text 9"/>
          <p:cNvSpPr/>
          <p:nvPr/>
        </p:nvSpPr>
        <p:spPr>
          <a:xfrm>
            <a:off x="658368" y="3337560"/>
            <a:ext cx="2377440" cy="502920"/>
          </a:xfrm>
          <a:prstGeom prst="rect">
            <a:avLst/>
          </a:prstGeom>
          <a:noFill/>
          <a:ln/>
        </p:spPr>
        <p:txBody>
          <a:bodyPr wrap="square" lIns="0" tIns="0" rIns="0" bIns="0" rtlCol="0" anchor="ctr"/>
          <a:lstStyle/>
          <a:p>
            <a:pPr indent="0" marL="0">
              <a:lnSpc>
                <a:spcPts val="1300"/>
              </a:lnSpc>
              <a:buNone/>
            </a:pPr>
            <a:r>
              <a:rPr lang="en-US" sz="950" dirty="0">
                <a:solidFill>
                  <a:srgbClr val="7C848D"/>
                </a:solidFill>
                <a:latin typeface="Calibri" pitchFamily="34" charset="0"/>
                <a:ea typeface="Calibri" pitchFamily="34" charset="-122"/>
                <a:cs typeface="Calibri" pitchFamily="34" charset="-120"/>
              </a:rPr>
              <a:t>what you want to send</a:t>
            </a:r>
            <a:endParaRPr lang="en-US" sz="950" dirty="0"/>
          </a:p>
          <a:p>
            <a:pPr indent="0" marL="0">
              <a:lnSpc>
                <a:spcPts val="1300"/>
              </a:lnSpc>
              <a:buNone/>
            </a:pPr>
            <a:r>
              <a:rPr lang="en-US" sz="950" dirty="0">
                <a:solidFill>
                  <a:srgbClr val="7C848D"/>
                </a:solidFill>
                <a:latin typeface="Calibri" pitchFamily="34" charset="0"/>
                <a:ea typeface="Calibri" pitchFamily="34" charset="-122"/>
                <a:cs typeface="Calibri" pitchFamily="34" charset="-120"/>
              </a:rPr>
              <a:t>a batch of transaction values</a:t>
            </a:r>
            <a:endParaRPr lang="en-US" sz="950" dirty="0"/>
          </a:p>
        </p:txBody>
      </p:sp>
      <p:sp>
        <p:nvSpPr>
          <p:cNvPr id="12" name="Shape 10"/>
          <p:cNvSpPr/>
          <p:nvPr/>
        </p:nvSpPr>
        <p:spPr>
          <a:xfrm>
            <a:off x="3657600" y="2395728"/>
            <a:ext cx="4937760" cy="1243584"/>
          </a:xfrm>
          <a:prstGeom prst="rect">
            <a:avLst/>
          </a:prstGeom>
          <a:solidFill>
            <a:srgbClr val="FFFFFF"/>
          </a:solidFill>
          <a:ln w="12700">
            <a:solidFill>
              <a:srgbClr val="1C2530"/>
            </a:solidFill>
            <a:prstDash val="solid"/>
          </a:ln>
        </p:spPr>
      </p:sp>
      <p:sp>
        <p:nvSpPr>
          <p:cNvPr id="13" name="Shape 11"/>
          <p:cNvSpPr/>
          <p:nvPr/>
        </p:nvSpPr>
        <p:spPr>
          <a:xfrm>
            <a:off x="3913632" y="2788920"/>
            <a:ext cx="960120" cy="457200"/>
          </a:xfrm>
          <a:prstGeom prst="rect">
            <a:avLst/>
          </a:prstGeom>
          <a:solidFill>
            <a:srgbClr val="E4D8BF"/>
          </a:solidFill>
          <a:ln w="19050">
            <a:solidFill>
              <a:srgbClr val="9A6A28"/>
            </a:solidFill>
            <a:prstDash val="solid"/>
          </a:ln>
        </p:spPr>
      </p:sp>
      <p:sp>
        <p:nvSpPr>
          <p:cNvPr id="14" name="Text 12"/>
          <p:cNvSpPr/>
          <p:nvPr/>
        </p:nvSpPr>
        <p:spPr>
          <a:xfrm>
            <a:off x="3913632" y="2788920"/>
            <a:ext cx="960120" cy="457200"/>
          </a:xfrm>
          <a:prstGeom prst="rect">
            <a:avLst/>
          </a:prstGeom>
          <a:noFill/>
          <a:ln/>
        </p:spPr>
        <p:txBody>
          <a:bodyPr wrap="square" lIns="0" tIns="0" rIns="0" bIns="0" rtlCol="0" anchor="ctr"/>
          <a:lstStyle/>
          <a:p>
            <a:pPr algn="ctr" indent="0" marL="0">
              <a:buNone/>
            </a:pPr>
            <a:r>
              <a:rPr lang="en-US" sz="1000" dirty="0">
                <a:solidFill>
                  <a:srgbClr val="1C2530"/>
                </a:solidFill>
                <a:latin typeface="Calibri" pitchFamily="34" charset="0"/>
                <a:ea typeface="Calibri" pitchFamily="34" charset="-122"/>
                <a:cs typeface="Calibri" pitchFamily="34" charset="-120"/>
              </a:rPr>
              <a:t>~1 KB</a:t>
            </a:r>
            <a:endParaRPr lang="en-US" sz="1000" dirty="0"/>
          </a:p>
        </p:txBody>
      </p:sp>
      <p:sp>
        <p:nvSpPr>
          <p:cNvPr id="15" name="Text 13"/>
          <p:cNvSpPr/>
          <p:nvPr/>
        </p:nvSpPr>
        <p:spPr>
          <a:xfrm>
            <a:off x="3657600" y="2487168"/>
            <a:ext cx="4937760" cy="274320"/>
          </a:xfrm>
          <a:prstGeom prst="rect">
            <a:avLst/>
          </a:prstGeom>
          <a:noFill/>
          <a:ln/>
        </p:spPr>
        <p:txBody>
          <a:bodyPr wrap="square" lIns="0" tIns="0" rIns="0" bIns="0" rtlCol="0" anchor="ctr"/>
          <a:lstStyle/>
          <a:p>
            <a:pPr algn="ctr" indent="0" marL="0">
              <a:buNone/>
            </a:pPr>
            <a:r>
              <a:rPr lang="en-US" sz="1150" b="1" dirty="0">
                <a:solidFill>
                  <a:srgbClr val="1C2530"/>
                </a:solidFill>
                <a:latin typeface="Calibri" pitchFamily="34" charset="0"/>
                <a:ea typeface="Calibri" pitchFamily="34" charset="-122"/>
                <a:cs typeface="Calibri" pitchFamily="34" charset="-120"/>
              </a:rPr>
              <a:t>262,257 bytes on the wire</a:t>
            </a:r>
            <a:endParaRPr lang="en-US" sz="1150" dirty="0"/>
          </a:p>
        </p:txBody>
      </p:sp>
      <p:sp>
        <p:nvSpPr>
          <p:cNvPr id="16" name="Text 14"/>
          <p:cNvSpPr/>
          <p:nvPr/>
        </p:nvSpPr>
        <p:spPr>
          <a:xfrm>
            <a:off x="5029200" y="2852928"/>
            <a:ext cx="3383280" cy="329184"/>
          </a:xfrm>
          <a:prstGeom prst="rect">
            <a:avLst/>
          </a:prstGeom>
          <a:noFill/>
          <a:ln/>
        </p:spPr>
        <p:txBody>
          <a:bodyPr wrap="square" lIns="0" tIns="0" rIns="0" bIns="0" rtlCol="0" anchor="ctr"/>
          <a:lstStyle/>
          <a:p>
            <a:pPr indent="0" marL="0">
              <a:buNone/>
            </a:pPr>
            <a:r>
              <a:rPr lang="en-US" sz="950" dirty="0">
                <a:solidFill>
                  <a:srgbClr val="7C848D"/>
                </a:solidFill>
                <a:latin typeface="Calibri" pitchFamily="34" charset="0"/>
                <a:ea typeface="Calibri" pitchFamily="34" charset="-122"/>
                <a:cs typeface="Calibri" pitchFamily="34" charset="-120"/>
              </a:rPr>
              <a:t>one CKKS ciphertext — your data is somewhere in here</a:t>
            </a:r>
            <a:endParaRPr lang="en-US" sz="950" dirty="0"/>
          </a:p>
        </p:txBody>
      </p:sp>
      <p:sp>
        <p:nvSpPr>
          <p:cNvPr id="17" name="Shape 15"/>
          <p:cNvSpPr/>
          <p:nvPr/>
        </p:nvSpPr>
        <p:spPr>
          <a:xfrm>
            <a:off x="1737360" y="3017520"/>
            <a:ext cx="1828800" cy="0"/>
          </a:xfrm>
          <a:prstGeom prst="line">
            <a:avLst/>
          </a:prstGeom>
          <a:noFill/>
          <a:ln w="15875">
            <a:solidFill>
              <a:srgbClr val="1C2530"/>
            </a:solidFill>
            <a:prstDash val="solid"/>
            <a:headEnd type="none"/>
            <a:tailEnd type="triangle"/>
          </a:ln>
        </p:spPr>
      </p:sp>
      <p:sp>
        <p:nvSpPr>
          <p:cNvPr id="18" name="Text 16"/>
          <p:cNvSpPr/>
          <p:nvPr/>
        </p:nvSpPr>
        <p:spPr>
          <a:xfrm>
            <a:off x="1737360" y="2761488"/>
            <a:ext cx="1828800" cy="219456"/>
          </a:xfrm>
          <a:prstGeom prst="rect">
            <a:avLst/>
          </a:prstGeom>
          <a:noFill/>
          <a:ln/>
        </p:spPr>
        <p:txBody>
          <a:bodyPr wrap="square" lIns="0" tIns="0" rIns="0" bIns="0" rtlCol="0" anchor="ctr"/>
          <a:lstStyle/>
          <a:p>
            <a:pPr algn="ctr" indent="0" marL="0">
              <a:buNone/>
            </a:pPr>
            <a:r>
              <a:rPr lang="en-US" sz="950" dirty="0">
                <a:solidFill>
                  <a:srgbClr val="7C848D"/>
                </a:solidFill>
                <a:latin typeface="Calibri" pitchFamily="34" charset="0"/>
                <a:ea typeface="Calibri" pitchFamily="34" charset="-122"/>
                <a:cs typeface="Calibri" pitchFamily="34" charset="-120"/>
              </a:rPr>
              <a:t>encrypt</a:t>
            </a:r>
            <a:endParaRPr lang="en-US" sz="950" dirty="0"/>
          </a:p>
        </p:txBody>
      </p:sp>
      <p:sp>
        <p:nvSpPr>
          <p:cNvPr id="19" name="Shape 17"/>
          <p:cNvSpPr/>
          <p:nvPr/>
        </p:nvSpPr>
        <p:spPr>
          <a:xfrm>
            <a:off x="9052560" y="2395728"/>
            <a:ext cx="2468880" cy="1243584"/>
          </a:xfrm>
          <a:prstGeom prst="rect">
            <a:avLst/>
          </a:prstGeom>
          <a:solidFill>
            <a:srgbClr val="EDE8DE"/>
          </a:solidFill>
          <a:ln w="12700">
            <a:solidFill>
              <a:srgbClr val="7C848D"/>
            </a:solidFill>
            <a:prstDash val="solid"/>
          </a:ln>
        </p:spPr>
      </p:sp>
      <p:sp>
        <p:nvSpPr>
          <p:cNvPr id="20" name="Text 18"/>
          <p:cNvSpPr/>
          <p:nvPr/>
        </p:nvSpPr>
        <p:spPr>
          <a:xfrm>
            <a:off x="9052560" y="2578608"/>
            <a:ext cx="2468880" cy="384048"/>
          </a:xfrm>
          <a:prstGeom prst="rect">
            <a:avLst/>
          </a:prstGeom>
          <a:noFill/>
          <a:ln/>
        </p:spPr>
        <p:txBody>
          <a:bodyPr wrap="square" lIns="0" tIns="0" rIns="0" bIns="0" rtlCol="0" anchor="ctr"/>
          <a:lstStyle/>
          <a:p>
            <a:pPr algn="ctr" indent="0" marL="0">
              <a:buNone/>
            </a:pPr>
            <a:r>
              <a:rPr lang="en-US" sz="2200" dirty="0">
                <a:solidFill>
                  <a:srgbClr val="9A6A28"/>
                </a:solidFill>
                <a:latin typeface="Century Schoolbook" pitchFamily="34" charset="0"/>
                <a:ea typeface="Century Schoolbook" pitchFamily="34" charset="-122"/>
                <a:cs typeface="Century Schoolbook" pitchFamily="34" charset="-120"/>
              </a:rPr>
              <a:t>2,933 µs</a:t>
            </a:r>
            <a:endParaRPr lang="en-US" sz="2200" dirty="0"/>
          </a:p>
        </p:txBody>
      </p:sp>
      <p:sp>
        <p:nvSpPr>
          <p:cNvPr id="21" name="Text 19"/>
          <p:cNvSpPr/>
          <p:nvPr/>
        </p:nvSpPr>
        <p:spPr>
          <a:xfrm>
            <a:off x="9052560" y="2999232"/>
            <a:ext cx="2468880" cy="457200"/>
          </a:xfrm>
          <a:prstGeom prst="rect">
            <a:avLst/>
          </a:prstGeom>
          <a:noFill/>
          <a:ln/>
        </p:spPr>
        <p:txBody>
          <a:bodyPr wrap="square" lIns="0" tIns="0" rIns="0" bIns="0" rtlCol="0" anchor="ctr"/>
          <a:lstStyle/>
          <a:p>
            <a:pPr algn="ctr" indent="0" marL="0">
              <a:lnSpc>
                <a:spcPts val="1300"/>
              </a:lnSpc>
              <a:buNone/>
            </a:pPr>
            <a:r>
              <a:rPr lang="en-US" sz="950" dirty="0">
                <a:solidFill>
                  <a:srgbClr val="3B4650"/>
                </a:solidFill>
                <a:latin typeface="Calibri" pitchFamily="34" charset="0"/>
                <a:ea typeface="Calibri" pitchFamily="34" charset="-122"/>
                <a:cs typeface="Calibri" pitchFamily="34" charset="-120"/>
              </a:rPr>
              <a:t>client encode + encrypt,</a:t>
            </a:r>
            <a:endParaRPr lang="en-US" sz="950" dirty="0"/>
          </a:p>
          <a:p>
            <a:pPr algn="ctr" indent="0" marL="0">
              <a:lnSpc>
                <a:spcPts val="1300"/>
              </a:lnSpc>
              <a:buNone/>
            </a:pPr>
            <a:r>
              <a:rPr lang="en-US" sz="950" dirty="0">
                <a:solidFill>
                  <a:srgbClr val="3B4650"/>
                </a:solidFill>
                <a:latin typeface="Calibri" pitchFamily="34" charset="0"/>
                <a:ea typeface="Calibri" pitchFamily="34" charset="-122"/>
                <a:cs typeface="Calibri" pitchFamily="34" charset="-120"/>
              </a:rPr>
              <a:t>per record</a:t>
            </a:r>
            <a:endParaRPr lang="en-US" sz="950" dirty="0"/>
          </a:p>
        </p:txBody>
      </p:sp>
      <p:sp>
        <p:nvSpPr>
          <p:cNvPr id="22" name="Text 20"/>
          <p:cNvSpPr/>
          <p:nvPr/>
        </p:nvSpPr>
        <p:spPr>
          <a:xfrm>
            <a:off x="658368" y="4297680"/>
            <a:ext cx="10241280" cy="548640"/>
          </a:xfrm>
          <a:prstGeom prst="rect">
            <a:avLst/>
          </a:prstGeom>
          <a:noFill/>
          <a:ln/>
        </p:spPr>
        <p:txBody>
          <a:bodyPr wrap="square" lIns="0" tIns="0" rIns="0" bIns="0" rtlCol="0" anchor="ctr"/>
          <a:lstStyle/>
          <a:p>
            <a:pPr indent="0" marL="0">
              <a:lnSpc>
                <a:spcPts val="2100"/>
              </a:lnSpc>
              <a:buNone/>
            </a:pPr>
            <a:r>
              <a:rPr lang="en-US" sz="1350" dirty="0">
                <a:solidFill>
                  <a:srgbClr val="3B4650"/>
                </a:solidFill>
                <a:latin typeface="Calibri" pitchFamily="34" charset="0"/>
                <a:ea typeface="Calibri" pitchFamily="34" charset="-122"/>
                <a:cs typeface="Calibri" pitchFamily="34" charset="-120"/>
              </a:rPr>
              <a:t>The second problem is the worse one. The intended client is a branch terminal or a phone — thin hardware doing heavy encryption on every transaction.</a:t>
            </a:r>
            <a:endParaRPr lang="en-US" sz="1350" dirty="0"/>
          </a:p>
        </p:txBody>
      </p:sp>
      <p:sp>
        <p:nvSpPr>
          <p:cNvPr id="23" name="Text 21"/>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4" name="Text 22"/>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02 · THE IDEA</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Ship a cheap cipher; let the server convert</a:t>
            </a:r>
            <a:endParaRPr lang="en-US" sz="2700" dirty="0"/>
          </a:p>
        </p:txBody>
      </p:sp>
      <p:sp>
        <p:nvSpPr>
          <p:cNvPr id="4" name="Text 2"/>
          <p:cNvSpPr/>
          <p:nvPr/>
        </p:nvSpPr>
        <p:spPr>
          <a:xfrm>
            <a:off x="658368" y="1444752"/>
            <a:ext cx="10332720" cy="73152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The client encrypts with a symmetric stream cipher. The homomorphic key goes up once. The server runs the cipher's decryption homomorphically and ends up holding the ciphertext the client never sent.</a:t>
            </a:r>
            <a:endParaRPr lang="en-US" sz="1450" dirty="0"/>
          </a:p>
        </p:txBody>
      </p:sp>
      <p:sp>
        <p:nvSpPr>
          <p:cNvPr id="5" name="Shape 3"/>
          <p:cNvSpPr/>
          <p:nvPr/>
        </p:nvSpPr>
        <p:spPr>
          <a:xfrm>
            <a:off x="658368" y="2606040"/>
            <a:ext cx="4297680" cy="1691640"/>
          </a:xfrm>
          <a:prstGeom prst="rect">
            <a:avLst/>
          </a:prstGeom>
          <a:solidFill>
            <a:srgbClr val="FFFFFF"/>
          </a:solidFill>
          <a:ln w="12700">
            <a:solidFill>
              <a:srgbClr val="D3CCC0"/>
            </a:solidFill>
            <a:prstDash val="solid"/>
          </a:ln>
        </p:spPr>
      </p:sp>
      <p:sp>
        <p:nvSpPr>
          <p:cNvPr id="6" name="Text 4"/>
          <p:cNvSpPr/>
          <p:nvPr/>
        </p:nvSpPr>
        <p:spPr>
          <a:xfrm>
            <a:off x="932688" y="2807208"/>
            <a:ext cx="3749040" cy="274320"/>
          </a:xfrm>
          <a:prstGeom prst="rect">
            <a:avLst/>
          </a:prstGeom>
          <a:noFill/>
          <a:ln/>
        </p:spPr>
        <p:txBody>
          <a:bodyPr wrap="square" lIns="0" tIns="0" rIns="0" bIns="0" rtlCol="0" anchor="ctr"/>
          <a:lstStyle/>
          <a:p>
            <a:pPr indent="0" marL="0">
              <a:buNone/>
            </a:pPr>
            <a:r>
              <a:rPr lang="en-US" sz="1100" b="1" spc="80" kern="0" dirty="0">
                <a:solidFill>
                  <a:srgbClr val="7C848D"/>
                </a:solidFill>
                <a:latin typeface="Calibri" pitchFamily="34" charset="0"/>
                <a:ea typeface="Calibri" pitchFamily="34" charset="-122"/>
                <a:cs typeface="Calibri" pitchFamily="34" charset="-120"/>
              </a:rPr>
              <a:t>A · Plain CKKS</a:t>
            </a:r>
            <a:endParaRPr lang="en-US" sz="1100" dirty="0"/>
          </a:p>
        </p:txBody>
      </p:sp>
      <p:sp>
        <p:nvSpPr>
          <p:cNvPr id="7" name="Text 5"/>
          <p:cNvSpPr/>
          <p:nvPr/>
        </p:nvSpPr>
        <p:spPr>
          <a:xfrm>
            <a:off x="932688" y="3136392"/>
            <a:ext cx="3749040" cy="475488"/>
          </a:xfrm>
          <a:prstGeom prst="rect">
            <a:avLst/>
          </a:prstGeom>
          <a:noFill/>
          <a:ln/>
        </p:spPr>
        <p:txBody>
          <a:bodyPr wrap="square" lIns="0" tIns="0" rIns="0" bIns="0" rtlCol="0" anchor="ctr"/>
          <a:lstStyle/>
          <a:p>
            <a:pPr indent="0" marL="0">
              <a:buNone/>
            </a:pPr>
            <a:r>
              <a:rPr lang="en-US" sz="2600" dirty="0">
                <a:solidFill>
                  <a:srgbClr val="1C2530"/>
                </a:solidFill>
                <a:latin typeface="Century Schoolbook" pitchFamily="34" charset="0"/>
                <a:ea typeface="Century Schoolbook" pitchFamily="34" charset="-122"/>
                <a:cs typeface="Century Schoolbook" pitchFamily="34" charset="-120"/>
              </a:rPr>
              <a:t>262 KB</a:t>
            </a:r>
            <a:endParaRPr lang="en-US" sz="2600" dirty="0"/>
          </a:p>
        </p:txBody>
      </p:sp>
      <p:sp>
        <p:nvSpPr>
          <p:cNvPr id="8" name="Text 6"/>
          <p:cNvSpPr/>
          <p:nvPr/>
        </p:nvSpPr>
        <p:spPr>
          <a:xfrm>
            <a:off x="932688" y="3666744"/>
            <a:ext cx="3749040" cy="502920"/>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per record on the wire. Client does the heavy encryption and pays the bandwidth.</a:t>
            </a:r>
            <a:endParaRPr lang="en-US" sz="1050" dirty="0"/>
          </a:p>
        </p:txBody>
      </p:sp>
      <p:sp>
        <p:nvSpPr>
          <p:cNvPr id="9" name="Shape 7"/>
          <p:cNvSpPr/>
          <p:nvPr/>
        </p:nvSpPr>
        <p:spPr>
          <a:xfrm>
            <a:off x="7223760" y="2606040"/>
            <a:ext cx="4297680" cy="1691640"/>
          </a:xfrm>
          <a:prstGeom prst="rect">
            <a:avLst/>
          </a:prstGeom>
          <a:solidFill>
            <a:srgbClr val="EFE7D6"/>
          </a:solidFill>
          <a:ln w="19050">
            <a:solidFill>
              <a:srgbClr val="9A6A28"/>
            </a:solidFill>
            <a:prstDash val="solid"/>
          </a:ln>
        </p:spPr>
      </p:sp>
      <p:sp>
        <p:nvSpPr>
          <p:cNvPr id="10" name="Text 8"/>
          <p:cNvSpPr/>
          <p:nvPr/>
        </p:nvSpPr>
        <p:spPr>
          <a:xfrm>
            <a:off x="7498080" y="2807208"/>
            <a:ext cx="3749040" cy="274320"/>
          </a:xfrm>
          <a:prstGeom prst="rect">
            <a:avLst/>
          </a:prstGeom>
          <a:noFill/>
          <a:ln/>
        </p:spPr>
        <p:txBody>
          <a:bodyPr wrap="square" lIns="0" tIns="0" rIns="0" bIns="0" rtlCol="0" anchor="ctr"/>
          <a:lstStyle/>
          <a:p>
            <a:pPr indent="0" marL="0">
              <a:buNone/>
            </a:pPr>
            <a:r>
              <a:rPr lang="en-US" sz="1100" b="1" spc="80" kern="0" dirty="0">
                <a:solidFill>
                  <a:srgbClr val="9A6A28"/>
                </a:solidFill>
                <a:latin typeface="Calibri" pitchFamily="34" charset="0"/>
                <a:ea typeface="Calibri" pitchFamily="34" charset="-122"/>
                <a:cs typeface="Calibri" pitchFamily="34" charset="-120"/>
              </a:rPr>
              <a:t>B · Transciphering</a:t>
            </a:r>
            <a:endParaRPr lang="en-US" sz="1100" dirty="0"/>
          </a:p>
        </p:txBody>
      </p:sp>
      <p:sp>
        <p:nvSpPr>
          <p:cNvPr id="11" name="Text 9"/>
          <p:cNvSpPr/>
          <p:nvPr/>
        </p:nvSpPr>
        <p:spPr>
          <a:xfrm>
            <a:off x="7498080" y="3136392"/>
            <a:ext cx="3749040" cy="475488"/>
          </a:xfrm>
          <a:prstGeom prst="rect">
            <a:avLst/>
          </a:prstGeom>
          <a:noFill/>
          <a:ln/>
        </p:spPr>
        <p:txBody>
          <a:bodyPr wrap="square" lIns="0" tIns="0" rIns="0" bIns="0" rtlCol="0" anchor="ctr"/>
          <a:lstStyle/>
          <a:p>
            <a:pPr indent="0" marL="0">
              <a:buNone/>
            </a:pPr>
            <a:r>
              <a:rPr lang="en-US" sz="2600" dirty="0">
                <a:solidFill>
                  <a:srgbClr val="1C2530"/>
                </a:solidFill>
                <a:latin typeface="Century Schoolbook" pitchFamily="34" charset="0"/>
                <a:ea typeface="Century Schoolbook" pitchFamily="34" charset="-122"/>
                <a:cs typeface="Century Schoolbook" pitchFamily="34" charset="-120"/>
              </a:rPr>
              <a:t>~1 KB</a:t>
            </a:r>
            <a:endParaRPr lang="en-US" sz="2600" dirty="0"/>
          </a:p>
        </p:txBody>
      </p:sp>
      <p:sp>
        <p:nvSpPr>
          <p:cNvPr id="12" name="Text 10"/>
          <p:cNvSpPr/>
          <p:nvPr/>
        </p:nvSpPr>
        <p:spPr>
          <a:xfrm>
            <a:off x="7498080" y="3666744"/>
            <a:ext cx="3749040" cy="502920"/>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per record. Client runs a cheap cipher; the server reconstructs the encrypted form itself.</a:t>
            </a:r>
            <a:endParaRPr lang="en-US" sz="1050" dirty="0"/>
          </a:p>
        </p:txBody>
      </p:sp>
      <p:sp>
        <p:nvSpPr>
          <p:cNvPr id="13" name="Text 11"/>
          <p:cNvSpPr/>
          <p:nvPr/>
        </p:nvSpPr>
        <p:spPr>
          <a:xfrm>
            <a:off x="5120640" y="3108960"/>
            <a:ext cx="2011680" cy="502920"/>
          </a:xfrm>
          <a:prstGeom prst="rect">
            <a:avLst/>
          </a:prstGeom>
          <a:noFill/>
          <a:ln/>
        </p:spPr>
        <p:txBody>
          <a:bodyPr wrap="square" lIns="0" tIns="0" rIns="0" bIns="0" rtlCol="0" anchor="ctr"/>
          <a:lstStyle/>
          <a:p>
            <a:pPr algn="ctr" indent="0" marL="0">
              <a:buNone/>
            </a:pPr>
            <a:r>
              <a:rPr lang="en-US" sz="2700" dirty="0">
                <a:solidFill>
                  <a:srgbClr val="9A6A28"/>
                </a:solidFill>
                <a:latin typeface="Century Schoolbook" pitchFamily="34" charset="0"/>
                <a:ea typeface="Century Schoolbook" pitchFamily="34" charset="-122"/>
                <a:cs typeface="Century Schoolbook" pitchFamily="34" charset="-120"/>
              </a:rPr>
              <a:t>249×</a:t>
            </a:r>
            <a:endParaRPr lang="en-US" sz="2700" dirty="0"/>
          </a:p>
        </p:txBody>
      </p:sp>
      <p:sp>
        <p:nvSpPr>
          <p:cNvPr id="14" name="Text 12"/>
          <p:cNvSpPr/>
          <p:nvPr/>
        </p:nvSpPr>
        <p:spPr>
          <a:xfrm>
            <a:off x="4956048" y="3630168"/>
            <a:ext cx="2340864" cy="274320"/>
          </a:xfrm>
          <a:prstGeom prst="rect">
            <a:avLst/>
          </a:prstGeom>
          <a:noFill/>
          <a:ln/>
        </p:spPr>
        <p:txBody>
          <a:bodyPr wrap="square" lIns="0" tIns="0" rIns="0" bIns="0" rtlCol="0" anchor="ctr"/>
          <a:lstStyle/>
          <a:p>
            <a:pPr algn="ctr" indent="0" marL="0">
              <a:buNone/>
            </a:pPr>
            <a:r>
              <a:rPr lang="en-US" sz="900" dirty="0">
                <a:solidFill>
                  <a:srgbClr val="7C848D"/>
                </a:solidFill>
                <a:latin typeface="Calibri" pitchFamily="34" charset="0"/>
                <a:ea typeface="Calibri" pitchFamily="34" charset="-122"/>
                <a:cs typeface="Calibri" pitchFamily="34" charset="-120"/>
              </a:rPr>
              <a:t>262,257 → 1,052 bytes</a:t>
            </a:r>
            <a:endParaRPr lang="en-US" sz="900" dirty="0"/>
          </a:p>
        </p:txBody>
      </p:sp>
      <p:sp>
        <p:nvSpPr>
          <p:cNvPr id="15" name="Text 13"/>
          <p:cNvSpPr/>
          <p:nvPr/>
        </p:nvSpPr>
        <p:spPr>
          <a:xfrm>
            <a:off x="658368" y="4709160"/>
            <a:ext cx="10332720" cy="365760"/>
          </a:xfrm>
          <a:prstGeom prst="rect">
            <a:avLst/>
          </a:prstGeom>
          <a:noFill/>
          <a:ln/>
        </p:spPr>
        <p:txBody>
          <a:bodyPr wrap="square" lIns="0" tIns="0" rIns="0" bIns="0" rtlCol="0" anchor="ctr"/>
          <a:lstStyle/>
          <a:p>
            <a:pPr indent="0" marL="0">
              <a:buNone/>
            </a:pPr>
            <a:r>
              <a:rPr lang="en-US" sz="1300" i="1" dirty="0">
                <a:solidFill>
                  <a:srgbClr val="3B4650"/>
                </a:solidFill>
                <a:latin typeface="Calibri" pitchFamily="34" charset="0"/>
                <a:ea typeface="Calibri" pitchFamily="34" charset="-122"/>
                <a:cs typeface="Calibri" pitchFamily="34" charset="-120"/>
              </a:rPr>
              <a:t>Same guarantee, same computation at the end. The cost is moved to the server, not removed.</a:t>
            </a:r>
            <a:endParaRPr lang="en-US" sz="1300" dirty="0"/>
          </a:p>
        </p:txBody>
      </p:sp>
      <p:sp>
        <p:nvSpPr>
          <p:cNvPr id="16" name="Text 14"/>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17" name="Text 15"/>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03 · THE CIPHER</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Why HERA and not AES</a:t>
            </a:r>
            <a:endParaRPr lang="en-US" sz="2700" dirty="0"/>
          </a:p>
        </p:txBody>
      </p:sp>
      <p:sp>
        <p:nvSpPr>
          <p:cNvPr id="4" name="Shape 2"/>
          <p:cNvSpPr/>
          <p:nvPr/>
        </p:nvSpPr>
        <p:spPr>
          <a:xfrm>
            <a:off x="10051999" y="402336"/>
            <a:ext cx="1481328" cy="219456"/>
          </a:xfrm>
          <a:prstGeom prst="rect">
            <a:avLst/>
          </a:prstGeom>
          <a:ln w="9525">
            <a:solidFill>
              <a:srgbClr val="1C2530"/>
            </a:solidFill>
            <a:prstDash val="solid"/>
          </a:ln>
        </p:spPr>
      </p:sp>
      <p:sp>
        <p:nvSpPr>
          <p:cNvPr id="5" name="Text 3"/>
          <p:cNvSpPr/>
          <p:nvPr/>
        </p:nvSpPr>
        <p:spPr>
          <a:xfrm>
            <a:off x="10051999" y="402336"/>
            <a:ext cx="1481328" cy="219456"/>
          </a:xfrm>
          <a:prstGeom prst="rect">
            <a:avLst/>
          </a:prstGeom>
          <a:noFill/>
          <a:ln/>
        </p:spPr>
        <p:txBody>
          <a:bodyPr wrap="square" lIns="0" tIns="0" rIns="0" bIns="0" rtlCol="0" anchor="ctr"/>
          <a:lstStyle/>
          <a:p>
            <a:pPr algn="ctr" indent="0" marL="0">
              <a:buNone/>
            </a:pPr>
            <a:r>
              <a:rPr lang="en-US" sz="750" b="1" spc="80" kern="0" dirty="0">
                <a:solidFill>
                  <a:srgbClr val="1C2530"/>
                </a:solidFill>
                <a:latin typeface="Calibri" pitchFamily="34" charset="0"/>
                <a:ea typeface="Calibri" pitchFamily="34" charset="-122"/>
                <a:cs typeface="Calibri" pitchFamily="34" charset="-120"/>
              </a:rPr>
              <a:t>CONFIRMED-SOURCE</a:t>
            </a:r>
            <a:endParaRPr lang="en-US" sz="750" dirty="0"/>
          </a:p>
        </p:txBody>
      </p:sp>
      <p:sp>
        <p:nvSpPr>
          <p:cNvPr id="6" name="Text 4"/>
          <p:cNvSpPr/>
          <p:nvPr/>
        </p:nvSpPr>
        <p:spPr>
          <a:xfrm>
            <a:off x="658368" y="1463040"/>
            <a:ext cx="9875520" cy="64008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Inside homomorphic encryption the cost metric is multiplicative depth, not instruction count. AES was designed against a CPU cost model; HERA was designed against this one.</a:t>
            </a:r>
            <a:endParaRPr lang="en-US" sz="1450" dirty="0"/>
          </a:p>
        </p:txBody>
      </p:sp>
      <p:sp>
        <p:nvSpPr>
          <p:cNvPr id="7" name="Shape 5"/>
          <p:cNvSpPr/>
          <p:nvPr/>
        </p:nvSpPr>
        <p:spPr>
          <a:xfrm>
            <a:off x="658368" y="2606040"/>
            <a:ext cx="3108960" cy="1371600"/>
          </a:xfrm>
          <a:prstGeom prst="rect">
            <a:avLst/>
          </a:prstGeom>
          <a:solidFill>
            <a:srgbClr val="FFFFFF"/>
          </a:solidFill>
          <a:ln w="12700">
            <a:solidFill>
              <a:srgbClr val="D3CCC0"/>
            </a:solidFill>
            <a:prstDash val="solid"/>
          </a:ln>
        </p:spPr>
      </p:sp>
      <p:sp>
        <p:nvSpPr>
          <p:cNvPr id="8" name="Text 6"/>
          <p:cNvSpPr/>
          <p:nvPr/>
        </p:nvSpPr>
        <p:spPr>
          <a:xfrm>
            <a:off x="886968" y="2834640"/>
            <a:ext cx="2651760" cy="292608"/>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Add key material</a:t>
            </a:r>
            <a:endParaRPr lang="en-US" sz="1300" dirty="0"/>
          </a:p>
        </p:txBody>
      </p:sp>
      <p:sp>
        <p:nvSpPr>
          <p:cNvPr id="9" name="Text 7"/>
          <p:cNvSpPr/>
          <p:nvPr/>
        </p:nvSpPr>
        <p:spPr>
          <a:xfrm>
            <a:off x="886968" y="3172968"/>
            <a:ext cx="2651760" cy="256032"/>
          </a:xfrm>
          <a:prstGeom prst="rect">
            <a:avLst/>
          </a:prstGeom>
          <a:noFill/>
          <a:ln/>
        </p:spPr>
        <p:txBody>
          <a:bodyPr wrap="square" lIns="0" tIns="0" rIns="0" bIns="0" rtlCol="0" anchor="ctr"/>
          <a:lstStyle/>
          <a:p>
            <a:pPr indent="0" marL="0">
              <a:buNone/>
            </a:pPr>
            <a:r>
              <a:rPr lang="en-US" sz="1050" spc="80" kern="0" dirty="0">
                <a:solidFill>
                  <a:srgbClr val="7C848D"/>
                </a:solidFill>
                <a:latin typeface="Calibri" pitchFamily="34" charset="0"/>
                <a:ea typeface="Calibri" pitchFamily="34" charset="-122"/>
                <a:cs typeface="Calibri" pitchFamily="34" charset="-120"/>
              </a:rPr>
              <a:t>cheap</a:t>
            </a:r>
            <a:endParaRPr lang="en-US" sz="1050" dirty="0"/>
          </a:p>
        </p:txBody>
      </p:sp>
      <p:sp>
        <p:nvSpPr>
          <p:cNvPr id="10" name="Text 8"/>
          <p:cNvSpPr/>
          <p:nvPr/>
        </p:nvSpPr>
        <p:spPr>
          <a:xfrm>
            <a:off x="886968" y="3474720"/>
            <a:ext cx="2651760" cy="365760"/>
          </a:xfrm>
          <a:prstGeom prst="rect">
            <a:avLst/>
          </a:prstGeom>
          <a:noFill/>
          <a:ln/>
        </p:spPr>
        <p:txBody>
          <a:bodyPr wrap="square" lIns="0" tIns="0" rIns="0" bIns="0" rtlCol="0" anchor="ctr"/>
          <a:lstStyle/>
          <a:p>
            <a:pPr indent="0" marL="0">
              <a:buNone/>
            </a:pPr>
            <a:r>
              <a:rPr lang="en-US" sz="1000" dirty="0">
                <a:solidFill>
                  <a:srgbClr val="3B4650"/>
                </a:solidFill>
                <a:latin typeface="Calibri" pitchFamily="34" charset="0"/>
                <a:ea typeface="Calibri" pitchFamily="34" charset="-122"/>
                <a:cs typeface="Calibri" pitchFamily="34" charset="-120"/>
              </a:rPr>
              <a:t>scrambled by public constants</a:t>
            </a:r>
            <a:endParaRPr lang="en-US" sz="1000" dirty="0"/>
          </a:p>
        </p:txBody>
      </p:sp>
      <p:sp>
        <p:nvSpPr>
          <p:cNvPr id="11" name="Shape 9"/>
          <p:cNvSpPr/>
          <p:nvPr/>
        </p:nvSpPr>
        <p:spPr>
          <a:xfrm>
            <a:off x="3840480" y="3291840"/>
            <a:ext cx="237744" cy="0"/>
          </a:xfrm>
          <a:prstGeom prst="line">
            <a:avLst/>
          </a:prstGeom>
          <a:noFill/>
          <a:ln w="15875">
            <a:solidFill>
              <a:srgbClr val="7C848D"/>
            </a:solidFill>
            <a:prstDash val="solid"/>
            <a:headEnd type="none"/>
            <a:tailEnd type="triangle"/>
          </a:ln>
        </p:spPr>
      </p:sp>
      <p:sp>
        <p:nvSpPr>
          <p:cNvPr id="12" name="Shape 10"/>
          <p:cNvSpPr/>
          <p:nvPr/>
        </p:nvSpPr>
        <p:spPr>
          <a:xfrm>
            <a:off x="4151376" y="2606040"/>
            <a:ext cx="3108960" cy="1371600"/>
          </a:xfrm>
          <a:prstGeom prst="rect">
            <a:avLst/>
          </a:prstGeom>
          <a:solidFill>
            <a:srgbClr val="FFFFFF"/>
          </a:solidFill>
          <a:ln w="12700">
            <a:solidFill>
              <a:srgbClr val="D3CCC0"/>
            </a:solidFill>
            <a:prstDash val="solid"/>
          </a:ln>
        </p:spPr>
      </p:sp>
      <p:sp>
        <p:nvSpPr>
          <p:cNvPr id="13" name="Text 11"/>
          <p:cNvSpPr/>
          <p:nvPr/>
        </p:nvSpPr>
        <p:spPr>
          <a:xfrm>
            <a:off x="4379976" y="2834640"/>
            <a:ext cx="2651760" cy="292608"/>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Mix the 16 numbers</a:t>
            </a:r>
            <a:endParaRPr lang="en-US" sz="1300" dirty="0"/>
          </a:p>
        </p:txBody>
      </p:sp>
      <p:sp>
        <p:nvSpPr>
          <p:cNvPr id="14" name="Text 12"/>
          <p:cNvSpPr/>
          <p:nvPr/>
        </p:nvSpPr>
        <p:spPr>
          <a:xfrm>
            <a:off x="4379976" y="3172968"/>
            <a:ext cx="2651760" cy="256032"/>
          </a:xfrm>
          <a:prstGeom prst="rect">
            <a:avLst/>
          </a:prstGeom>
          <a:noFill/>
          <a:ln/>
        </p:spPr>
        <p:txBody>
          <a:bodyPr wrap="square" lIns="0" tIns="0" rIns="0" bIns="0" rtlCol="0" anchor="ctr"/>
          <a:lstStyle/>
          <a:p>
            <a:pPr indent="0" marL="0">
              <a:buNone/>
            </a:pPr>
            <a:r>
              <a:rPr lang="en-US" sz="1050" spc="80" kern="0" dirty="0">
                <a:solidFill>
                  <a:srgbClr val="7C848D"/>
                </a:solidFill>
                <a:latin typeface="Calibri" pitchFamily="34" charset="0"/>
                <a:ea typeface="Calibri" pitchFamily="34" charset="-122"/>
                <a:cs typeface="Calibri" pitchFamily="34" charset="-120"/>
              </a:rPr>
              <a:t>cheap</a:t>
            </a:r>
            <a:endParaRPr lang="en-US" sz="1050" dirty="0"/>
          </a:p>
        </p:txBody>
      </p:sp>
      <p:sp>
        <p:nvSpPr>
          <p:cNvPr id="15" name="Text 13"/>
          <p:cNvSpPr/>
          <p:nvPr/>
        </p:nvSpPr>
        <p:spPr>
          <a:xfrm>
            <a:off x="4379976" y="3474720"/>
            <a:ext cx="2651760" cy="365760"/>
          </a:xfrm>
          <a:prstGeom prst="rect">
            <a:avLst/>
          </a:prstGeom>
          <a:noFill/>
          <a:ln/>
        </p:spPr>
        <p:txBody>
          <a:bodyPr wrap="square" lIns="0" tIns="0" rIns="0" bIns="0" rtlCol="0" anchor="ctr"/>
          <a:lstStyle/>
          <a:p>
            <a:pPr indent="0" marL="0">
              <a:buNone/>
            </a:pPr>
            <a:r>
              <a:rPr lang="en-US" sz="1000" dirty="0">
                <a:solidFill>
                  <a:srgbClr val="3B4650"/>
                </a:solidFill>
                <a:latin typeface="Calibri" pitchFamily="34" charset="0"/>
                <a:ea typeface="Calibri" pitchFamily="34" charset="-122"/>
                <a:cs typeface="Calibri" pitchFamily="34" charset="-120"/>
              </a:rPr>
              <a:t>a fixed shuffle-and-combine</a:t>
            </a:r>
            <a:endParaRPr lang="en-US" sz="1000" dirty="0"/>
          </a:p>
        </p:txBody>
      </p:sp>
      <p:sp>
        <p:nvSpPr>
          <p:cNvPr id="16" name="Shape 14"/>
          <p:cNvSpPr/>
          <p:nvPr/>
        </p:nvSpPr>
        <p:spPr>
          <a:xfrm>
            <a:off x="7333488" y="3291840"/>
            <a:ext cx="237744" cy="0"/>
          </a:xfrm>
          <a:prstGeom prst="line">
            <a:avLst/>
          </a:prstGeom>
          <a:noFill/>
          <a:ln w="15875">
            <a:solidFill>
              <a:srgbClr val="7C848D"/>
            </a:solidFill>
            <a:prstDash val="solid"/>
            <a:headEnd type="none"/>
            <a:tailEnd type="triangle"/>
          </a:ln>
        </p:spPr>
      </p:sp>
      <p:sp>
        <p:nvSpPr>
          <p:cNvPr id="17" name="Shape 15"/>
          <p:cNvSpPr/>
          <p:nvPr/>
        </p:nvSpPr>
        <p:spPr>
          <a:xfrm>
            <a:off x="7644384" y="2606040"/>
            <a:ext cx="3108960" cy="1371600"/>
          </a:xfrm>
          <a:prstGeom prst="rect">
            <a:avLst/>
          </a:prstGeom>
          <a:solidFill>
            <a:srgbClr val="E4D8BF"/>
          </a:solidFill>
          <a:ln w="19050">
            <a:solidFill>
              <a:srgbClr val="9A6A28"/>
            </a:solidFill>
            <a:prstDash val="solid"/>
          </a:ln>
        </p:spPr>
      </p:sp>
      <p:sp>
        <p:nvSpPr>
          <p:cNvPr id="18" name="Text 16"/>
          <p:cNvSpPr/>
          <p:nvPr/>
        </p:nvSpPr>
        <p:spPr>
          <a:xfrm>
            <a:off x="7872984" y="2834640"/>
            <a:ext cx="2651760" cy="292608"/>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Cube each number</a:t>
            </a:r>
            <a:endParaRPr lang="en-US" sz="1300" dirty="0"/>
          </a:p>
        </p:txBody>
      </p:sp>
      <p:sp>
        <p:nvSpPr>
          <p:cNvPr id="19" name="Text 17"/>
          <p:cNvSpPr/>
          <p:nvPr/>
        </p:nvSpPr>
        <p:spPr>
          <a:xfrm>
            <a:off x="7872984" y="3172968"/>
            <a:ext cx="2651760" cy="256032"/>
          </a:xfrm>
          <a:prstGeom prst="rect">
            <a:avLst/>
          </a:prstGeom>
          <a:noFill/>
          <a:ln/>
        </p:spPr>
        <p:txBody>
          <a:bodyPr wrap="square" lIns="0" tIns="0" rIns="0" bIns="0" rtlCol="0" anchor="ctr"/>
          <a:lstStyle/>
          <a:p>
            <a:pPr indent="0" marL="0">
              <a:buNone/>
            </a:pPr>
            <a:r>
              <a:rPr lang="en-US" sz="1050" b="1" spc="80" kern="0" dirty="0">
                <a:solidFill>
                  <a:srgbClr val="9A6A28"/>
                </a:solidFill>
                <a:latin typeface="Calibri" pitchFamily="34" charset="0"/>
                <a:ea typeface="Calibri" pitchFamily="34" charset="-122"/>
                <a:cs typeface="Calibri" pitchFamily="34" charset="-120"/>
              </a:rPr>
              <a:t>EXPENSIVE</a:t>
            </a:r>
            <a:endParaRPr lang="en-US" sz="1050" dirty="0"/>
          </a:p>
        </p:txBody>
      </p:sp>
      <p:sp>
        <p:nvSpPr>
          <p:cNvPr id="20" name="Text 18"/>
          <p:cNvSpPr/>
          <p:nvPr/>
        </p:nvSpPr>
        <p:spPr>
          <a:xfrm>
            <a:off x="7872984" y="3474720"/>
            <a:ext cx="2651760" cy="365760"/>
          </a:xfrm>
          <a:prstGeom prst="rect">
            <a:avLst/>
          </a:prstGeom>
          <a:noFill/>
          <a:ln/>
        </p:spPr>
        <p:txBody>
          <a:bodyPr wrap="square" lIns="0" tIns="0" rIns="0" bIns="0" rtlCol="0" anchor="ctr"/>
          <a:lstStyle/>
          <a:p>
            <a:pPr indent="0" marL="0">
              <a:buNone/>
            </a:pPr>
            <a:r>
              <a:rPr lang="en-US" sz="1000" dirty="0">
                <a:solidFill>
                  <a:srgbClr val="3B4650"/>
                </a:solidFill>
                <a:latin typeface="Calibri" pitchFamily="34" charset="0"/>
                <a:ea typeface="Calibri" pitchFamily="34" charset="-122"/>
                <a:cs typeface="Calibri" pitchFamily="34" charset="-120"/>
              </a:rPr>
              <a:t>the only nonlinear step — two chained multiplications</a:t>
            </a:r>
            <a:endParaRPr lang="en-US" sz="1000" dirty="0"/>
          </a:p>
        </p:txBody>
      </p:sp>
      <p:sp>
        <p:nvSpPr>
          <p:cNvPr id="21" name="Text 19"/>
          <p:cNvSpPr/>
          <p:nvPr/>
        </p:nvSpPr>
        <p:spPr>
          <a:xfrm>
            <a:off x="658368" y="4114800"/>
            <a:ext cx="6400800" cy="256032"/>
          </a:xfrm>
          <a:prstGeom prst="rect">
            <a:avLst/>
          </a:prstGeom>
          <a:noFill/>
          <a:ln/>
        </p:spPr>
        <p:txBody>
          <a:bodyPr wrap="square" lIns="0" tIns="0" rIns="0" bIns="0" rtlCol="0" anchor="ctr"/>
          <a:lstStyle/>
          <a:p>
            <a:pPr indent="0" marL="0">
              <a:buNone/>
            </a:pPr>
            <a:r>
              <a:rPr lang="en-US" sz="1000" i="1" dirty="0">
                <a:solidFill>
                  <a:srgbClr val="7C848D"/>
                </a:solidFill>
                <a:latin typeface="Calibri" pitchFamily="34" charset="0"/>
                <a:ea typeface="Calibri" pitchFamily="34" charset="-122"/>
                <a:cs typeface="Calibri" pitchFamily="34" charset="-120"/>
              </a:rPr>
              <a:t>one round, repeated 4 times · 16-element state</a:t>
            </a:r>
            <a:endParaRPr lang="en-US" sz="1000" dirty="0"/>
          </a:p>
        </p:txBody>
      </p:sp>
      <p:sp>
        <p:nvSpPr>
          <p:cNvPr id="22" name="Shape 20"/>
          <p:cNvSpPr/>
          <p:nvPr/>
        </p:nvSpPr>
        <p:spPr>
          <a:xfrm>
            <a:off x="658368" y="4572000"/>
            <a:ext cx="10881360" cy="777240"/>
          </a:xfrm>
          <a:prstGeom prst="rect">
            <a:avLst/>
          </a:prstGeom>
          <a:solidFill>
            <a:srgbClr val="EDE8DE"/>
          </a:solidFill>
          <a:ln w="12700">
            <a:solidFill>
              <a:srgbClr val="7C848D"/>
            </a:solidFill>
            <a:prstDash val="dash"/>
          </a:ln>
        </p:spPr>
      </p:sp>
      <p:sp>
        <p:nvSpPr>
          <p:cNvPr id="23" name="Text 21"/>
          <p:cNvSpPr/>
          <p:nvPr/>
        </p:nvSpPr>
        <p:spPr>
          <a:xfrm>
            <a:off x="932688" y="4681728"/>
            <a:ext cx="10332720" cy="566928"/>
          </a:xfrm>
          <a:prstGeom prst="rect">
            <a:avLst/>
          </a:prstGeom>
          <a:noFill/>
          <a:ln/>
        </p:spPr>
        <p:txBody>
          <a:bodyPr wrap="square" lIns="0" tIns="0" rIns="0" bIns="0" rtlCol="0" anchor="ctr"/>
          <a:lstStyle/>
          <a:p>
            <a:pPr indent="0" marL="0">
              <a:lnSpc>
                <a:spcPts val="1800"/>
              </a:lnSpc>
              <a:buNone/>
            </a:pPr>
            <a:r>
              <a:rPr lang="en-US" sz="1200" dirty="0">
                <a:solidFill>
                  <a:srgbClr val="3B4650"/>
                </a:solidFill>
                <a:latin typeface="Calibri" pitchFamily="34" charset="0"/>
                <a:ea typeface="Calibri" pitchFamily="34" charset="-122"/>
                <a:cs typeface="Calibri" pitchFamily="34" charset="-120"/>
              </a:rPr>
              <a:t>HERA needs fresh randomness every round. It injects it into the key schedule — multiplication by a public constant — instead of into the mixing step, where it would cost depth.</a:t>
            </a:r>
            <a:endParaRPr lang="en-US" sz="1200" dirty="0"/>
          </a:p>
        </p:txBody>
      </p:sp>
      <p:sp>
        <p:nvSpPr>
          <p:cNvPr id="24" name="Text 22"/>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5" name="Text 23"/>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04 · THE KEY INSIGHT</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expensive work does not depend on the data</a:t>
            </a:r>
            <a:endParaRPr lang="en-US" sz="2700" dirty="0"/>
          </a:p>
        </p:txBody>
      </p:sp>
      <p:sp>
        <p:nvSpPr>
          <p:cNvPr id="4" name="Text 2"/>
          <p:cNvSpPr/>
          <p:nvPr/>
        </p:nvSpPr>
        <p:spPr>
          <a:xfrm>
            <a:off x="658368" y="1444752"/>
            <a:ext cx="10332720" cy="64008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HERA is a stream cipher: the keystream depends only on the key and a public nonce. So the server can build the encrypted keystream before any record exists.</a:t>
            </a:r>
            <a:endParaRPr lang="en-US" sz="1450" dirty="0"/>
          </a:p>
        </p:txBody>
      </p:sp>
      <p:sp>
        <p:nvSpPr>
          <p:cNvPr id="5" name="Shape 3"/>
          <p:cNvSpPr/>
          <p:nvPr/>
        </p:nvSpPr>
        <p:spPr>
          <a:xfrm>
            <a:off x="658368" y="2514600"/>
            <a:ext cx="4892040" cy="1965960"/>
          </a:xfrm>
          <a:prstGeom prst="rect">
            <a:avLst/>
          </a:prstGeom>
          <a:solidFill>
            <a:srgbClr val="E4D8BF"/>
          </a:solidFill>
          <a:ln w="19050">
            <a:solidFill>
              <a:srgbClr val="9A6A28"/>
            </a:solidFill>
            <a:prstDash val="solid"/>
          </a:ln>
        </p:spPr>
      </p:sp>
      <p:sp>
        <p:nvSpPr>
          <p:cNvPr id="6" name="Text 4"/>
          <p:cNvSpPr/>
          <p:nvPr/>
        </p:nvSpPr>
        <p:spPr>
          <a:xfrm>
            <a:off x="950976" y="2697480"/>
            <a:ext cx="2743200" cy="274320"/>
          </a:xfrm>
          <a:prstGeom prst="rect">
            <a:avLst/>
          </a:prstGeom>
          <a:noFill/>
          <a:ln/>
        </p:spPr>
        <p:txBody>
          <a:bodyPr wrap="square" lIns="0" tIns="0" rIns="0" bIns="0" rtlCol="0" anchor="ctr"/>
          <a:lstStyle/>
          <a:p>
            <a:pPr indent="0" marL="0">
              <a:buNone/>
            </a:pPr>
            <a:r>
              <a:rPr lang="en-US" sz="1100" b="1" spc="140" kern="0" dirty="0">
                <a:solidFill>
                  <a:srgbClr val="9A6A28"/>
                </a:solidFill>
                <a:latin typeface="Calibri" pitchFamily="34" charset="0"/>
                <a:ea typeface="Calibri" pitchFamily="34" charset="-122"/>
                <a:cs typeface="Calibri" pitchFamily="34" charset="-120"/>
              </a:rPr>
              <a:t>OFFLINE</a:t>
            </a:r>
            <a:endParaRPr lang="en-US" sz="1100" dirty="0"/>
          </a:p>
        </p:txBody>
      </p:sp>
      <p:sp>
        <p:nvSpPr>
          <p:cNvPr id="7" name="Text 5"/>
          <p:cNvSpPr/>
          <p:nvPr/>
        </p:nvSpPr>
        <p:spPr>
          <a:xfrm>
            <a:off x="2761488" y="2715768"/>
            <a:ext cx="2496312" cy="256032"/>
          </a:xfrm>
          <a:prstGeom prst="rect">
            <a:avLst/>
          </a:prstGeom>
          <a:noFill/>
          <a:ln/>
        </p:spPr>
        <p:txBody>
          <a:bodyPr wrap="square" lIns="0" tIns="0" rIns="0" bIns="0" rtlCol="0" anchor="ctr"/>
          <a:lstStyle/>
          <a:p>
            <a:pPr algn="r" indent="0" marL="0">
              <a:buNone/>
            </a:pPr>
            <a:r>
              <a:rPr lang="en-US" sz="950" dirty="0">
                <a:solidFill>
                  <a:srgbClr val="3B4650"/>
                </a:solidFill>
                <a:latin typeface="Calibri" pitchFamily="34" charset="0"/>
                <a:ea typeface="Calibri" pitchFamily="34" charset="-122"/>
                <a:cs typeface="Calibri" pitchFamily="34" charset="-120"/>
              </a:rPr>
              <a:t>minutes · covers a whole batch</a:t>
            </a:r>
            <a:endParaRPr lang="en-US" sz="950" dirty="0"/>
          </a:p>
        </p:txBody>
      </p:sp>
      <p:sp>
        <p:nvSpPr>
          <p:cNvPr id="8" name="Text 6"/>
          <p:cNvSpPr/>
          <p:nvPr/>
        </p:nvSpPr>
        <p:spPr>
          <a:xfrm>
            <a:off x="950976" y="3118104"/>
            <a:ext cx="4343400" cy="29260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   Evaluate HERA homomorphically</a:t>
            </a:r>
            <a:endParaRPr lang="en-US" sz="1350" dirty="0"/>
          </a:p>
        </p:txBody>
      </p:sp>
      <p:sp>
        <p:nvSpPr>
          <p:cNvPr id="9" name="Text 7"/>
          <p:cNvSpPr/>
          <p:nvPr/>
        </p:nvSpPr>
        <p:spPr>
          <a:xfrm>
            <a:off x="950976" y="3465576"/>
            <a:ext cx="4343400" cy="29260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   Rearrange into coefficient layout</a:t>
            </a:r>
            <a:endParaRPr lang="en-US" sz="1350" dirty="0"/>
          </a:p>
        </p:txBody>
      </p:sp>
      <p:sp>
        <p:nvSpPr>
          <p:cNvPr id="10" name="Text 8"/>
          <p:cNvSpPr/>
          <p:nvPr/>
        </p:nvSpPr>
        <p:spPr>
          <a:xfrm>
            <a:off x="950976" y="3977640"/>
            <a:ext cx="4343400" cy="274320"/>
          </a:xfrm>
          <a:prstGeom prst="rect">
            <a:avLst/>
          </a:prstGeom>
          <a:noFill/>
          <a:ln/>
        </p:spPr>
        <p:txBody>
          <a:bodyPr wrap="square" lIns="0" tIns="0" rIns="0" bIns="0" rtlCol="0" anchor="ctr"/>
          <a:lstStyle/>
          <a:p>
            <a:pPr indent="0" marL="0">
              <a:buNone/>
            </a:pPr>
            <a:r>
              <a:rPr lang="en-US" sz="1050" i="1" dirty="0">
                <a:solidFill>
                  <a:srgbClr val="9A6A28"/>
                </a:solidFill>
                <a:latin typeface="Calibri" pitchFamily="34" charset="0"/>
                <a:ea typeface="Calibri" pitchFamily="34" charset="-122"/>
                <a:cs typeface="Calibri" pitchFamily="34" charset="-120"/>
              </a:rPr>
              <a:t>expensive · independent of the data</a:t>
            </a:r>
            <a:endParaRPr lang="en-US" sz="1050" dirty="0"/>
          </a:p>
        </p:txBody>
      </p:sp>
      <p:sp>
        <p:nvSpPr>
          <p:cNvPr id="11" name="Shape 9"/>
          <p:cNvSpPr/>
          <p:nvPr/>
        </p:nvSpPr>
        <p:spPr>
          <a:xfrm>
            <a:off x="6629400" y="2514600"/>
            <a:ext cx="4892040" cy="1965960"/>
          </a:xfrm>
          <a:prstGeom prst="rect">
            <a:avLst/>
          </a:prstGeom>
          <a:solidFill>
            <a:srgbClr val="FFFFFF"/>
          </a:solidFill>
          <a:ln w="12700">
            <a:solidFill>
              <a:srgbClr val="1C2530"/>
            </a:solidFill>
            <a:prstDash val="solid"/>
          </a:ln>
        </p:spPr>
      </p:sp>
      <p:sp>
        <p:nvSpPr>
          <p:cNvPr id="12" name="Text 10"/>
          <p:cNvSpPr/>
          <p:nvPr/>
        </p:nvSpPr>
        <p:spPr>
          <a:xfrm>
            <a:off x="6922008" y="2697480"/>
            <a:ext cx="2743200" cy="274320"/>
          </a:xfrm>
          <a:prstGeom prst="rect">
            <a:avLst/>
          </a:prstGeom>
          <a:noFill/>
          <a:ln/>
        </p:spPr>
        <p:txBody>
          <a:bodyPr wrap="square" lIns="0" tIns="0" rIns="0" bIns="0" rtlCol="0" anchor="ctr"/>
          <a:lstStyle/>
          <a:p>
            <a:pPr indent="0" marL="0">
              <a:buNone/>
            </a:pPr>
            <a:r>
              <a:rPr lang="en-US" sz="1100" b="1" spc="140" kern="0" dirty="0">
                <a:solidFill>
                  <a:srgbClr val="1C2530"/>
                </a:solidFill>
                <a:latin typeface="Calibri" pitchFamily="34" charset="0"/>
                <a:ea typeface="Calibri" pitchFamily="34" charset="-122"/>
                <a:cs typeface="Calibri" pitchFamily="34" charset="-120"/>
              </a:rPr>
              <a:t>ONLINE</a:t>
            </a:r>
            <a:endParaRPr lang="en-US" sz="1100" dirty="0"/>
          </a:p>
        </p:txBody>
      </p:sp>
      <p:sp>
        <p:nvSpPr>
          <p:cNvPr id="13" name="Text 11"/>
          <p:cNvSpPr/>
          <p:nvPr/>
        </p:nvSpPr>
        <p:spPr>
          <a:xfrm>
            <a:off x="8732520" y="2715768"/>
            <a:ext cx="2496312" cy="256032"/>
          </a:xfrm>
          <a:prstGeom prst="rect">
            <a:avLst/>
          </a:prstGeom>
          <a:noFill/>
          <a:ln/>
        </p:spPr>
        <p:txBody>
          <a:bodyPr wrap="square" lIns="0" tIns="0" rIns="0" bIns="0" rtlCol="0" anchor="ctr"/>
          <a:lstStyle/>
          <a:p>
            <a:pPr algn="r" indent="0" marL="0">
              <a:buNone/>
            </a:pPr>
            <a:r>
              <a:rPr lang="en-US" sz="950" dirty="0">
                <a:solidFill>
                  <a:srgbClr val="3B4650"/>
                </a:solidFill>
                <a:latin typeface="Calibri" pitchFamily="34" charset="0"/>
                <a:ea typeface="Calibri" pitchFamily="34" charset="-122"/>
                <a:cs typeface="Calibri" pitchFamily="34" charset="-120"/>
              </a:rPr>
              <a:t>milliseconds · per record</a:t>
            </a:r>
            <a:endParaRPr lang="en-US" sz="950" dirty="0"/>
          </a:p>
        </p:txBody>
      </p:sp>
      <p:sp>
        <p:nvSpPr>
          <p:cNvPr id="14" name="Text 12"/>
          <p:cNvSpPr/>
          <p:nvPr/>
        </p:nvSpPr>
        <p:spPr>
          <a:xfrm>
            <a:off x="6922008" y="3118104"/>
            <a:ext cx="4343400" cy="29260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   One subtraction</a:t>
            </a:r>
            <a:endParaRPr lang="en-US" sz="1350" dirty="0"/>
          </a:p>
        </p:txBody>
      </p:sp>
      <p:sp>
        <p:nvSpPr>
          <p:cNvPr id="15" name="Text 13"/>
          <p:cNvSpPr/>
          <p:nvPr/>
        </p:nvSpPr>
        <p:spPr>
          <a:xfrm>
            <a:off x="6922008" y="3465576"/>
            <a:ext cx="4343400" cy="292608"/>
          </a:xfrm>
          <a:prstGeom prst="rect">
            <a:avLst/>
          </a:prstGeom>
          <a:noFill/>
          <a:ln/>
        </p:spPr>
        <p:txBody>
          <a:bodyPr wrap="square" lIns="0" tIns="0" rIns="0" bIns="0" rtlCol="0" anchor="ctr"/>
          <a:lstStyle/>
          <a:p>
            <a:pPr indent="0" marL="0">
              <a:buNone/>
            </a:pPr>
            <a:r>
              <a:rPr lang="en-US" sz="1350" dirty="0">
                <a:solidFill>
                  <a:srgbClr val="1C2530"/>
                </a:solidFill>
                <a:latin typeface="Calibri" pitchFamily="34" charset="0"/>
                <a:ea typeface="Calibri" pitchFamily="34" charset="-122"/>
                <a:cs typeface="Calibri" pitchFamily="34" charset="-120"/>
              </a:rPr>
              <a:t>—   One repair step (HalfBoot)</a:t>
            </a:r>
            <a:endParaRPr lang="en-US" sz="1350" dirty="0"/>
          </a:p>
        </p:txBody>
      </p:sp>
      <p:sp>
        <p:nvSpPr>
          <p:cNvPr id="16" name="Text 14"/>
          <p:cNvSpPr/>
          <p:nvPr/>
        </p:nvSpPr>
        <p:spPr>
          <a:xfrm>
            <a:off x="6922008" y="3977640"/>
            <a:ext cx="4343400" cy="274320"/>
          </a:xfrm>
          <a:prstGeom prst="rect">
            <a:avLst/>
          </a:prstGeom>
          <a:noFill/>
          <a:ln/>
        </p:spPr>
        <p:txBody>
          <a:bodyPr wrap="square" lIns="0" tIns="0" rIns="0" bIns="0" rtlCol="0" anchor="ctr"/>
          <a:lstStyle/>
          <a:p>
            <a:pPr indent="0" marL="0">
              <a:buNone/>
            </a:pPr>
            <a:r>
              <a:rPr lang="en-US" sz="1050" i="1" dirty="0">
                <a:solidFill>
                  <a:srgbClr val="7C848D"/>
                </a:solidFill>
                <a:latin typeface="Calibri" pitchFamily="34" charset="0"/>
                <a:ea typeface="Calibri" pitchFamily="34" charset="-122"/>
                <a:cs typeface="Calibri" pitchFamily="34" charset="-120"/>
              </a:rPr>
              <a:t>cheap · once per record</a:t>
            </a:r>
            <a:endParaRPr lang="en-US" sz="1050" dirty="0"/>
          </a:p>
        </p:txBody>
      </p:sp>
      <p:sp>
        <p:nvSpPr>
          <p:cNvPr id="17" name="Shape 15"/>
          <p:cNvSpPr/>
          <p:nvPr/>
        </p:nvSpPr>
        <p:spPr>
          <a:xfrm>
            <a:off x="5715000" y="3497580"/>
            <a:ext cx="667512" cy="0"/>
          </a:xfrm>
          <a:prstGeom prst="line">
            <a:avLst/>
          </a:prstGeom>
          <a:noFill/>
          <a:ln w="19050">
            <a:solidFill>
              <a:srgbClr val="1C2530"/>
            </a:solidFill>
            <a:prstDash val="solid"/>
            <a:headEnd type="none"/>
            <a:tailEnd type="triangle"/>
          </a:ln>
        </p:spPr>
      </p:sp>
      <p:sp>
        <p:nvSpPr>
          <p:cNvPr id="18" name="Text 16"/>
          <p:cNvSpPr/>
          <p:nvPr/>
        </p:nvSpPr>
        <p:spPr>
          <a:xfrm>
            <a:off x="5541264" y="3223260"/>
            <a:ext cx="1014984" cy="219456"/>
          </a:xfrm>
          <a:prstGeom prst="rect">
            <a:avLst/>
          </a:prstGeom>
          <a:noFill/>
          <a:ln/>
        </p:spPr>
        <p:txBody>
          <a:bodyPr wrap="square" lIns="0" tIns="0" rIns="0" bIns="0" rtlCol="0" anchor="ctr"/>
          <a:lstStyle/>
          <a:p>
            <a:pPr algn="ctr" indent="0" marL="0">
              <a:buNone/>
            </a:pPr>
            <a:r>
              <a:rPr lang="en-US" sz="800" dirty="0">
                <a:solidFill>
                  <a:srgbClr val="7C848D"/>
                </a:solidFill>
                <a:latin typeface="Calibri" pitchFamily="34" charset="0"/>
                <a:ea typeface="Calibri" pitchFamily="34" charset="-122"/>
                <a:cs typeface="Calibri" pitchFamily="34" charset="-120"/>
              </a:rPr>
              <a:t>data arrives</a:t>
            </a:r>
            <a:endParaRPr lang="en-US" sz="800" dirty="0"/>
          </a:p>
        </p:txBody>
      </p:sp>
      <p:sp>
        <p:nvSpPr>
          <p:cNvPr id="19" name="Text 17"/>
          <p:cNvSpPr/>
          <p:nvPr/>
        </p:nvSpPr>
        <p:spPr>
          <a:xfrm>
            <a:off x="658368" y="4800600"/>
            <a:ext cx="10515600" cy="365760"/>
          </a:xfrm>
          <a:prstGeom prst="rect">
            <a:avLst/>
          </a:prstGeom>
          <a:noFill/>
          <a:ln/>
        </p:spPr>
        <p:txBody>
          <a:bodyPr wrap="square" lIns="0" tIns="0" rIns="0" bIns="0" rtlCol="0" anchor="ctr"/>
          <a:lstStyle/>
          <a:p>
            <a:pPr indent="0" marL="0">
              <a:buNone/>
            </a:pPr>
            <a:r>
              <a:rPr lang="en-US" sz="1300" i="1" dirty="0">
                <a:solidFill>
                  <a:srgbClr val="3B4650"/>
                </a:solidFill>
                <a:latin typeface="Calibri" pitchFamily="34" charset="0"/>
                <a:ea typeface="Calibri" pitchFamily="34" charset="-122"/>
                <a:cs typeface="Calibri" pitchFamily="34" charset="-120"/>
              </a:rPr>
              <a:t>If the cipher evaluation had to run per record, the server cost would be indefensible. Because it does not, it amortises over as many records as you like.</a:t>
            </a:r>
            <a:endParaRPr lang="en-US" sz="1300" dirty="0"/>
          </a:p>
        </p:txBody>
      </p:sp>
      <p:sp>
        <p:nvSpPr>
          <p:cNvPr id="20" name="Text 18"/>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1" name="Text 19"/>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05 · SCHEMES</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Two schemes, one container</a:t>
            </a:r>
            <a:endParaRPr lang="en-US" sz="2700" dirty="0"/>
          </a:p>
        </p:txBody>
      </p:sp>
      <p:sp>
        <p:nvSpPr>
          <p:cNvPr id="4" name="Text 2"/>
          <p:cNvSpPr/>
          <p:nvPr/>
        </p:nvSpPr>
        <p:spPr>
          <a:xfrm>
            <a:off x="658368" y="1463040"/>
            <a:ext cx="1005840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Ciphers need exact integer arithmetic with wraparound; the fraud model needs decimals. Neither scheme can do the other's job.</a:t>
            </a:r>
            <a:endParaRPr lang="en-US" sz="1450" dirty="0"/>
          </a:p>
        </p:txBody>
      </p:sp>
      <p:sp>
        <p:nvSpPr>
          <p:cNvPr id="5" name="Shape 3"/>
          <p:cNvSpPr/>
          <p:nvPr/>
        </p:nvSpPr>
        <p:spPr>
          <a:xfrm>
            <a:off x="3977640" y="2286000"/>
            <a:ext cx="4251960" cy="777240"/>
          </a:xfrm>
          <a:prstGeom prst="rect">
            <a:avLst/>
          </a:prstGeom>
          <a:solidFill>
            <a:srgbClr val="1C2530"/>
          </a:solidFill>
          <a:ln w="12700">
            <a:solidFill>
              <a:srgbClr val="1C2530"/>
            </a:solidFill>
            <a:prstDash val="solid"/>
          </a:ln>
        </p:spPr>
      </p:sp>
      <p:sp>
        <p:nvSpPr>
          <p:cNvPr id="6" name="Text 4"/>
          <p:cNvSpPr/>
          <p:nvPr/>
        </p:nvSpPr>
        <p:spPr>
          <a:xfrm>
            <a:off x="3977640" y="2395728"/>
            <a:ext cx="4251960" cy="256032"/>
          </a:xfrm>
          <a:prstGeom prst="rect">
            <a:avLst/>
          </a:prstGeom>
          <a:noFill/>
          <a:ln/>
        </p:spPr>
        <p:txBody>
          <a:bodyPr wrap="square" lIns="0" tIns="0" rIns="0" bIns="0" rtlCol="0" anchor="ctr"/>
          <a:lstStyle/>
          <a:p>
            <a:pPr algn="ctr" indent="0" marL="0">
              <a:buNone/>
            </a:pPr>
            <a:r>
              <a:rPr lang="en-US" sz="1150" b="1" spc="120" kern="0" dirty="0">
                <a:solidFill>
                  <a:srgbClr val="F6F3EC"/>
                </a:solidFill>
                <a:latin typeface="Calibri" pitchFamily="34" charset="0"/>
                <a:ea typeface="Calibri" pitchFamily="34" charset="-122"/>
                <a:cs typeface="Calibri" pitchFamily="34" charset="-120"/>
              </a:rPr>
              <a:t>ONE ENCRYPTED CONTAINER</a:t>
            </a:r>
            <a:endParaRPr lang="en-US" sz="1150" dirty="0"/>
          </a:p>
        </p:txBody>
      </p:sp>
      <p:sp>
        <p:nvSpPr>
          <p:cNvPr id="7" name="Text 5"/>
          <p:cNvSpPr/>
          <p:nvPr/>
        </p:nvSpPr>
        <p:spPr>
          <a:xfrm>
            <a:off x="3977640" y="2670048"/>
            <a:ext cx="4251960" cy="256032"/>
          </a:xfrm>
          <a:prstGeom prst="rect">
            <a:avLst/>
          </a:prstGeom>
          <a:noFill/>
          <a:ln/>
        </p:spPr>
        <p:txBody>
          <a:bodyPr wrap="square" lIns="0" tIns="0" rIns="0" bIns="0" rtlCol="0" anchor="ctr"/>
          <a:lstStyle/>
          <a:p>
            <a:pPr algn="ctr" indent="0" marL="0">
              <a:buNone/>
            </a:pPr>
            <a:r>
              <a:rPr lang="en-US" sz="1000" dirty="0">
                <a:solidFill>
                  <a:srgbClr val="A9B2BB"/>
                </a:solidFill>
                <a:latin typeface="Calibri" pitchFamily="34" charset="0"/>
                <a:ea typeface="Calibri" pitchFamily="34" charset="-122"/>
                <a:cs typeface="Calibri" pitchFamily="34" charset="-120"/>
              </a:rPr>
              <a:t>same bytes · same secret key</a:t>
            </a:r>
            <a:endParaRPr lang="en-US" sz="1000" dirty="0"/>
          </a:p>
        </p:txBody>
      </p:sp>
      <p:sp>
        <p:nvSpPr>
          <p:cNvPr id="8" name="Shape 6"/>
          <p:cNvSpPr/>
          <p:nvPr/>
        </p:nvSpPr>
        <p:spPr>
          <a:xfrm flipH="1">
            <a:off x="3566160" y="3127248"/>
            <a:ext cx="1280160" cy="393192"/>
          </a:xfrm>
          <a:prstGeom prst="line">
            <a:avLst/>
          </a:prstGeom>
          <a:noFill/>
          <a:ln w="15875">
            <a:solidFill>
              <a:srgbClr val="7C848D"/>
            </a:solidFill>
            <a:prstDash val="solid"/>
            <a:headEnd type="none"/>
            <a:tailEnd type="triangle"/>
          </a:ln>
        </p:spPr>
      </p:sp>
      <p:sp>
        <p:nvSpPr>
          <p:cNvPr id="9" name="Shape 7"/>
          <p:cNvSpPr/>
          <p:nvPr/>
        </p:nvSpPr>
        <p:spPr>
          <a:xfrm>
            <a:off x="7360920" y="3127248"/>
            <a:ext cx="1280160" cy="393192"/>
          </a:xfrm>
          <a:prstGeom prst="line">
            <a:avLst/>
          </a:prstGeom>
          <a:noFill/>
          <a:ln w="15875">
            <a:solidFill>
              <a:srgbClr val="7C848D"/>
            </a:solidFill>
            <a:prstDash val="solid"/>
            <a:headEnd type="none"/>
            <a:tailEnd type="triangle"/>
          </a:ln>
        </p:spPr>
      </p:sp>
      <p:sp>
        <p:nvSpPr>
          <p:cNvPr id="10" name="Shape 8"/>
          <p:cNvSpPr/>
          <p:nvPr/>
        </p:nvSpPr>
        <p:spPr>
          <a:xfrm>
            <a:off x="1024128" y="3611880"/>
            <a:ext cx="4114800" cy="1234440"/>
          </a:xfrm>
          <a:prstGeom prst="rect">
            <a:avLst/>
          </a:prstGeom>
          <a:solidFill>
            <a:srgbClr val="FFFFFF"/>
          </a:solidFill>
          <a:ln w="12700">
            <a:solidFill>
              <a:srgbClr val="1C2530"/>
            </a:solidFill>
            <a:prstDash val="solid"/>
          </a:ln>
        </p:spPr>
      </p:sp>
      <p:sp>
        <p:nvSpPr>
          <p:cNvPr id="11" name="Text 9"/>
          <p:cNvSpPr/>
          <p:nvPr/>
        </p:nvSpPr>
        <p:spPr>
          <a:xfrm>
            <a:off x="1298448" y="3785616"/>
            <a:ext cx="356616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Read it as FV</a:t>
            </a:r>
            <a:endParaRPr lang="en-US" sz="1400" dirty="0"/>
          </a:p>
        </p:txBody>
      </p:sp>
      <p:sp>
        <p:nvSpPr>
          <p:cNvPr id="12" name="Text 10"/>
          <p:cNvSpPr/>
          <p:nvPr/>
        </p:nvSpPr>
        <p:spPr>
          <a:xfrm>
            <a:off x="1298448" y="4096512"/>
            <a:ext cx="3566160" cy="256032"/>
          </a:xfrm>
          <a:prstGeom prst="rect">
            <a:avLst/>
          </a:prstGeom>
          <a:noFill/>
          <a:ln/>
        </p:spPr>
        <p:txBody>
          <a:bodyPr wrap="square" lIns="0" tIns="0" rIns="0" bIns="0" rtlCol="0" anchor="ctr"/>
          <a:lstStyle/>
          <a:p>
            <a:pPr indent="0" marL="0">
              <a:buNone/>
            </a:pPr>
            <a:r>
              <a:rPr lang="en-US" sz="1050" dirty="0">
                <a:solidFill>
                  <a:srgbClr val="9A6A28"/>
                </a:solidFill>
                <a:latin typeface="Calibri" pitchFamily="34" charset="0"/>
                <a:ea typeface="Calibri" pitchFamily="34" charset="-122"/>
                <a:cs typeface="Calibri" pitchFamily="34" charset="-120"/>
              </a:rPr>
              <a:t>exact whole numbers</a:t>
            </a:r>
            <a:endParaRPr lang="en-US" sz="1050" dirty="0"/>
          </a:p>
        </p:txBody>
      </p:sp>
      <p:sp>
        <p:nvSpPr>
          <p:cNvPr id="13" name="Text 11"/>
          <p:cNvSpPr/>
          <p:nvPr/>
        </p:nvSpPr>
        <p:spPr>
          <a:xfrm>
            <a:off x="1298448" y="4389120"/>
            <a:ext cx="3566160" cy="365760"/>
          </a:xfrm>
          <a:prstGeom prst="rect">
            <a:avLst/>
          </a:prstGeom>
          <a:noFill/>
          <a:ln/>
        </p:spPr>
        <p:txBody>
          <a:bodyPr wrap="square" lIns="0" tIns="0" rIns="0" bIns="0" rtlCol="0" anchor="ctr"/>
          <a:lstStyle/>
          <a:p>
            <a:pPr indent="0" marL="0">
              <a:buNone/>
            </a:pPr>
            <a:r>
              <a:rPr lang="en-US" sz="1050" dirty="0">
                <a:solidFill>
                  <a:srgbClr val="3B4650"/>
                </a:solidFill>
                <a:latin typeface="Calibri" pitchFamily="34" charset="0"/>
                <a:ea typeface="Calibri" pitchFamily="34" charset="-122"/>
                <a:cs typeface="Calibri" pitchFamily="34" charset="-120"/>
              </a:rPr>
              <a:t>runs the cipher — needs exactness and wraparound</a:t>
            </a:r>
            <a:endParaRPr lang="en-US" sz="1050" dirty="0"/>
          </a:p>
        </p:txBody>
      </p:sp>
      <p:sp>
        <p:nvSpPr>
          <p:cNvPr id="14" name="Shape 12"/>
          <p:cNvSpPr/>
          <p:nvPr/>
        </p:nvSpPr>
        <p:spPr>
          <a:xfrm>
            <a:off x="6858000" y="3611880"/>
            <a:ext cx="4114800" cy="1234440"/>
          </a:xfrm>
          <a:prstGeom prst="rect">
            <a:avLst/>
          </a:prstGeom>
          <a:solidFill>
            <a:srgbClr val="FFFFFF"/>
          </a:solidFill>
          <a:ln w="12700">
            <a:solidFill>
              <a:srgbClr val="1C2530"/>
            </a:solidFill>
            <a:prstDash val="solid"/>
          </a:ln>
        </p:spPr>
      </p:sp>
      <p:sp>
        <p:nvSpPr>
          <p:cNvPr id="15" name="Text 13"/>
          <p:cNvSpPr/>
          <p:nvPr/>
        </p:nvSpPr>
        <p:spPr>
          <a:xfrm>
            <a:off x="7132320" y="3785616"/>
            <a:ext cx="356616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Read it as CKKS</a:t>
            </a:r>
            <a:endParaRPr lang="en-US" sz="1400" dirty="0"/>
          </a:p>
        </p:txBody>
      </p:sp>
      <p:sp>
        <p:nvSpPr>
          <p:cNvPr id="16" name="Text 14"/>
          <p:cNvSpPr/>
          <p:nvPr/>
        </p:nvSpPr>
        <p:spPr>
          <a:xfrm>
            <a:off x="7132320" y="4096512"/>
            <a:ext cx="3566160" cy="256032"/>
          </a:xfrm>
          <a:prstGeom prst="rect">
            <a:avLst/>
          </a:prstGeom>
          <a:noFill/>
          <a:ln/>
        </p:spPr>
        <p:txBody>
          <a:bodyPr wrap="square" lIns="0" tIns="0" rIns="0" bIns="0" rtlCol="0" anchor="ctr"/>
          <a:lstStyle/>
          <a:p>
            <a:pPr indent="0" marL="0">
              <a:buNone/>
            </a:pPr>
            <a:r>
              <a:rPr lang="en-US" sz="1050" dirty="0">
                <a:solidFill>
                  <a:srgbClr val="9A6A28"/>
                </a:solidFill>
                <a:latin typeface="Calibri" pitchFamily="34" charset="0"/>
                <a:ea typeface="Calibri" pitchFamily="34" charset="-122"/>
                <a:cs typeface="Calibri" pitchFamily="34" charset="-120"/>
              </a:rPr>
              <a:t>approximate real numbers</a:t>
            </a:r>
            <a:endParaRPr lang="en-US" sz="1050" dirty="0"/>
          </a:p>
        </p:txBody>
      </p:sp>
      <p:sp>
        <p:nvSpPr>
          <p:cNvPr id="17" name="Text 15"/>
          <p:cNvSpPr/>
          <p:nvPr/>
        </p:nvSpPr>
        <p:spPr>
          <a:xfrm>
            <a:off x="7132320" y="4389120"/>
            <a:ext cx="3566160" cy="365760"/>
          </a:xfrm>
          <a:prstGeom prst="rect">
            <a:avLst/>
          </a:prstGeom>
          <a:noFill/>
          <a:ln/>
        </p:spPr>
        <p:txBody>
          <a:bodyPr wrap="square" lIns="0" tIns="0" rIns="0" bIns="0" rtlCol="0" anchor="ctr"/>
          <a:lstStyle/>
          <a:p>
            <a:pPr indent="0" marL="0">
              <a:buNone/>
            </a:pPr>
            <a:r>
              <a:rPr lang="en-US" sz="1050" dirty="0">
                <a:solidFill>
                  <a:srgbClr val="3B4650"/>
                </a:solidFill>
                <a:latin typeface="Calibri" pitchFamily="34" charset="0"/>
                <a:ea typeface="Calibri" pitchFamily="34" charset="-122"/>
                <a:cs typeface="Calibri" pitchFamily="34" charset="-120"/>
              </a:rPr>
              <a:t>runs the fraud model — needs decimals and scaling</a:t>
            </a:r>
            <a:endParaRPr lang="en-US" sz="1050" dirty="0"/>
          </a:p>
        </p:txBody>
      </p:sp>
      <p:sp>
        <p:nvSpPr>
          <p:cNvPr id="18" name="Shape 16"/>
          <p:cNvSpPr/>
          <p:nvPr/>
        </p:nvSpPr>
        <p:spPr>
          <a:xfrm>
            <a:off x="4892040" y="5074920"/>
            <a:ext cx="2423160" cy="457200"/>
          </a:xfrm>
          <a:prstGeom prst="rect">
            <a:avLst/>
          </a:prstGeom>
          <a:solidFill>
            <a:srgbClr val="E4D8BF"/>
          </a:solidFill>
          <a:ln w="19050">
            <a:solidFill>
              <a:srgbClr val="9A6A28"/>
            </a:solidFill>
            <a:prstDash val="solid"/>
          </a:ln>
        </p:spPr>
      </p:sp>
      <p:sp>
        <p:nvSpPr>
          <p:cNvPr id="19" name="Text 17"/>
          <p:cNvSpPr/>
          <p:nvPr/>
        </p:nvSpPr>
        <p:spPr>
          <a:xfrm>
            <a:off x="4892040" y="5074920"/>
            <a:ext cx="2423160" cy="457200"/>
          </a:xfrm>
          <a:prstGeom prst="rect">
            <a:avLst/>
          </a:prstGeom>
          <a:noFill/>
          <a:ln/>
        </p:spPr>
        <p:txBody>
          <a:bodyPr wrap="square" lIns="0" tIns="0" rIns="0" bIns="0" rtlCol="0" anchor="ctr"/>
          <a:lstStyle/>
          <a:p>
            <a:pPr algn="ctr" indent="0" marL="0">
              <a:buNone/>
            </a:pPr>
            <a:r>
              <a:rPr lang="en-US" sz="1200" b="1" dirty="0">
                <a:solidFill>
                  <a:srgbClr val="1C2530"/>
                </a:solidFill>
                <a:latin typeface="Calibri" pitchFamily="34" charset="0"/>
                <a:ea typeface="Calibri" pitchFamily="34" charset="-122"/>
                <a:cs typeface="Calibri" pitchFamily="34" charset="-120"/>
              </a:rPr>
              <a:t>switching = free</a:t>
            </a:r>
            <a:endParaRPr lang="en-US" sz="1200" dirty="0"/>
          </a:p>
        </p:txBody>
      </p:sp>
      <p:sp>
        <p:nvSpPr>
          <p:cNvPr id="20" name="Text 18"/>
          <p:cNvSpPr/>
          <p:nvPr/>
        </p:nvSpPr>
        <p:spPr>
          <a:xfrm>
            <a:off x="658368" y="5669280"/>
            <a:ext cx="10881360" cy="274320"/>
          </a:xfrm>
          <a:prstGeom prst="rect">
            <a:avLst/>
          </a:prstGeom>
          <a:noFill/>
          <a:ln/>
        </p:spPr>
        <p:txBody>
          <a:bodyPr wrap="square" lIns="0" tIns="0" rIns="0" bIns="0" rtlCol="0" anchor="ctr"/>
          <a:lstStyle/>
          <a:p>
            <a:pPr algn="ctr" indent="0" marL="0">
              <a:buNone/>
            </a:pPr>
            <a:r>
              <a:rPr lang="en-US" sz="1100" i="1" dirty="0">
                <a:solidFill>
                  <a:srgbClr val="7C848D"/>
                </a:solidFill>
                <a:latin typeface="Calibri" pitchFamily="34" charset="0"/>
                <a:ea typeface="Calibri" pitchFamily="34" charset="-122"/>
                <a:cs typeface="Calibri" pitchFamily="34" charset="-120"/>
              </a:rPr>
              <a:t>a change of interpretation, not a computation — nothing is decrypted, nothing re-encrypted</a:t>
            </a:r>
            <a:endParaRPr lang="en-US" sz="1100" dirty="0"/>
          </a:p>
        </p:txBody>
      </p:sp>
      <p:sp>
        <p:nvSpPr>
          <p:cNvPr id="21" name="Text 19"/>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2" name="Text 20"/>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06 · LAYOUT</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Coefficient order versus slot order</a:t>
            </a:r>
            <a:endParaRPr lang="en-US" sz="2700" dirty="0"/>
          </a:p>
        </p:txBody>
      </p:sp>
      <p:sp>
        <p:nvSpPr>
          <p:cNvPr id="4" name="Text 2"/>
          <p:cNvSpPr/>
          <p:nvPr/>
        </p:nvSpPr>
        <p:spPr>
          <a:xfrm>
            <a:off x="658368" y="1463040"/>
            <a:ext cx="1024128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One ciphertext holds many values, arranged one of two ways. Same data, same container, different positions — like row-major versus column-major.</a:t>
            </a:r>
            <a:endParaRPr lang="en-US" sz="1450" dirty="0"/>
          </a:p>
        </p:txBody>
      </p:sp>
      <p:sp>
        <p:nvSpPr>
          <p:cNvPr id="5" name="Shape 3"/>
          <p:cNvSpPr/>
          <p:nvPr/>
        </p:nvSpPr>
        <p:spPr>
          <a:xfrm>
            <a:off x="658368" y="2377440"/>
            <a:ext cx="3931920" cy="1143000"/>
          </a:xfrm>
          <a:prstGeom prst="rect">
            <a:avLst/>
          </a:prstGeom>
          <a:solidFill>
            <a:srgbClr val="FFFFFF"/>
          </a:solidFill>
          <a:ln w="12700">
            <a:solidFill>
              <a:srgbClr val="1C2530"/>
            </a:solidFill>
            <a:prstDash val="solid"/>
          </a:ln>
        </p:spPr>
      </p:sp>
      <p:sp>
        <p:nvSpPr>
          <p:cNvPr id="6" name="Text 4"/>
          <p:cNvSpPr/>
          <p:nvPr/>
        </p:nvSpPr>
        <p:spPr>
          <a:xfrm>
            <a:off x="932688" y="2560320"/>
            <a:ext cx="338328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Coefficient layout</a:t>
            </a:r>
            <a:endParaRPr lang="en-US" sz="1400" dirty="0"/>
          </a:p>
        </p:txBody>
      </p:sp>
      <p:sp>
        <p:nvSpPr>
          <p:cNvPr id="7" name="Text 5"/>
          <p:cNvSpPr/>
          <p:nvPr/>
        </p:nvSpPr>
        <p:spPr>
          <a:xfrm>
            <a:off x="932688" y="2889504"/>
            <a:ext cx="3383280" cy="457200"/>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the order data is written in</a:t>
            </a:r>
            <a:endParaRPr lang="en-US" sz="1050" dirty="0"/>
          </a:p>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client writes here — zero work</a:t>
            </a:r>
            <a:endParaRPr lang="en-US" sz="1050" dirty="0"/>
          </a:p>
        </p:txBody>
      </p:sp>
      <p:sp>
        <p:nvSpPr>
          <p:cNvPr id="8" name="Shape 6"/>
          <p:cNvSpPr/>
          <p:nvPr/>
        </p:nvSpPr>
        <p:spPr>
          <a:xfrm>
            <a:off x="7589520" y="2377440"/>
            <a:ext cx="3931920" cy="1143000"/>
          </a:xfrm>
          <a:prstGeom prst="rect">
            <a:avLst/>
          </a:prstGeom>
          <a:solidFill>
            <a:srgbClr val="E4D8BF"/>
          </a:solidFill>
          <a:ln w="19050">
            <a:solidFill>
              <a:srgbClr val="9A6A28"/>
            </a:solidFill>
            <a:prstDash val="solid"/>
          </a:ln>
        </p:spPr>
      </p:sp>
      <p:sp>
        <p:nvSpPr>
          <p:cNvPr id="9" name="Text 7"/>
          <p:cNvSpPr/>
          <p:nvPr/>
        </p:nvSpPr>
        <p:spPr>
          <a:xfrm>
            <a:off x="7863840" y="2560320"/>
            <a:ext cx="338328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Slot layout</a:t>
            </a:r>
            <a:endParaRPr lang="en-US" sz="1400" dirty="0"/>
          </a:p>
        </p:txBody>
      </p:sp>
      <p:sp>
        <p:nvSpPr>
          <p:cNvPr id="10" name="Text 8"/>
          <p:cNvSpPr/>
          <p:nvPr/>
        </p:nvSpPr>
        <p:spPr>
          <a:xfrm>
            <a:off x="7863840" y="2889504"/>
            <a:ext cx="3383280" cy="457200"/>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the order the model reads in</a:t>
            </a:r>
            <a:endParaRPr lang="en-US" sz="1050" dirty="0"/>
          </a:p>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keystream also arrives here</a:t>
            </a:r>
            <a:endParaRPr lang="en-US" sz="1050" dirty="0"/>
          </a:p>
        </p:txBody>
      </p:sp>
      <p:sp>
        <p:nvSpPr>
          <p:cNvPr id="11" name="Shape 9"/>
          <p:cNvSpPr/>
          <p:nvPr/>
        </p:nvSpPr>
        <p:spPr>
          <a:xfrm>
            <a:off x="4709160" y="2761488"/>
            <a:ext cx="2788920" cy="0"/>
          </a:xfrm>
          <a:prstGeom prst="line">
            <a:avLst/>
          </a:prstGeom>
          <a:noFill/>
          <a:ln w="19050">
            <a:solidFill>
              <a:srgbClr val="9A6A28"/>
            </a:solidFill>
            <a:prstDash val="solid"/>
            <a:headEnd type="none"/>
            <a:tailEnd type="triangle"/>
          </a:ln>
        </p:spPr>
      </p:sp>
      <p:sp>
        <p:nvSpPr>
          <p:cNvPr id="12" name="Shape 10"/>
          <p:cNvSpPr/>
          <p:nvPr/>
        </p:nvSpPr>
        <p:spPr>
          <a:xfrm flipH="1">
            <a:off x="4709160" y="3182112"/>
            <a:ext cx="2788920" cy="0"/>
          </a:xfrm>
          <a:prstGeom prst="line">
            <a:avLst/>
          </a:prstGeom>
          <a:noFill/>
          <a:ln w="19050">
            <a:solidFill>
              <a:srgbClr val="9A6A28"/>
            </a:solidFill>
            <a:prstDash val="solid"/>
            <a:headEnd type="none"/>
            <a:tailEnd type="triangle"/>
          </a:ln>
        </p:spPr>
      </p:sp>
      <p:sp>
        <p:nvSpPr>
          <p:cNvPr id="13" name="Text 11"/>
          <p:cNvSpPr/>
          <p:nvPr/>
        </p:nvSpPr>
        <p:spPr>
          <a:xfrm>
            <a:off x="4754880" y="2816352"/>
            <a:ext cx="2743200" cy="310896"/>
          </a:xfrm>
          <a:prstGeom prst="rect">
            <a:avLst/>
          </a:prstGeom>
          <a:noFill/>
          <a:ln/>
        </p:spPr>
        <p:txBody>
          <a:bodyPr wrap="square" lIns="0" tIns="0" rIns="0" bIns="0" rtlCol="0" anchor="ctr"/>
          <a:lstStyle/>
          <a:p>
            <a:pPr algn="ctr" indent="0" marL="0">
              <a:buNone/>
            </a:pPr>
            <a:r>
              <a:rPr lang="en-US" sz="1050" b="1" dirty="0">
                <a:solidFill>
                  <a:srgbClr val="9A6A28"/>
                </a:solidFill>
                <a:latin typeface="Calibri" pitchFamily="34" charset="0"/>
                <a:ea typeface="Calibri" pitchFamily="34" charset="-122"/>
                <a:cs typeface="Calibri" pitchFamily="34" charset="-120"/>
              </a:rPr>
              <a:t>rearrange — not free</a:t>
            </a:r>
            <a:endParaRPr lang="en-US" sz="1050" dirty="0"/>
          </a:p>
        </p:txBody>
      </p:sp>
      <p:sp>
        <p:nvSpPr>
          <p:cNvPr id="14" name="Text 12"/>
          <p:cNvSpPr/>
          <p:nvPr/>
        </p:nvSpPr>
        <p:spPr>
          <a:xfrm>
            <a:off x="658368" y="3977640"/>
            <a:ext cx="10881360" cy="1188720"/>
          </a:xfrm>
          <a:prstGeom prst="rect">
            <a:avLst/>
          </a:prstGeom>
          <a:noFill/>
          <a:ln/>
        </p:spPr>
        <p:txBody>
          <a:bodyPr wrap="square" lIns="0" tIns="0" rIns="0" bIns="0" rtlCol="0" anchor="ctr"/>
          <a:lstStyle/>
          <a:p>
            <a:pPr indent="0" marL="0">
              <a:lnSpc>
                <a:spcPts val="2100"/>
              </a:lnSpc>
              <a:spcAft>
                <a:spcPts val="800"/>
              </a:spcAft>
              <a:buNone/>
            </a:pPr>
            <a:r>
              <a:rPr lang="en-US" sz="1300" dirty="0">
                <a:solidFill>
                  <a:srgbClr val="3B4650"/>
                </a:solidFill>
                <a:latin typeface="Calibri" pitchFamily="34" charset="0"/>
                <a:ea typeface="Calibri" pitchFamily="34" charset="-122"/>
                <a:cs typeface="Calibri" pitchFamily="34" charset="-120"/>
              </a:rPr>
              <a:t>Three facts collide: the client writes in coefficient layout because that costs it nothing; the model can only read slot layout; the keystream comes out in slot layout.</a:t>
            </a:r>
            <a:endParaRPr lang="en-US" sz="1300" dirty="0"/>
          </a:p>
          <a:p>
            <a:pPr indent="0" marL="0">
              <a:lnSpc>
                <a:spcPts val="2100"/>
              </a:lnSpc>
              <a:spcAft>
                <a:spcPts val="800"/>
              </a:spcAft>
              <a:buNone/>
            </a:pPr>
            <a:r>
              <a:rPr lang="en-US" sz="1300" dirty="0">
                <a:solidFill>
                  <a:srgbClr val="3B4650"/>
                </a:solidFill>
                <a:latin typeface="Calibri" pitchFamily="34" charset="0"/>
                <a:ea typeface="Calibri" pitchFamily="34" charset="-122"/>
                <a:cs typeface="Calibri" pitchFamily="34" charset="-120"/>
              </a:rPr>
              <a:t>So the pipeline rearranges twice — the keystream offline, the data after the subtraction. Rearrangement is a real homomorphic operation, and a large share of both runtime and memory.</a:t>
            </a:r>
            <a:endParaRPr lang="en-US" sz="1300" dirty="0"/>
          </a:p>
        </p:txBody>
      </p:sp>
      <p:sp>
        <p:nvSpPr>
          <p:cNvPr id="15" name="Text 13"/>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16" name="Text 14"/>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07 · HALFBOOT</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HalfBoot: half the layout work, all of the repair</a:t>
            </a:r>
            <a:endParaRPr lang="en-US" sz="2700" dirty="0"/>
          </a:p>
        </p:txBody>
      </p:sp>
      <p:sp>
        <p:nvSpPr>
          <p:cNvPr id="4" name="Text 2"/>
          <p:cNvSpPr/>
          <p:nvPr/>
        </p:nvSpPr>
        <p:spPr>
          <a:xfrm>
            <a:off x="658368" y="1463040"/>
            <a:ext cx="1033272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After the subtraction the ciphertext is correct but has no compute budget left, and the fraud model has not started. The standard repair runs in four stages.</a:t>
            </a:r>
            <a:endParaRPr lang="en-US" sz="1450" dirty="0"/>
          </a:p>
        </p:txBody>
      </p:sp>
      <p:sp>
        <p:nvSpPr>
          <p:cNvPr id="5" name="Shape 3"/>
          <p:cNvSpPr/>
          <p:nvPr/>
        </p:nvSpPr>
        <p:spPr>
          <a:xfrm>
            <a:off x="658368" y="2514600"/>
            <a:ext cx="2487168" cy="1051560"/>
          </a:xfrm>
          <a:prstGeom prst="rect">
            <a:avLst/>
          </a:prstGeom>
          <a:solidFill>
            <a:srgbClr val="FFFFFF"/>
          </a:solidFill>
          <a:ln w="12700">
            <a:solidFill>
              <a:srgbClr val="1C2530"/>
            </a:solidFill>
            <a:prstDash val="solid"/>
          </a:ln>
        </p:spPr>
      </p:sp>
      <p:sp>
        <p:nvSpPr>
          <p:cNvPr id="6" name="Text 4"/>
          <p:cNvSpPr/>
          <p:nvPr/>
        </p:nvSpPr>
        <p:spPr>
          <a:xfrm>
            <a:off x="859536" y="2679192"/>
            <a:ext cx="2084832" cy="219456"/>
          </a:xfrm>
          <a:prstGeom prst="rect">
            <a:avLst/>
          </a:prstGeom>
          <a:noFill/>
          <a:ln/>
        </p:spPr>
        <p:txBody>
          <a:bodyPr wrap="square" lIns="0" tIns="0" rIns="0" bIns="0" rtlCol="0" anchor="ctr"/>
          <a:lstStyle/>
          <a:p>
            <a:pPr indent="0" marL="0">
              <a:buNone/>
            </a:pPr>
            <a:r>
              <a:rPr lang="en-US" sz="950" spc="80" kern="0" dirty="0">
                <a:solidFill>
                  <a:srgbClr val="9A6A28"/>
                </a:solidFill>
                <a:latin typeface="Calibri" pitchFamily="34" charset="0"/>
                <a:ea typeface="Calibri" pitchFamily="34" charset="-122"/>
                <a:cs typeface="Calibri" pitchFamily="34" charset="-120"/>
              </a:rPr>
              <a:t>stage 1</a:t>
            </a:r>
            <a:endParaRPr lang="en-US" sz="950" dirty="0"/>
          </a:p>
        </p:txBody>
      </p:sp>
      <p:sp>
        <p:nvSpPr>
          <p:cNvPr id="7" name="Text 5"/>
          <p:cNvSpPr/>
          <p:nvPr/>
        </p:nvSpPr>
        <p:spPr>
          <a:xfrm>
            <a:off x="859536" y="2935224"/>
            <a:ext cx="2084832" cy="502920"/>
          </a:xfrm>
          <a:prstGeom prst="rect">
            <a:avLst/>
          </a:prstGeom>
          <a:noFill/>
          <a:ln/>
        </p:spPr>
        <p:txBody>
          <a:bodyPr wrap="square" lIns="0" tIns="0" rIns="0" bIns="0" rtlCol="0" anchor="ctr"/>
          <a:lstStyle/>
          <a:p>
            <a:pPr indent="0" marL="0">
              <a:lnSpc>
                <a:spcPts val="1600"/>
              </a:lnSpc>
              <a:buNone/>
            </a:pPr>
            <a:r>
              <a:rPr lang="en-US" sz="1250" b="1" dirty="0">
                <a:solidFill>
                  <a:srgbClr val="1C2530"/>
                </a:solidFill>
                <a:latin typeface="Calibri" pitchFamily="34" charset="0"/>
                <a:ea typeface="Calibri" pitchFamily="34" charset="-122"/>
                <a:cs typeface="Calibri" pitchFamily="34" charset="-120"/>
              </a:rPr>
              <a:t>Restore headroom</a:t>
            </a:r>
            <a:endParaRPr lang="en-US" sz="1250" dirty="0"/>
          </a:p>
        </p:txBody>
      </p:sp>
      <p:sp>
        <p:nvSpPr>
          <p:cNvPr id="8" name="Shape 6"/>
          <p:cNvSpPr/>
          <p:nvPr/>
        </p:nvSpPr>
        <p:spPr>
          <a:xfrm>
            <a:off x="3172968" y="3040380"/>
            <a:ext cx="201168" cy="0"/>
          </a:xfrm>
          <a:prstGeom prst="line">
            <a:avLst/>
          </a:prstGeom>
          <a:noFill/>
          <a:ln w="15875">
            <a:solidFill>
              <a:srgbClr val="1C2530"/>
            </a:solidFill>
            <a:prstDash val="solid"/>
            <a:headEnd type="none"/>
            <a:tailEnd type="triangle"/>
          </a:ln>
        </p:spPr>
      </p:sp>
      <p:sp>
        <p:nvSpPr>
          <p:cNvPr id="9" name="Shape 7"/>
          <p:cNvSpPr/>
          <p:nvPr/>
        </p:nvSpPr>
        <p:spPr>
          <a:xfrm>
            <a:off x="3410712" y="2514600"/>
            <a:ext cx="2487168" cy="1051560"/>
          </a:xfrm>
          <a:prstGeom prst="rect">
            <a:avLst/>
          </a:prstGeom>
          <a:solidFill>
            <a:srgbClr val="FFFFFF"/>
          </a:solidFill>
          <a:ln w="12700">
            <a:solidFill>
              <a:srgbClr val="1C2530"/>
            </a:solidFill>
            <a:prstDash val="solid"/>
          </a:ln>
        </p:spPr>
      </p:sp>
      <p:sp>
        <p:nvSpPr>
          <p:cNvPr id="10" name="Text 8"/>
          <p:cNvSpPr/>
          <p:nvPr/>
        </p:nvSpPr>
        <p:spPr>
          <a:xfrm>
            <a:off x="3611880" y="2679192"/>
            <a:ext cx="2084832" cy="219456"/>
          </a:xfrm>
          <a:prstGeom prst="rect">
            <a:avLst/>
          </a:prstGeom>
          <a:noFill/>
          <a:ln/>
        </p:spPr>
        <p:txBody>
          <a:bodyPr wrap="square" lIns="0" tIns="0" rIns="0" bIns="0" rtlCol="0" anchor="ctr"/>
          <a:lstStyle/>
          <a:p>
            <a:pPr indent="0" marL="0">
              <a:buNone/>
            </a:pPr>
            <a:r>
              <a:rPr lang="en-US" sz="950" spc="80" kern="0" dirty="0">
                <a:solidFill>
                  <a:srgbClr val="9A6A28"/>
                </a:solidFill>
                <a:latin typeface="Calibri" pitchFamily="34" charset="0"/>
                <a:ea typeface="Calibri" pitchFamily="34" charset="-122"/>
                <a:cs typeface="Calibri" pitchFamily="34" charset="-120"/>
              </a:rPr>
              <a:t>stage 2</a:t>
            </a:r>
            <a:endParaRPr lang="en-US" sz="950" dirty="0"/>
          </a:p>
        </p:txBody>
      </p:sp>
      <p:sp>
        <p:nvSpPr>
          <p:cNvPr id="11" name="Text 9"/>
          <p:cNvSpPr/>
          <p:nvPr/>
        </p:nvSpPr>
        <p:spPr>
          <a:xfrm>
            <a:off x="3611880" y="2935224"/>
            <a:ext cx="2084832" cy="502920"/>
          </a:xfrm>
          <a:prstGeom prst="rect">
            <a:avLst/>
          </a:prstGeom>
          <a:noFill/>
          <a:ln/>
        </p:spPr>
        <p:txBody>
          <a:bodyPr wrap="square" lIns="0" tIns="0" rIns="0" bIns="0" rtlCol="0" anchor="ctr"/>
          <a:lstStyle/>
          <a:p>
            <a:pPr indent="0" marL="0">
              <a:lnSpc>
                <a:spcPts val="1600"/>
              </a:lnSpc>
              <a:buNone/>
            </a:pPr>
            <a:r>
              <a:rPr lang="en-US" sz="1250" b="1" dirty="0">
                <a:solidFill>
                  <a:srgbClr val="1C2530"/>
                </a:solidFill>
                <a:latin typeface="Calibri" pitchFamily="34" charset="0"/>
                <a:ea typeface="Calibri" pitchFamily="34" charset="-122"/>
                <a:cs typeface="Calibri" pitchFamily="34" charset="-120"/>
              </a:rPr>
              <a:t>Move into slot layout</a:t>
            </a:r>
            <a:endParaRPr lang="en-US" sz="1250" dirty="0"/>
          </a:p>
        </p:txBody>
      </p:sp>
      <p:sp>
        <p:nvSpPr>
          <p:cNvPr id="12" name="Shape 10"/>
          <p:cNvSpPr/>
          <p:nvPr/>
        </p:nvSpPr>
        <p:spPr>
          <a:xfrm>
            <a:off x="5925312" y="3040380"/>
            <a:ext cx="201168" cy="0"/>
          </a:xfrm>
          <a:prstGeom prst="line">
            <a:avLst/>
          </a:prstGeom>
          <a:noFill/>
          <a:ln w="15875">
            <a:solidFill>
              <a:srgbClr val="1C2530"/>
            </a:solidFill>
            <a:prstDash val="solid"/>
            <a:headEnd type="none"/>
            <a:tailEnd type="triangle"/>
          </a:ln>
        </p:spPr>
      </p:sp>
      <p:sp>
        <p:nvSpPr>
          <p:cNvPr id="13" name="Shape 11"/>
          <p:cNvSpPr/>
          <p:nvPr/>
        </p:nvSpPr>
        <p:spPr>
          <a:xfrm>
            <a:off x="6163056" y="2514600"/>
            <a:ext cx="2487168" cy="1051560"/>
          </a:xfrm>
          <a:prstGeom prst="rect">
            <a:avLst/>
          </a:prstGeom>
          <a:solidFill>
            <a:srgbClr val="FFFFFF"/>
          </a:solidFill>
          <a:ln w="12700">
            <a:solidFill>
              <a:srgbClr val="1C2530"/>
            </a:solidFill>
            <a:prstDash val="solid"/>
          </a:ln>
        </p:spPr>
      </p:sp>
      <p:sp>
        <p:nvSpPr>
          <p:cNvPr id="14" name="Text 12"/>
          <p:cNvSpPr/>
          <p:nvPr/>
        </p:nvSpPr>
        <p:spPr>
          <a:xfrm>
            <a:off x="6364224" y="2679192"/>
            <a:ext cx="2084832" cy="219456"/>
          </a:xfrm>
          <a:prstGeom prst="rect">
            <a:avLst/>
          </a:prstGeom>
          <a:noFill/>
          <a:ln/>
        </p:spPr>
        <p:txBody>
          <a:bodyPr wrap="square" lIns="0" tIns="0" rIns="0" bIns="0" rtlCol="0" anchor="ctr"/>
          <a:lstStyle/>
          <a:p>
            <a:pPr indent="0" marL="0">
              <a:buNone/>
            </a:pPr>
            <a:r>
              <a:rPr lang="en-US" sz="950" spc="80" kern="0" dirty="0">
                <a:solidFill>
                  <a:srgbClr val="9A6A28"/>
                </a:solidFill>
                <a:latin typeface="Calibri" pitchFamily="34" charset="0"/>
                <a:ea typeface="Calibri" pitchFamily="34" charset="-122"/>
                <a:cs typeface="Calibri" pitchFamily="34" charset="-120"/>
              </a:rPr>
              <a:t>stage 3</a:t>
            </a:r>
            <a:endParaRPr lang="en-US" sz="950" dirty="0"/>
          </a:p>
        </p:txBody>
      </p:sp>
      <p:sp>
        <p:nvSpPr>
          <p:cNvPr id="15" name="Text 13"/>
          <p:cNvSpPr/>
          <p:nvPr/>
        </p:nvSpPr>
        <p:spPr>
          <a:xfrm>
            <a:off x="6364224" y="2935224"/>
            <a:ext cx="2084832" cy="502920"/>
          </a:xfrm>
          <a:prstGeom prst="rect">
            <a:avLst/>
          </a:prstGeom>
          <a:noFill/>
          <a:ln/>
        </p:spPr>
        <p:txBody>
          <a:bodyPr wrap="square" lIns="0" tIns="0" rIns="0" bIns="0" rtlCol="0" anchor="ctr"/>
          <a:lstStyle/>
          <a:p>
            <a:pPr indent="0" marL="0">
              <a:lnSpc>
                <a:spcPts val="1600"/>
              </a:lnSpc>
              <a:buNone/>
            </a:pPr>
            <a:r>
              <a:rPr lang="en-US" sz="1250" b="1" dirty="0">
                <a:solidFill>
                  <a:srgbClr val="1C2530"/>
                </a:solidFill>
                <a:latin typeface="Calibri" pitchFamily="34" charset="0"/>
                <a:ea typeface="Calibri" pitchFamily="34" charset="-122"/>
                <a:cs typeface="Calibri" pitchFamily="34" charset="-120"/>
              </a:rPr>
              <a:t>Clean up leftovers</a:t>
            </a:r>
            <a:endParaRPr lang="en-US" sz="1250" dirty="0"/>
          </a:p>
        </p:txBody>
      </p:sp>
      <p:sp>
        <p:nvSpPr>
          <p:cNvPr id="16" name="Shape 14"/>
          <p:cNvSpPr/>
          <p:nvPr/>
        </p:nvSpPr>
        <p:spPr>
          <a:xfrm>
            <a:off x="8677656" y="3040380"/>
            <a:ext cx="201168" cy="0"/>
          </a:xfrm>
          <a:prstGeom prst="line">
            <a:avLst/>
          </a:prstGeom>
          <a:noFill/>
          <a:ln w="15875">
            <a:solidFill>
              <a:srgbClr val="7C848D"/>
            </a:solidFill>
            <a:prstDash val="solid"/>
            <a:headEnd type="none"/>
            <a:tailEnd type="triangle"/>
          </a:ln>
        </p:spPr>
      </p:sp>
      <p:sp>
        <p:nvSpPr>
          <p:cNvPr id="17" name="Shape 15"/>
          <p:cNvSpPr/>
          <p:nvPr/>
        </p:nvSpPr>
        <p:spPr>
          <a:xfrm>
            <a:off x="8915400" y="2514600"/>
            <a:ext cx="2487168" cy="1051560"/>
          </a:xfrm>
          <a:prstGeom prst="rect">
            <a:avLst/>
          </a:prstGeom>
          <a:solidFill>
            <a:srgbClr val="F6F3EC"/>
          </a:solidFill>
          <a:ln w="12700">
            <a:solidFill>
              <a:srgbClr val="7C848D"/>
            </a:solidFill>
            <a:prstDash val="dash"/>
          </a:ln>
        </p:spPr>
      </p:sp>
      <p:sp>
        <p:nvSpPr>
          <p:cNvPr id="18" name="Text 16"/>
          <p:cNvSpPr/>
          <p:nvPr/>
        </p:nvSpPr>
        <p:spPr>
          <a:xfrm>
            <a:off x="9116568" y="2679192"/>
            <a:ext cx="2084832" cy="219456"/>
          </a:xfrm>
          <a:prstGeom prst="rect">
            <a:avLst/>
          </a:prstGeom>
          <a:noFill/>
          <a:ln/>
        </p:spPr>
        <p:txBody>
          <a:bodyPr wrap="square" lIns="0" tIns="0" rIns="0" bIns="0" rtlCol="0" anchor="ctr"/>
          <a:lstStyle/>
          <a:p>
            <a:pPr indent="0" marL="0">
              <a:buNone/>
            </a:pPr>
            <a:r>
              <a:rPr lang="en-US" sz="950" spc="80" kern="0" dirty="0">
                <a:solidFill>
                  <a:srgbClr val="7C848D"/>
                </a:solidFill>
                <a:latin typeface="Calibri" pitchFamily="34" charset="0"/>
                <a:ea typeface="Calibri" pitchFamily="34" charset="-122"/>
                <a:cs typeface="Calibri" pitchFamily="34" charset="-120"/>
              </a:rPr>
              <a:t>stage 4</a:t>
            </a:r>
            <a:endParaRPr lang="en-US" sz="950" dirty="0"/>
          </a:p>
        </p:txBody>
      </p:sp>
      <p:sp>
        <p:nvSpPr>
          <p:cNvPr id="19" name="Text 17"/>
          <p:cNvSpPr/>
          <p:nvPr/>
        </p:nvSpPr>
        <p:spPr>
          <a:xfrm>
            <a:off x="9116568" y="2935224"/>
            <a:ext cx="2084832" cy="502920"/>
          </a:xfrm>
          <a:prstGeom prst="rect">
            <a:avLst/>
          </a:prstGeom>
          <a:noFill/>
          <a:ln/>
        </p:spPr>
        <p:txBody>
          <a:bodyPr wrap="square" lIns="0" tIns="0" rIns="0" bIns="0" rtlCol="0" anchor="ctr"/>
          <a:lstStyle/>
          <a:p>
            <a:pPr indent="0" marL="0">
              <a:lnSpc>
                <a:spcPts val="1600"/>
              </a:lnSpc>
              <a:buNone/>
            </a:pPr>
            <a:r>
              <a:rPr lang="en-US" sz="1250" dirty="0">
                <a:solidFill>
                  <a:srgbClr val="7C848D"/>
                </a:solidFill>
                <a:latin typeface="Calibri" pitchFamily="34" charset="0"/>
                <a:ea typeface="Calibri" pitchFamily="34" charset="-122"/>
                <a:cs typeface="Calibri" pitchFamily="34" charset="-120"/>
              </a:rPr>
              <a:t>Move back to coefficient</a:t>
            </a:r>
            <a:endParaRPr lang="en-US" sz="1250" dirty="0"/>
          </a:p>
        </p:txBody>
      </p:sp>
      <p:sp>
        <p:nvSpPr>
          <p:cNvPr id="20" name="Text 18"/>
          <p:cNvSpPr/>
          <p:nvPr/>
        </p:nvSpPr>
        <p:spPr>
          <a:xfrm>
            <a:off x="9116568" y="3255264"/>
            <a:ext cx="2084832" cy="219456"/>
          </a:xfrm>
          <a:prstGeom prst="rect">
            <a:avLst/>
          </a:prstGeom>
          <a:noFill/>
          <a:ln/>
        </p:spPr>
        <p:txBody>
          <a:bodyPr wrap="square" lIns="0" tIns="0" rIns="0" bIns="0" rtlCol="0" anchor="ctr"/>
          <a:lstStyle/>
          <a:p>
            <a:pPr algn="r" indent="0" marL="0">
              <a:buNone/>
            </a:pPr>
            <a:r>
              <a:rPr lang="en-US" sz="950" b="1" spc="120" kern="0" dirty="0">
                <a:solidFill>
                  <a:srgbClr val="9A6A28"/>
                </a:solidFill>
                <a:latin typeface="Calibri" pitchFamily="34" charset="0"/>
                <a:ea typeface="Calibri" pitchFamily="34" charset="-122"/>
                <a:cs typeface="Calibri" pitchFamily="34" charset="-120"/>
              </a:rPr>
              <a:t>SKIPPED</a:t>
            </a:r>
            <a:endParaRPr lang="en-US" sz="950" dirty="0"/>
          </a:p>
        </p:txBody>
      </p:sp>
      <p:sp>
        <p:nvSpPr>
          <p:cNvPr id="21" name="Text 19"/>
          <p:cNvSpPr/>
          <p:nvPr/>
        </p:nvSpPr>
        <p:spPr>
          <a:xfrm>
            <a:off x="6163056" y="3675888"/>
            <a:ext cx="2487168" cy="237744"/>
          </a:xfrm>
          <a:prstGeom prst="rect">
            <a:avLst/>
          </a:prstGeom>
          <a:noFill/>
          <a:ln/>
        </p:spPr>
        <p:txBody>
          <a:bodyPr wrap="square" lIns="0" tIns="0" rIns="0" bIns="0" rtlCol="0" anchor="ctr"/>
          <a:lstStyle/>
          <a:p>
            <a:pPr algn="ctr" indent="0" marL="0">
              <a:buNone/>
            </a:pPr>
            <a:r>
              <a:rPr lang="en-US" sz="1000" b="1" dirty="0">
                <a:solidFill>
                  <a:srgbClr val="9A6A28"/>
                </a:solidFill>
                <a:latin typeface="Calibri" pitchFamily="34" charset="0"/>
                <a:ea typeface="Calibri" pitchFamily="34" charset="-122"/>
                <a:cs typeface="Calibri" pitchFamily="34" charset="-120"/>
              </a:rPr>
              <a:t>we stop here</a:t>
            </a:r>
            <a:endParaRPr lang="en-US" sz="1000" dirty="0"/>
          </a:p>
        </p:txBody>
      </p:sp>
      <p:sp>
        <p:nvSpPr>
          <p:cNvPr id="22" name="Shape 20"/>
          <p:cNvSpPr/>
          <p:nvPr/>
        </p:nvSpPr>
        <p:spPr>
          <a:xfrm>
            <a:off x="658368" y="4160520"/>
            <a:ext cx="10881360" cy="1051560"/>
          </a:xfrm>
          <a:prstGeom prst="rect">
            <a:avLst/>
          </a:prstGeom>
          <a:solidFill>
            <a:srgbClr val="EFE7D6"/>
          </a:solidFill>
          <a:ln w="12700">
            <a:solidFill>
              <a:srgbClr val="9A6A28"/>
            </a:solidFill>
            <a:prstDash val="solid"/>
          </a:ln>
        </p:spPr>
      </p:sp>
      <p:sp>
        <p:nvSpPr>
          <p:cNvPr id="23" name="Text 21"/>
          <p:cNvSpPr/>
          <p:nvPr/>
        </p:nvSpPr>
        <p:spPr>
          <a:xfrm>
            <a:off x="950976" y="4315968"/>
            <a:ext cx="10287000" cy="777240"/>
          </a:xfrm>
          <a:prstGeom prst="rect">
            <a:avLst/>
          </a:prstGeom>
          <a:noFill/>
          <a:ln/>
        </p:spPr>
        <p:txBody>
          <a:bodyPr wrap="square" lIns="0" tIns="0" rIns="0" bIns="0" rtlCol="0" anchor="ctr"/>
          <a:lstStyle/>
          <a:p>
            <a:pPr indent="0" marL="0">
              <a:lnSpc>
                <a:spcPts val="2000"/>
              </a:lnSpc>
              <a:buNone/>
            </a:pPr>
            <a:r>
              <a:rPr lang="en-US" sz="1300" dirty="0">
                <a:solidFill>
                  <a:srgbClr val="3B4650"/>
                </a:solidFill>
                <a:latin typeface="Calibri" pitchFamily="34" charset="0"/>
                <a:ea typeface="Calibri" pitchFamily="34" charset="-122"/>
                <a:cs typeface="Calibri" pitchFamily="34" charset="-120"/>
              </a:rPr>
              <a:t>Normal callers want the data back in coefficient layout. We want slot layout — that is what the model reads. So stage 2 is useful work here and stage 4 would undo it. The pipeline gets its layout conversion as a side effect of the repair.</a:t>
            </a:r>
            <a:endParaRPr lang="en-US" sz="1300" dirty="0"/>
          </a:p>
        </p:txBody>
      </p:sp>
      <p:sp>
        <p:nvSpPr>
          <p:cNvPr id="24" name="Text 22"/>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5" name="Text 23"/>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457200" y="182880"/>
            <a:ext cx="5486400" cy="384048"/>
          </a:xfrm>
          <a:prstGeom prst="rect">
            <a:avLst/>
          </a:prstGeom>
          <a:noFill/>
          <a:ln/>
        </p:spPr>
        <p:txBody>
          <a:bodyPr wrap="square" lIns="0" tIns="0" rIns="0" bIns="0" rtlCol="0" anchor="ctr"/>
          <a:lstStyle/>
          <a:p>
            <a:pPr indent="0" marL="0">
              <a:buNone/>
            </a:pPr>
            <a:r>
              <a:rPr lang="en-US" sz="2200" dirty="0">
                <a:solidFill>
                  <a:srgbClr val="1C2530"/>
                </a:solidFill>
                <a:latin typeface="Century Schoolbook" pitchFamily="34" charset="0"/>
                <a:ea typeface="Century Schoolbook" pitchFamily="34" charset="-122"/>
                <a:cs typeface="Century Schoolbook" pitchFamily="34" charset="-120"/>
              </a:rPr>
              <a:t>The pipeline, end to end</a:t>
            </a:r>
            <a:endParaRPr lang="en-US" sz="2200" dirty="0"/>
          </a:p>
        </p:txBody>
      </p:sp>
      <p:sp>
        <p:nvSpPr>
          <p:cNvPr id="3" name="Shape 1"/>
          <p:cNvSpPr/>
          <p:nvPr/>
        </p:nvSpPr>
        <p:spPr>
          <a:xfrm>
            <a:off x="5989320" y="274320"/>
            <a:ext cx="173736" cy="173736"/>
          </a:xfrm>
          <a:prstGeom prst="rect">
            <a:avLst/>
          </a:prstGeom>
          <a:solidFill>
            <a:srgbClr val="E4D8BF"/>
          </a:solidFill>
          <a:ln w="12700">
            <a:solidFill>
              <a:srgbClr val="9A6A28"/>
            </a:solidFill>
            <a:prstDash val="solid"/>
          </a:ln>
        </p:spPr>
      </p:sp>
      <p:sp>
        <p:nvSpPr>
          <p:cNvPr id="4" name="Text 2"/>
          <p:cNvSpPr/>
          <p:nvPr/>
        </p:nvSpPr>
        <p:spPr>
          <a:xfrm>
            <a:off x="6227064" y="246888"/>
            <a:ext cx="2514600" cy="228600"/>
          </a:xfrm>
          <a:prstGeom prst="rect">
            <a:avLst/>
          </a:prstGeom>
          <a:noFill/>
          <a:ln/>
        </p:spPr>
        <p:txBody>
          <a:bodyPr wrap="square" lIns="0" tIns="0" rIns="0" bIns="0" rtlCol="0" anchor="ctr"/>
          <a:lstStyle/>
          <a:p>
            <a:pPr indent="0" marL="0">
              <a:buNone/>
            </a:pPr>
            <a:r>
              <a:rPr lang="en-US" sz="850" dirty="0">
                <a:solidFill>
                  <a:srgbClr val="3B4650"/>
                </a:solidFill>
                <a:latin typeface="Calibri" pitchFamily="34" charset="0"/>
                <a:ea typeface="Calibri" pitchFamily="34" charset="-122"/>
                <a:cs typeface="Calibri" pitchFamily="34" charset="-120"/>
              </a:rPr>
              <a:t>expensive · precomputed offline</a:t>
            </a:r>
            <a:endParaRPr lang="en-US" sz="850" dirty="0"/>
          </a:p>
        </p:txBody>
      </p:sp>
      <p:sp>
        <p:nvSpPr>
          <p:cNvPr id="5" name="Shape 3"/>
          <p:cNvSpPr/>
          <p:nvPr/>
        </p:nvSpPr>
        <p:spPr>
          <a:xfrm>
            <a:off x="8732520" y="274320"/>
            <a:ext cx="173736" cy="173736"/>
          </a:xfrm>
          <a:prstGeom prst="rect">
            <a:avLst/>
          </a:prstGeom>
          <a:solidFill>
            <a:srgbClr val="FFFFFF"/>
          </a:solidFill>
          <a:ln w="12700">
            <a:solidFill>
              <a:srgbClr val="1C2530"/>
            </a:solidFill>
            <a:prstDash val="solid"/>
          </a:ln>
        </p:spPr>
      </p:sp>
      <p:sp>
        <p:nvSpPr>
          <p:cNvPr id="6" name="Text 4"/>
          <p:cNvSpPr/>
          <p:nvPr/>
        </p:nvSpPr>
        <p:spPr>
          <a:xfrm>
            <a:off x="8970264" y="246888"/>
            <a:ext cx="2514600" cy="228600"/>
          </a:xfrm>
          <a:prstGeom prst="rect">
            <a:avLst/>
          </a:prstGeom>
          <a:noFill/>
          <a:ln/>
        </p:spPr>
        <p:txBody>
          <a:bodyPr wrap="square" lIns="0" tIns="0" rIns="0" bIns="0" rtlCol="0" anchor="ctr"/>
          <a:lstStyle/>
          <a:p>
            <a:pPr indent="0" marL="0">
              <a:buNone/>
            </a:pPr>
            <a:r>
              <a:rPr lang="en-US" sz="850" dirty="0">
                <a:solidFill>
                  <a:srgbClr val="3B4650"/>
                </a:solidFill>
                <a:latin typeface="Calibri" pitchFamily="34" charset="0"/>
                <a:ea typeface="Calibri" pitchFamily="34" charset="-122"/>
                <a:cs typeface="Calibri" pitchFamily="34" charset="-120"/>
              </a:rPr>
              <a:t>cheap · per record</a:t>
            </a:r>
            <a:endParaRPr lang="en-US" sz="850" dirty="0"/>
          </a:p>
        </p:txBody>
      </p:sp>
      <p:sp>
        <p:nvSpPr>
          <p:cNvPr id="7" name="Shape 5"/>
          <p:cNvSpPr/>
          <p:nvPr/>
        </p:nvSpPr>
        <p:spPr>
          <a:xfrm>
            <a:off x="10332720" y="274320"/>
            <a:ext cx="173736" cy="173736"/>
          </a:xfrm>
          <a:prstGeom prst="rect">
            <a:avLst/>
          </a:prstGeom>
          <a:solidFill>
            <a:srgbClr val="FFFFFF"/>
          </a:solidFill>
          <a:ln w="12700">
            <a:solidFill>
              <a:srgbClr val="1C2530"/>
            </a:solidFill>
            <a:prstDash val="dash"/>
          </a:ln>
        </p:spPr>
      </p:sp>
      <p:sp>
        <p:nvSpPr>
          <p:cNvPr id="8" name="Text 6"/>
          <p:cNvSpPr/>
          <p:nvPr/>
        </p:nvSpPr>
        <p:spPr>
          <a:xfrm>
            <a:off x="10570464" y="246888"/>
            <a:ext cx="2514600" cy="228600"/>
          </a:xfrm>
          <a:prstGeom prst="rect">
            <a:avLst/>
          </a:prstGeom>
          <a:noFill/>
          <a:ln/>
        </p:spPr>
        <p:txBody>
          <a:bodyPr wrap="square" lIns="0" tIns="0" rIns="0" bIns="0" rtlCol="0" anchor="ctr"/>
          <a:lstStyle/>
          <a:p>
            <a:pPr indent="0" marL="0">
              <a:buNone/>
            </a:pPr>
            <a:r>
              <a:rPr lang="en-US" sz="850" dirty="0">
                <a:solidFill>
                  <a:srgbClr val="3B4650"/>
                </a:solidFill>
                <a:latin typeface="Calibri" pitchFamily="34" charset="0"/>
                <a:ea typeface="Calibri" pitchFamily="34" charset="-122"/>
                <a:cs typeface="Calibri" pitchFamily="34" charset="-120"/>
              </a:rPr>
              <a:t>free · relabel only</a:t>
            </a:r>
            <a:endParaRPr lang="en-US" sz="850" dirty="0"/>
          </a:p>
        </p:txBody>
      </p:sp>
      <p:sp>
        <p:nvSpPr>
          <p:cNvPr id="9" name="Text 7"/>
          <p:cNvSpPr/>
          <p:nvPr/>
        </p:nvSpPr>
        <p:spPr>
          <a:xfrm>
            <a:off x="640080" y="658368"/>
            <a:ext cx="3291840" cy="219456"/>
          </a:xfrm>
          <a:prstGeom prst="rect">
            <a:avLst/>
          </a:prstGeom>
          <a:noFill/>
          <a:ln/>
        </p:spPr>
        <p:txBody>
          <a:bodyPr wrap="square" lIns="0" tIns="0" rIns="0" bIns="0" rtlCol="0" anchor="ctr"/>
          <a:lstStyle/>
          <a:p>
            <a:pPr indent="0" marL="0">
              <a:buNone/>
            </a:pPr>
            <a:r>
              <a:rPr lang="en-US" sz="1100" b="1" spc="140" kern="0" dirty="0">
                <a:solidFill>
                  <a:srgbClr val="1C2530"/>
                </a:solidFill>
                <a:latin typeface="Calibri" pitchFamily="34" charset="0"/>
                <a:ea typeface="Calibri" pitchFamily="34" charset="-122"/>
                <a:cs typeface="Calibri" pitchFamily="34" charset="-120"/>
              </a:rPr>
              <a:t>CLIENT</a:t>
            </a:r>
            <a:endParaRPr lang="en-US" sz="1100" dirty="0"/>
          </a:p>
        </p:txBody>
      </p:sp>
      <p:sp>
        <p:nvSpPr>
          <p:cNvPr id="10" name="Text 8"/>
          <p:cNvSpPr/>
          <p:nvPr/>
        </p:nvSpPr>
        <p:spPr>
          <a:xfrm>
            <a:off x="640080" y="868680"/>
            <a:ext cx="3291840"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thin: a terminal or a phone</a:t>
            </a:r>
            <a:endParaRPr lang="en-US" sz="850" dirty="0"/>
          </a:p>
        </p:txBody>
      </p:sp>
      <p:sp>
        <p:nvSpPr>
          <p:cNvPr id="11" name="Text 9"/>
          <p:cNvSpPr/>
          <p:nvPr/>
        </p:nvSpPr>
        <p:spPr>
          <a:xfrm>
            <a:off x="5943600" y="658368"/>
            <a:ext cx="3657600" cy="219456"/>
          </a:xfrm>
          <a:prstGeom prst="rect">
            <a:avLst/>
          </a:prstGeom>
          <a:noFill/>
          <a:ln/>
        </p:spPr>
        <p:txBody>
          <a:bodyPr wrap="square" lIns="0" tIns="0" rIns="0" bIns="0" rtlCol="0" anchor="ctr"/>
          <a:lstStyle/>
          <a:p>
            <a:pPr indent="0" marL="0">
              <a:buNone/>
            </a:pPr>
            <a:r>
              <a:rPr lang="en-US" sz="1100" b="1" spc="140" kern="0" dirty="0">
                <a:solidFill>
                  <a:srgbClr val="1C2530"/>
                </a:solidFill>
                <a:latin typeface="Calibri" pitchFamily="34" charset="0"/>
                <a:ea typeface="Calibri" pitchFamily="34" charset="-122"/>
                <a:cs typeface="Calibri" pitchFamily="34" charset="-120"/>
              </a:rPr>
              <a:t>SERVER</a:t>
            </a:r>
            <a:endParaRPr lang="en-US" sz="1100" dirty="0"/>
          </a:p>
        </p:txBody>
      </p:sp>
      <p:sp>
        <p:nvSpPr>
          <p:cNvPr id="12" name="Text 10"/>
          <p:cNvSpPr/>
          <p:nvPr/>
        </p:nvSpPr>
        <p:spPr>
          <a:xfrm>
            <a:off x="5943600" y="868680"/>
            <a:ext cx="3657600"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fat: the fraud-detection vendor</a:t>
            </a:r>
            <a:endParaRPr lang="en-US" sz="850" dirty="0"/>
          </a:p>
        </p:txBody>
      </p:sp>
      <p:sp>
        <p:nvSpPr>
          <p:cNvPr id="13" name="Shape 11"/>
          <p:cNvSpPr/>
          <p:nvPr/>
        </p:nvSpPr>
        <p:spPr>
          <a:xfrm>
            <a:off x="457200" y="1143000"/>
            <a:ext cx="11274552" cy="960120"/>
          </a:xfrm>
          <a:prstGeom prst="rect">
            <a:avLst/>
          </a:prstGeom>
          <a:solidFill>
            <a:srgbClr val="EFEAE0"/>
          </a:solidFill>
          <a:ln w="9525">
            <a:solidFill>
              <a:srgbClr val="E2DBCE"/>
            </a:solidFill>
            <a:prstDash val="solid"/>
          </a:ln>
        </p:spPr>
      </p:sp>
      <p:sp>
        <p:nvSpPr>
          <p:cNvPr id="14" name="Text 12"/>
          <p:cNvSpPr/>
          <p:nvPr/>
        </p:nvSpPr>
        <p:spPr>
          <a:xfrm>
            <a:off x="640080" y="1207008"/>
            <a:ext cx="5943600" cy="201168"/>
          </a:xfrm>
          <a:prstGeom prst="rect">
            <a:avLst/>
          </a:prstGeom>
          <a:noFill/>
          <a:ln/>
        </p:spPr>
        <p:txBody>
          <a:bodyPr wrap="square" lIns="0" tIns="0" rIns="0" bIns="0" rtlCol="0" anchor="ctr"/>
          <a:lstStyle/>
          <a:p>
            <a:pPr indent="0" marL="0">
              <a:buNone/>
            </a:pPr>
            <a:r>
              <a:rPr lang="en-US" sz="850" b="1" spc="130" kern="0" dirty="0">
                <a:solidFill>
                  <a:srgbClr val="9A6A28"/>
                </a:solidFill>
                <a:latin typeface="Calibri" pitchFamily="34" charset="0"/>
                <a:ea typeface="Calibri" pitchFamily="34" charset="-122"/>
                <a:cs typeface="Calibri" pitchFamily="34" charset="-120"/>
              </a:rPr>
              <a:t>PHASE 1 · ONCE PER SESSION</a:t>
            </a:r>
            <a:endParaRPr lang="en-US" sz="850" dirty="0"/>
          </a:p>
        </p:txBody>
      </p:sp>
      <p:sp>
        <p:nvSpPr>
          <p:cNvPr id="15" name="Shape 13"/>
          <p:cNvSpPr/>
          <p:nvPr/>
        </p:nvSpPr>
        <p:spPr>
          <a:xfrm>
            <a:off x="457200" y="2240280"/>
            <a:ext cx="11274552" cy="1463040"/>
          </a:xfrm>
          <a:prstGeom prst="rect">
            <a:avLst/>
          </a:prstGeom>
          <a:solidFill>
            <a:srgbClr val="E9E2D3"/>
          </a:solidFill>
          <a:ln w="9525">
            <a:solidFill>
              <a:srgbClr val="E2DBCE"/>
            </a:solidFill>
            <a:prstDash val="solid"/>
          </a:ln>
        </p:spPr>
      </p:sp>
      <p:sp>
        <p:nvSpPr>
          <p:cNvPr id="16" name="Text 14"/>
          <p:cNvSpPr/>
          <p:nvPr/>
        </p:nvSpPr>
        <p:spPr>
          <a:xfrm>
            <a:off x="640080" y="2304288"/>
            <a:ext cx="5943600" cy="201168"/>
          </a:xfrm>
          <a:prstGeom prst="rect">
            <a:avLst/>
          </a:prstGeom>
          <a:noFill/>
          <a:ln/>
        </p:spPr>
        <p:txBody>
          <a:bodyPr wrap="square" lIns="0" tIns="0" rIns="0" bIns="0" rtlCol="0" anchor="ctr"/>
          <a:lstStyle/>
          <a:p>
            <a:pPr indent="0" marL="0">
              <a:buNone/>
            </a:pPr>
            <a:r>
              <a:rPr lang="en-US" sz="850" b="1" spc="130" kern="0" dirty="0">
                <a:solidFill>
                  <a:srgbClr val="9A6A28"/>
                </a:solidFill>
                <a:latin typeface="Calibri" pitchFamily="34" charset="0"/>
                <a:ea typeface="Calibri" pitchFamily="34" charset="-122"/>
                <a:cs typeface="Calibri" pitchFamily="34" charset="-120"/>
              </a:rPr>
              <a:t>PHASE 2 · OFFLINE, BEFORE ANY DATA EXISTS</a:t>
            </a:r>
            <a:endParaRPr lang="en-US" sz="850" dirty="0"/>
          </a:p>
        </p:txBody>
      </p:sp>
      <p:sp>
        <p:nvSpPr>
          <p:cNvPr id="17" name="Shape 15"/>
          <p:cNvSpPr/>
          <p:nvPr/>
        </p:nvSpPr>
        <p:spPr>
          <a:xfrm>
            <a:off x="457200" y="3840480"/>
            <a:ext cx="11274552" cy="2834640"/>
          </a:xfrm>
          <a:prstGeom prst="rect">
            <a:avLst/>
          </a:prstGeom>
          <a:solidFill>
            <a:srgbClr val="F1EDE4"/>
          </a:solidFill>
          <a:ln w="9525">
            <a:solidFill>
              <a:srgbClr val="E2DBCE"/>
            </a:solidFill>
            <a:prstDash val="solid"/>
          </a:ln>
        </p:spPr>
      </p:sp>
      <p:sp>
        <p:nvSpPr>
          <p:cNvPr id="18" name="Text 16"/>
          <p:cNvSpPr/>
          <p:nvPr/>
        </p:nvSpPr>
        <p:spPr>
          <a:xfrm>
            <a:off x="640080" y="3904488"/>
            <a:ext cx="5943600" cy="201168"/>
          </a:xfrm>
          <a:prstGeom prst="rect">
            <a:avLst/>
          </a:prstGeom>
          <a:noFill/>
          <a:ln/>
        </p:spPr>
        <p:txBody>
          <a:bodyPr wrap="square" lIns="0" tIns="0" rIns="0" bIns="0" rtlCol="0" anchor="ctr"/>
          <a:lstStyle/>
          <a:p>
            <a:pPr indent="0" marL="0">
              <a:buNone/>
            </a:pPr>
            <a:r>
              <a:rPr lang="en-US" sz="850" b="1" spc="130" kern="0" dirty="0">
                <a:solidFill>
                  <a:srgbClr val="9A6A28"/>
                </a:solidFill>
                <a:latin typeface="Calibri" pitchFamily="34" charset="0"/>
                <a:ea typeface="Calibri" pitchFamily="34" charset="-122"/>
                <a:cs typeface="Calibri" pitchFamily="34" charset="-120"/>
              </a:rPr>
              <a:t>PHASE 3 · PER RECORD (ONLINE)</a:t>
            </a:r>
            <a:endParaRPr lang="en-US" sz="850" dirty="0"/>
          </a:p>
        </p:txBody>
      </p:sp>
      <p:sp>
        <p:nvSpPr>
          <p:cNvPr id="19" name="Shape 17"/>
          <p:cNvSpPr/>
          <p:nvPr/>
        </p:nvSpPr>
        <p:spPr>
          <a:xfrm>
            <a:off x="5468112" y="1115568"/>
            <a:ext cx="0" cy="5596128"/>
          </a:xfrm>
          <a:prstGeom prst="line">
            <a:avLst/>
          </a:prstGeom>
          <a:noFill/>
          <a:ln w="15875">
            <a:solidFill>
              <a:srgbClr val="1C2530"/>
            </a:solidFill>
            <a:prstDash val="dash"/>
          </a:ln>
        </p:spPr>
      </p:sp>
      <p:sp>
        <p:nvSpPr>
          <p:cNvPr id="20" name="Text 18"/>
          <p:cNvSpPr/>
          <p:nvPr/>
        </p:nvSpPr>
        <p:spPr>
          <a:xfrm>
            <a:off x="4828032" y="877824"/>
            <a:ext cx="1280160" cy="201168"/>
          </a:xfrm>
          <a:prstGeom prst="rect">
            <a:avLst/>
          </a:prstGeom>
          <a:noFill/>
          <a:ln/>
        </p:spPr>
        <p:txBody>
          <a:bodyPr wrap="square" lIns="0" tIns="0" rIns="0" bIns="0" rtlCol="0" anchor="ctr"/>
          <a:lstStyle/>
          <a:p>
            <a:pPr algn="ctr" indent="0" marL="0">
              <a:buNone/>
            </a:pPr>
            <a:r>
              <a:rPr lang="en-US" sz="750" i="1" dirty="0">
                <a:solidFill>
                  <a:srgbClr val="7C848D"/>
                </a:solidFill>
                <a:latin typeface="Calibri" pitchFamily="34" charset="0"/>
                <a:ea typeface="Calibri" pitchFamily="34" charset="-122"/>
                <a:cs typeface="Calibri" pitchFamily="34" charset="-120"/>
              </a:rPr>
              <a:t>network boundary</a:t>
            </a:r>
            <a:endParaRPr lang="en-US" sz="750" dirty="0"/>
          </a:p>
        </p:txBody>
      </p:sp>
      <p:sp>
        <p:nvSpPr>
          <p:cNvPr id="21" name="Shape 19"/>
          <p:cNvSpPr/>
          <p:nvPr/>
        </p:nvSpPr>
        <p:spPr>
          <a:xfrm>
            <a:off x="640080" y="1481328"/>
            <a:ext cx="3291840" cy="566928"/>
          </a:xfrm>
          <a:prstGeom prst="rect">
            <a:avLst/>
          </a:prstGeom>
          <a:solidFill>
            <a:srgbClr val="FFFFFF"/>
          </a:solidFill>
          <a:ln w="12700">
            <a:solidFill>
              <a:srgbClr val="1C2530"/>
            </a:solidFill>
            <a:prstDash val="solid"/>
          </a:ln>
        </p:spPr>
      </p:sp>
      <p:sp>
        <p:nvSpPr>
          <p:cNvPr id="22" name="Text 20"/>
          <p:cNvSpPr/>
          <p:nvPr/>
        </p:nvSpPr>
        <p:spPr>
          <a:xfrm>
            <a:off x="768096" y="1563624"/>
            <a:ext cx="3035808"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Encrypt the HERA key under HE</a:t>
            </a:r>
            <a:endParaRPr lang="en-US" sz="1050" dirty="0"/>
          </a:p>
        </p:txBody>
      </p:sp>
      <p:sp>
        <p:nvSpPr>
          <p:cNvPr id="23" name="Text 21"/>
          <p:cNvSpPr/>
          <p:nvPr/>
        </p:nvSpPr>
        <p:spPr>
          <a:xfrm>
            <a:off x="768096" y="1801368"/>
            <a:ext cx="189280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one HE-sized upload, paid once</a:t>
            </a:r>
            <a:endParaRPr lang="en-US" sz="850" dirty="0"/>
          </a:p>
        </p:txBody>
      </p:sp>
      <p:sp>
        <p:nvSpPr>
          <p:cNvPr id="24" name="Text 22"/>
          <p:cNvSpPr/>
          <p:nvPr/>
        </p:nvSpPr>
        <p:spPr>
          <a:xfrm>
            <a:off x="2660904" y="1801368"/>
            <a:ext cx="1143000" cy="20116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FV · key material</a:t>
            </a:r>
            <a:endParaRPr lang="en-US" sz="800" dirty="0"/>
          </a:p>
        </p:txBody>
      </p:sp>
      <p:sp>
        <p:nvSpPr>
          <p:cNvPr id="25" name="Shape 23"/>
          <p:cNvSpPr/>
          <p:nvPr/>
        </p:nvSpPr>
        <p:spPr>
          <a:xfrm>
            <a:off x="4041648" y="1764792"/>
            <a:ext cx="1828800" cy="0"/>
          </a:xfrm>
          <a:prstGeom prst="line">
            <a:avLst/>
          </a:prstGeom>
          <a:noFill/>
          <a:ln w="19050">
            <a:solidFill>
              <a:srgbClr val="1C2530"/>
            </a:solidFill>
            <a:prstDash val="solid"/>
            <a:headEnd type="none"/>
            <a:tailEnd type="triangle"/>
          </a:ln>
        </p:spPr>
      </p:sp>
      <p:sp>
        <p:nvSpPr>
          <p:cNvPr id="26" name="Text 24"/>
          <p:cNvSpPr/>
          <p:nvPr/>
        </p:nvSpPr>
        <p:spPr>
          <a:xfrm>
            <a:off x="4041648" y="1517904"/>
            <a:ext cx="1828800" cy="201168"/>
          </a:xfrm>
          <a:prstGeom prst="rect">
            <a:avLst/>
          </a:prstGeom>
          <a:solidFill>
            <a:srgbClr val="EFEAE0"/>
          </a:solidFill>
          <a:ln/>
        </p:spPr>
        <p:txBody>
          <a:bodyPr wrap="square" lIns="0" tIns="0" rIns="0" bIns="0" rtlCol="0" anchor="ctr"/>
          <a:lstStyle/>
          <a:p>
            <a:pPr algn="ctr" indent="0" marL="0">
              <a:buNone/>
            </a:pPr>
            <a:r>
              <a:rPr lang="en-US" sz="800" dirty="0">
                <a:solidFill>
                  <a:srgbClr val="3B4650"/>
                </a:solidFill>
                <a:latin typeface="Calibri" pitchFamily="34" charset="0"/>
                <a:ea typeface="Calibri" pitchFamily="34" charset="-122"/>
                <a:cs typeface="Calibri" pitchFamily="34" charset="-120"/>
              </a:rPr>
              <a:t>uploaded once per session</a:t>
            </a:r>
            <a:endParaRPr lang="en-US" sz="800" dirty="0"/>
          </a:p>
        </p:txBody>
      </p:sp>
      <p:sp>
        <p:nvSpPr>
          <p:cNvPr id="27" name="Shape 25"/>
          <p:cNvSpPr/>
          <p:nvPr/>
        </p:nvSpPr>
        <p:spPr>
          <a:xfrm>
            <a:off x="5943600" y="1481328"/>
            <a:ext cx="5577840" cy="566928"/>
          </a:xfrm>
          <a:prstGeom prst="rect">
            <a:avLst/>
          </a:prstGeom>
          <a:solidFill>
            <a:srgbClr val="FFFFFF"/>
          </a:solidFill>
          <a:ln w="12700">
            <a:solidFill>
              <a:srgbClr val="1C2530"/>
            </a:solidFill>
            <a:prstDash val="solid"/>
          </a:ln>
        </p:spPr>
      </p:sp>
      <p:sp>
        <p:nvSpPr>
          <p:cNvPr id="28" name="Text 26"/>
          <p:cNvSpPr/>
          <p:nvPr/>
        </p:nvSpPr>
        <p:spPr>
          <a:xfrm>
            <a:off x="6071616" y="1563624"/>
            <a:ext cx="5321808"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Store the encrypted key</a:t>
            </a:r>
            <a:endParaRPr lang="en-US" sz="1050" dirty="0"/>
          </a:p>
        </p:txBody>
      </p:sp>
      <p:sp>
        <p:nvSpPr>
          <p:cNvPr id="29" name="Text 27"/>
          <p:cNvSpPr/>
          <p:nvPr/>
        </p:nvSpPr>
        <p:spPr>
          <a:xfrm>
            <a:off x="6071616" y="1801368"/>
            <a:ext cx="417880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server never learns the key itself</a:t>
            </a:r>
            <a:endParaRPr lang="en-US" sz="850" dirty="0"/>
          </a:p>
        </p:txBody>
      </p:sp>
      <p:sp>
        <p:nvSpPr>
          <p:cNvPr id="30" name="Text 28"/>
          <p:cNvSpPr/>
          <p:nvPr/>
        </p:nvSpPr>
        <p:spPr>
          <a:xfrm>
            <a:off x="10250424" y="1801368"/>
            <a:ext cx="1143000" cy="20116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FV · key material</a:t>
            </a:r>
            <a:endParaRPr lang="en-US" sz="800" dirty="0"/>
          </a:p>
        </p:txBody>
      </p:sp>
      <p:sp>
        <p:nvSpPr>
          <p:cNvPr id="31" name="Shape 29"/>
          <p:cNvSpPr/>
          <p:nvPr/>
        </p:nvSpPr>
        <p:spPr>
          <a:xfrm>
            <a:off x="640080" y="2651760"/>
            <a:ext cx="3291840" cy="566928"/>
          </a:xfrm>
          <a:prstGeom prst="rect">
            <a:avLst/>
          </a:prstGeom>
          <a:solidFill>
            <a:srgbClr val="EDE8DE"/>
          </a:solidFill>
          <a:ln w="12700">
            <a:solidFill>
              <a:srgbClr val="7C848D"/>
            </a:solidFill>
            <a:prstDash val="dash"/>
          </a:ln>
        </p:spPr>
      </p:sp>
      <p:sp>
        <p:nvSpPr>
          <p:cNvPr id="32" name="Text 30"/>
          <p:cNvSpPr/>
          <p:nvPr/>
        </p:nvSpPr>
        <p:spPr>
          <a:xfrm>
            <a:off x="768096" y="2734056"/>
            <a:ext cx="3035808" cy="237744"/>
          </a:xfrm>
          <a:prstGeom prst="rect">
            <a:avLst/>
          </a:prstGeom>
          <a:noFill/>
          <a:ln/>
        </p:spPr>
        <p:txBody>
          <a:bodyPr wrap="square" lIns="0" tIns="0" rIns="0" bIns="0" rtlCol="0" anchor="ctr"/>
          <a:lstStyle/>
          <a:p>
            <a:pPr indent="0" marL="0">
              <a:buNone/>
            </a:pPr>
            <a:r>
              <a:rPr lang="en-US" sz="1050" b="1" dirty="0">
                <a:solidFill>
                  <a:srgbClr val="7C848D"/>
                </a:solidFill>
                <a:latin typeface="Calibri" pitchFamily="34" charset="0"/>
                <a:ea typeface="Calibri" pitchFamily="34" charset="-122"/>
                <a:cs typeface="Calibri" pitchFamily="34" charset="-120"/>
              </a:rPr>
              <a:t>(client idle)</a:t>
            </a:r>
            <a:endParaRPr lang="en-US" sz="1050" dirty="0"/>
          </a:p>
        </p:txBody>
      </p:sp>
      <p:sp>
        <p:nvSpPr>
          <p:cNvPr id="33" name="Text 31"/>
          <p:cNvSpPr/>
          <p:nvPr/>
        </p:nvSpPr>
        <p:spPr>
          <a:xfrm>
            <a:off x="768096" y="2971800"/>
            <a:ext cx="303580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no client work happens in this phase at all</a:t>
            </a:r>
            <a:endParaRPr lang="en-US" sz="850" dirty="0"/>
          </a:p>
        </p:txBody>
      </p:sp>
      <p:sp>
        <p:nvSpPr>
          <p:cNvPr id="34" name="Shape 32"/>
          <p:cNvSpPr/>
          <p:nvPr/>
        </p:nvSpPr>
        <p:spPr>
          <a:xfrm>
            <a:off x="5943600" y="2651760"/>
            <a:ext cx="2697480" cy="566928"/>
          </a:xfrm>
          <a:prstGeom prst="rect">
            <a:avLst/>
          </a:prstGeom>
          <a:solidFill>
            <a:srgbClr val="E4D8BF"/>
          </a:solidFill>
          <a:ln w="19050">
            <a:solidFill>
              <a:srgbClr val="9A6A28"/>
            </a:solidFill>
            <a:prstDash val="solid"/>
          </a:ln>
        </p:spPr>
      </p:sp>
      <p:sp>
        <p:nvSpPr>
          <p:cNvPr id="35" name="Text 33"/>
          <p:cNvSpPr/>
          <p:nvPr/>
        </p:nvSpPr>
        <p:spPr>
          <a:xfrm>
            <a:off x="6071616" y="2734056"/>
            <a:ext cx="2441448"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Evaluate HERA homomorphically</a:t>
            </a:r>
            <a:endParaRPr lang="en-US" sz="1050" dirty="0"/>
          </a:p>
        </p:txBody>
      </p:sp>
      <p:sp>
        <p:nvSpPr>
          <p:cNvPr id="36" name="Text 34"/>
          <p:cNvSpPr/>
          <p:nvPr/>
        </p:nvSpPr>
        <p:spPr>
          <a:xfrm>
            <a:off x="6071616" y="2971800"/>
            <a:ext cx="129844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the expensive step</a:t>
            </a:r>
            <a:endParaRPr lang="en-US" sz="850" dirty="0"/>
          </a:p>
        </p:txBody>
      </p:sp>
      <p:sp>
        <p:nvSpPr>
          <p:cNvPr id="37" name="Text 35"/>
          <p:cNvSpPr/>
          <p:nvPr/>
        </p:nvSpPr>
        <p:spPr>
          <a:xfrm>
            <a:off x="7370064" y="2971800"/>
            <a:ext cx="1143000" cy="20116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FV · slot</a:t>
            </a:r>
            <a:endParaRPr lang="en-US" sz="800" dirty="0"/>
          </a:p>
        </p:txBody>
      </p:sp>
      <p:sp>
        <p:nvSpPr>
          <p:cNvPr id="38" name="Shape 36"/>
          <p:cNvSpPr/>
          <p:nvPr/>
        </p:nvSpPr>
        <p:spPr>
          <a:xfrm>
            <a:off x="8686800" y="2935224"/>
            <a:ext cx="201168" cy="0"/>
          </a:xfrm>
          <a:prstGeom prst="line">
            <a:avLst/>
          </a:prstGeom>
          <a:noFill/>
          <a:ln w="15875">
            <a:solidFill>
              <a:srgbClr val="1C2530"/>
            </a:solidFill>
            <a:prstDash val="solid"/>
            <a:headEnd type="none"/>
            <a:tailEnd type="triangle"/>
          </a:ln>
        </p:spPr>
      </p:sp>
      <p:sp>
        <p:nvSpPr>
          <p:cNvPr id="39" name="Shape 37"/>
          <p:cNvSpPr/>
          <p:nvPr/>
        </p:nvSpPr>
        <p:spPr>
          <a:xfrm>
            <a:off x="8915400" y="2651760"/>
            <a:ext cx="2606040" cy="566928"/>
          </a:xfrm>
          <a:prstGeom prst="rect">
            <a:avLst/>
          </a:prstGeom>
          <a:solidFill>
            <a:srgbClr val="E4D8BF"/>
          </a:solidFill>
          <a:ln w="19050">
            <a:solidFill>
              <a:srgbClr val="9A6A28"/>
            </a:solidFill>
            <a:prstDash val="solid"/>
          </a:ln>
        </p:spPr>
      </p:sp>
      <p:sp>
        <p:nvSpPr>
          <p:cNvPr id="40" name="Text 38"/>
          <p:cNvSpPr/>
          <p:nvPr/>
        </p:nvSpPr>
        <p:spPr>
          <a:xfrm>
            <a:off x="9043416" y="2734056"/>
            <a:ext cx="2350008"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Rearrange the keystream</a:t>
            </a:r>
            <a:endParaRPr lang="en-US" sz="1050" dirty="0"/>
          </a:p>
        </p:txBody>
      </p:sp>
      <p:sp>
        <p:nvSpPr>
          <p:cNvPr id="41" name="Text 39"/>
          <p:cNvSpPr/>
          <p:nvPr/>
        </p:nvSpPr>
        <p:spPr>
          <a:xfrm>
            <a:off x="9043416" y="2971800"/>
            <a:ext cx="120700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into coefficient order</a:t>
            </a:r>
            <a:endParaRPr lang="en-US" sz="850" dirty="0"/>
          </a:p>
        </p:txBody>
      </p:sp>
      <p:sp>
        <p:nvSpPr>
          <p:cNvPr id="42" name="Text 40"/>
          <p:cNvSpPr/>
          <p:nvPr/>
        </p:nvSpPr>
        <p:spPr>
          <a:xfrm>
            <a:off x="10250424" y="2971800"/>
            <a:ext cx="1143000" cy="20116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FV · slot → coeff</a:t>
            </a:r>
            <a:endParaRPr lang="en-US" sz="800" dirty="0"/>
          </a:p>
        </p:txBody>
      </p:sp>
      <p:sp>
        <p:nvSpPr>
          <p:cNvPr id="43" name="Shape 41"/>
          <p:cNvSpPr/>
          <p:nvPr/>
        </p:nvSpPr>
        <p:spPr>
          <a:xfrm>
            <a:off x="5943600" y="3310128"/>
            <a:ext cx="5577840" cy="292608"/>
          </a:xfrm>
          <a:prstGeom prst="rect">
            <a:avLst/>
          </a:prstGeom>
          <a:solidFill>
            <a:srgbClr val="EFE7D6"/>
          </a:solidFill>
          <a:ln w="12700">
            <a:solidFill>
              <a:srgbClr val="9A6A28"/>
            </a:solidFill>
            <a:prstDash val="dash"/>
          </a:ln>
        </p:spPr>
      </p:sp>
      <p:sp>
        <p:nvSpPr>
          <p:cNvPr id="44" name="Text 42"/>
          <p:cNvSpPr/>
          <p:nvPr/>
        </p:nvSpPr>
        <p:spPr>
          <a:xfrm>
            <a:off x="6071616" y="3310128"/>
            <a:ext cx="5394960" cy="292608"/>
          </a:xfrm>
          <a:prstGeom prst="rect">
            <a:avLst/>
          </a:prstGeom>
          <a:noFill/>
          <a:ln/>
        </p:spPr>
        <p:txBody>
          <a:bodyPr wrap="square" lIns="0" tIns="0" rIns="0" bIns="0" rtlCol="0" anchor="ctr"/>
          <a:lstStyle/>
          <a:p>
            <a:pPr indent="0" marL="0">
              <a:buNone/>
            </a:pPr>
            <a:r>
              <a:rPr lang="en-US" sz="850" b="1" dirty="0">
                <a:solidFill>
                  <a:srgbClr val="9A6A28"/>
                </a:solidFill>
                <a:latin typeface="Calibri" pitchFamily="34" charset="0"/>
                <a:ea typeface="Calibri" pitchFamily="34" charset="-122"/>
                <a:cs typeface="Calibri" pitchFamily="34" charset="-120"/>
              </a:rPr>
              <a:t>output: an encrypted keystream, waiting — one fresh block per record</a:t>
            </a:r>
            <a:endParaRPr lang="en-US" sz="850" dirty="0"/>
          </a:p>
        </p:txBody>
      </p:sp>
      <p:sp>
        <p:nvSpPr>
          <p:cNvPr id="45" name="Shape 43"/>
          <p:cNvSpPr/>
          <p:nvPr/>
        </p:nvSpPr>
        <p:spPr>
          <a:xfrm>
            <a:off x="640080" y="4224528"/>
            <a:ext cx="3291840" cy="566928"/>
          </a:xfrm>
          <a:prstGeom prst="rect">
            <a:avLst/>
          </a:prstGeom>
          <a:solidFill>
            <a:srgbClr val="FFFFFF"/>
          </a:solidFill>
          <a:ln w="12700">
            <a:solidFill>
              <a:srgbClr val="1C2530"/>
            </a:solidFill>
            <a:prstDash val="solid"/>
          </a:ln>
        </p:spPr>
      </p:sp>
      <p:sp>
        <p:nvSpPr>
          <p:cNvPr id="46" name="Text 44"/>
          <p:cNvSpPr/>
          <p:nvPr/>
        </p:nvSpPr>
        <p:spPr>
          <a:xfrm>
            <a:off x="768096" y="4306824"/>
            <a:ext cx="3035808"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Symmetric-encrypt the record</a:t>
            </a:r>
            <a:endParaRPr lang="en-US" sz="1050" dirty="0"/>
          </a:p>
        </p:txBody>
      </p:sp>
      <p:sp>
        <p:nvSpPr>
          <p:cNvPr id="47" name="Text 45"/>
          <p:cNvSpPr/>
          <p:nvPr/>
        </p:nvSpPr>
        <p:spPr>
          <a:xfrm>
            <a:off x="768096" y="4544568"/>
            <a:ext cx="1892808" cy="20116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milliseconds, no HE involved</a:t>
            </a:r>
            <a:endParaRPr lang="en-US" sz="850" dirty="0"/>
          </a:p>
        </p:txBody>
      </p:sp>
      <p:sp>
        <p:nvSpPr>
          <p:cNvPr id="48" name="Text 46"/>
          <p:cNvSpPr/>
          <p:nvPr/>
        </p:nvSpPr>
        <p:spPr>
          <a:xfrm>
            <a:off x="2660904" y="4544568"/>
            <a:ext cx="1143000" cy="20116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HERA · plain bytes</a:t>
            </a:r>
            <a:endParaRPr lang="en-US" sz="800" dirty="0"/>
          </a:p>
        </p:txBody>
      </p:sp>
      <p:sp>
        <p:nvSpPr>
          <p:cNvPr id="49" name="Shape 47"/>
          <p:cNvSpPr/>
          <p:nvPr/>
        </p:nvSpPr>
        <p:spPr>
          <a:xfrm>
            <a:off x="4041648" y="4507992"/>
            <a:ext cx="1828800" cy="0"/>
          </a:xfrm>
          <a:prstGeom prst="line">
            <a:avLst/>
          </a:prstGeom>
          <a:noFill/>
          <a:ln w="25400">
            <a:solidFill>
              <a:srgbClr val="9A6A28"/>
            </a:solidFill>
            <a:prstDash val="solid"/>
            <a:headEnd type="none"/>
            <a:tailEnd type="triangle"/>
          </a:ln>
        </p:spPr>
      </p:sp>
      <p:sp>
        <p:nvSpPr>
          <p:cNvPr id="50" name="Text 48"/>
          <p:cNvSpPr/>
          <p:nvPr/>
        </p:nvSpPr>
        <p:spPr>
          <a:xfrm>
            <a:off x="4041648" y="4261104"/>
            <a:ext cx="1828800" cy="201168"/>
          </a:xfrm>
          <a:prstGeom prst="rect">
            <a:avLst/>
          </a:prstGeom>
          <a:solidFill>
            <a:srgbClr val="F1EDE4"/>
          </a:solidFill>
          <a:ln/>
        </p:spPr>
        <p:txBody>
          <a:bodyPr wrap="square" lIns="0" tIns="0" rIns="0" bIns="0" rtlCol="0" anchor="ctr"/>
          <a:lstStyle/>
          <a:p>
            <a:pPr algn="ctr" indent="0" marL="0">
              <a:buNone/>
            </a:pPr>
            <a:r>
              <a:rPr lang="en-US" sz="850" b="1" dirty="0">
                <a:solidFill>
                  <a:srgbClr val="9A6A28"/>
                </a:solidFill>
                <a:latin typeface="Calibri" pitchFamily="34" charset="0"/>
                <a:ea typeface="Calibri" pitchFamily="34" charset="-122"/>
                <a:cs typeface="Calibri" pitchFamily="34" charset="-120"/>
              </a:rPr>
              <a:t>~1 KB · 249× smaller</a:t>
            </a:r>
            <a:endParaRPr lang="en-US" sz="850" dirty="0"/>
          </a:p>
        </p:txBody>
      </p:sp>
      <p:sp>
        <p:nvSpPr>
          <p:cNvPr id="51" name="Shape 49"/>
          <p:cNvSpPr/>
          <p:nvPr/>
        </p:nvSpPr>
        <p:spPr>
          <a:xfrm>
            <a:off x="5943600" y="4224528"/>
            <a:ext cx="5577840" cy="438912"/>
          </a:xfrm>
          <a:prstGeom prst="rect">
            <a:avLst/>
          </a:prstGeom>
          <a:solidFill>
            <a:srgbClr val="FFFFFF"/>
          </a:solidFill>
          <a:ln w="12700">
            <a:solidFill>
              <a:srgbClr val="1C2530"/>
            </a:solidFill>
            <a:prstDash val="solid"/>
          </a:ln>
        </p:spPr>
      </p:sp>
      <p:sp>
        <p:nvSpPr>
          <p:cNvPr id="52" name="Text 50"/>
          <p:cNvSpPr/>
          <p:nvPr/>
        </p:nvSpPr>
        <p:spPr>
          <a:xfrm>
            <a:off x="6071616" y="4251960"/>
            <a:ext cx="1874520" cy="384048"/>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Subtract the keystream</a:t>
            </a:r>
            <a:endParaRPr lang="en-US" sz="1050" dirty="0"/>
          </a:p>
        </p:txBody>
      </p:sp>
      <p:sp>
        <p:nvSpPr>
          <p:cNvPr id="53" name="Text 51"/>
          <p:cNvSpPr/>
          <p:nvPr/>
        </p:nvSpPr>
        <p:spPr>
          <a:xfrm>
            <a:off x="8046720" y="4251960"/>
            <a:ext cx="2103120" cy="38404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this is the homomorphic decryption</a:t>
            </a:r>
            <a:endParaRPr lang="en-US" sz="850" dirty="0"/>
          </a:p>
        </p:txBody>
      </p:sp>
      <p:sp>
        <p:nvSpPr>
          <p:cNvPr id="54" name="Text 52"/>
          <p:cNvSpPr/>
          <p:nvPr/>
        </p:nvSpPr>
        <p:spPr>
          <a:xfrm>
            <a:off x="10259568" y="4251960"/>
            <a:ext cx="1152144" cy="38404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FV · coefficient</a:t>
            </a:r>
            <a:endParaRPr lang="en-US" sz="800" dirty="0"/>
          </a:p>
        </p:txBody>
      </p:sp>
      <p:sp>
        <p:nvSpPr>
          <p:cNvPr id="55" name="Shape 53"/>
          <p:cNvSpPr/>
          <p:nvPr/>
        </p:nvSpPr>
        <p:spPr>
          <a:xfrm>
            <a:off x="6446520" y="4663440"/>
            <a:ext cx="0" cy="91440"/>
          </a:xfrm>
          <a:prstGeom prst="line">
            <a:avLst/>
          </a:prstGeom>
          <a:noFill/>
          <a:ln w="12700">
            <a:solidFill>
              <a:srgbClr val="1C2530"/>
            </a:solidFill>
            <a:prstDash val="solid"/>
            <a:headEnd type="none"/>
            <a:tailEnd type="triangle"/>
          </a:ln>
        </p:spPr>
      </p:sp>
      <p:sp>
        <p:nvSpPr>
          <p:cNvPr id="56" name="Shape 54"/>
          <p:cNvSpPr/>
          <p:nvPr/>
        </p:nvSpPr>
        <p:spPr>
          <a:xfrm>
            <a:off x="5943600" y="4764024"/>
            <a:ext cx="5577840" cy="438912"/>
          </a:xfrm>
          <a:prstGeom prst="rect">
            <a:avLst/>
          </a:prstGeom>
          <a:solidFill>
            <a:srgbClr val="FFFFFF"/>
          </a:solidFill>
          <a:ln w="12700">
            <a:solidFill>
              <a:srgbClr val="1C2530"/>
            </a:solidFill>
            <a:prstDash val="dash"/>
          </a:ln>
        </p:spPr>
      </p:sp>
      <p:sp>
        <p:nvSpPr>
          <p:cNvPr id="57" name="Text 55"/>
          <p:cNvSpPr/>
          <p:nvPr/>
        </p:nvSpPr>
        <p:spPr>
          <a:xfrm>
            <a:off x="6071616" y="4791456"/>
            <a:ext cx="1874520" cy="384048"/>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Relabel FV as CKKS</a:t>
            </a:r>
            <a:endParaRPr lang="en-US" sz="1050" dirty="0"/>
          </a:p>
        </p:txBody>
      </p:sp>
      <p:sp>
        <p:nvSpPr>
          <p:cNvPr id="58" name="Text 56"/>
          <p:cNvSpPr/>
          <p:nvPr/>
        </p:nvSpPr>
        <p:spPr>
          <a:xfrm>
            <a:off x="8046720" y="4791456"/>
            <a:ext cx="2103120" cy="38404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free — no computation</a:t>
            </a:r>
            <a:endParaRPr lang="en-US" sz="850" dirty="0"/>
          </a:p>
        </p:txBody>
      </p:sp>
      <p:sp>
        <p:nvSpPr>
          <p:cNvPr id="59" name="Text 57"/>
          <p:cNvSpPr/>
          <p:nvPr/>
        </p:nvSpPr>
        <p:spPr>
          <a:xfrm>
            <a:off x="10259568" y="4791456"/>
            <a:ext cx="1152144" cy="38404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CKKS · coefficient</a:t>
            </a:r>
            <a:endParaRPr lang="en-US" sz="800" dirty="0"/>
          </a:p>
        </p:txBody>
      </p:sp>
      <p:sp>
        <p:nvSpPr>
          <p:cNvPr id="60" name="Shape 58"/>
          <p:cNvSpPr/>
          <p:nvPr/>
        </p:nvSpPr>
        <p:spPr>
          <a:xfrm>
            <a:off x="6446520" y="5202936"/>
            <a:ext cx="0" cy="91440"/>
          </a:xfrm>
          <a:prstGeom prst="line">
            <a:avLst/>
          </a:prstGeom>
          <a:noFill/>
          <a:ln w="12700">
            <a:solidFill>
              <a:srgbClr val="1C2530"/>
            </a:solidFill>
            <a:prstDash val="solid"/>
            <a:headEnd type="none"/>
            <a:tailEnd type="triangle"/>
          </a:ln>
        </p:spPr>
      </p:sp>
      <p:sp>
        <p:nvSpPr>
          <p:cNvPr id="61" name="Shape 59"/>
          <p:cNvSpPr/>
          <p:nvPr/>
        </p:nvSpPr>
        <p:spPr>
          <a:xfrm>
            <a:off x="5943600" y="5303520"/>
            <a:ext cx="5577840" cy="438912"/>
          </a:xfrm>
          <a:prstGeom prst="rect">
            <a:avLst/>
          </a:prstGeom>
          <a:solidFill>
            <a:srgbClr val="FFFFFF"/>
          </a:solidFill>
          <a:ln w="12700">
            <a:solidFill>
              <a:srgbClr val="1C2530"/>
            </a:solidFill>
            <a:prstDash val="solid"/>
          </a:ln>
        </p:spPr>
      </p:sp>
      <p:sp>
        <p:nvSpPr>
          <p:cNvPr id="62" name="Text 60"/>
          <p:cNvSpPr/>
          <p:nvPr/>
        </p:nvSpPr>
        <p:spPr>
          <a:xfrm>
            <a:off x="6071616" y="5330952"/>
            <a:ext cx="1874520" cy="384048"/>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HalfBoot</a:t>
            </a:r>
            <a:endParaRPr lang="en-US" sz="1050" dirty="0"/>
          </a:p>
        </p:txBody>
      </p:sp>
      <p:sp>
        <p:nvSpPr>
          <p:cNvPr id="63" name="Text 61"/>
          <p:cNvSpPr/>
          <p:nvPr/>
        </p:nvSpPr>
        <p:spPr>
          <a:xfrm>
            <a:off x="8046720" y="5330952"/>
            <a:ext cx="2103120" cy="38404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restores headroom → slot layout</a:t>
            </a:r>
            <a:endParaRPr lang="en-US" sz="850" dirty="0"/>
          </a:p>
        </p:txBody>
      </p:sp>
      <p:sp>
        <p:nvSpPr>
          <p:cNvPr id="64" name="Text 62"/>
          <p:cNvSpPr/>
          <p:nvPr/>
        </p:nvSpPr>
        <p:spPr>
          <a:xfrm>
            <a:off x="10259568" y="5330952"/>
            <a:ext cx="1152144" cy="38404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CKKS · coeff → slot</a:t>
            </a:r>
            <a:endParaRPr lang="en-US" sz="800" dirty="0"/>
          </a:p>
        </p:txBody>
      </p:sp>
      <p:sp>
        <p:nvSpPr>
          <p:cNvPr id="65" name="Shape 63"/>
          <p:cNvSpPr/>
          <p:nvPr/>
        </p:nvSpPr>
        <p:spPr>
          <a:xfrm>
            <a:off x="6446520" y="5742432"/>
            <a:ext cx="0" cy="91440"/>
          </a:xfrm>
          <a:prstGeom prst="line">
            <a:avLst/>
          </a:prstGeom>
          <a:noFill/>
          <a:ln w="12700">
            <a:solidFill>
              <a:srgbClr val="1C2530"/>
            </a:solidFill>
            <a:prstDash val="solid"/>
            <a:headEnd type="none"/>
            <a:tailEnd type="triangle"/>
          </a:ln>
        </p:spPr>
      </p:sp>
      <p:sp>
        <p:nvSpPr>
          <p:cNvPr id="66" name="Shape 64"/>
          <p:cNvSpPr/>
          <p:nvPr/>
        </p:nvSpPr>
        <p:spPr>
          <a:xfrm>
            <a:off x="5943600" y="5843016"/>
            <a:ext cx="5577840" cy="438912"/>
          </a:xfrm>
          <a:prstGeom prst="rect">
            <a:avLst/>
          </a:prstGeom>
          <a:solidFill>
            <a:srgbClr val="FFFFFF"/>
          </a:solidFill>
          <a:ln w="12700">
            <a:solidFill>
              <a:srgbClr val="1C2530"/>
            </a:solidFill>
            <a:prstDash val="solid"/>
          </a:ln>
        </p:spPr>
      </p:sp>
      <p:sp>
        <p:nvSpPr>
          <p:cNvPr id="67" name="Text 65"/>
          <p:cNvSpPr/>
          <p:nvPr/>
        </p:nvSpPr>
        <p:spPr>
          <a:xfrm>
            <a:off x="6071616" y="5870448"/>
            <a:ext cx="1874520" cy="384048"/>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Run the fraud model</a:t>
            </a:r>
            <a:endParaRPr lang="en-US" sz="1050" dirty="0"/>
          </a:p>
        </p:txBody>
      </p:sp>
      <p:sp>
        <p:nvSpPr>
          <p:cNvPr id="68" name="Text 66"/>
          <p:cNvSpPr/>
          <p:nvPr/>
        </p:nvSpPr>
        <p:spPr>
          <a:xfrm>
            <a:off x="8046720" y="5870448"/>
            <a:ext cx="2103120" cy="384048"/>
          </a:xfrm>
          <a:prstGeom prst="rect">
            <a:avLst/>
          </a:prstGeom>
          <a:noFill/>
          <a:ln/>
        </p:spPr>
        <p:txBody>
          <a:bodyPr wrap="square" lIns="0" tIns="0" rIns="0" bIns="0" rtlCol="0" anchor="ctr"/>
          <a:lstStyle/>
          <a:p>
            <a:pPr indent="0" marL="0">
              <a:buNone/>
            </a:pPr>
            <a:r>
              <a:rPr lang="en-US" sz="850" i="1" dirty="0">
                <a:solidFill>
                  <a:srgbClr val="7C848D"/>
                </a:solidFill>
                <a:latin typeface="Calibri" pitchFamily="34" charset="0"/>
                <a:ea typeface="Calibri" pitchFamily="34" charset="-122"/>
                <a:cs typeface="Calibri" pitchFamily="34" charset="-120"/>
              </a:rPr>
              <a:t>exactly as it would have anyway</a:t>
            </a:r>
            <a:endParaRPr lang="en-US" sz="850" dirty="0"/>
          </a:p>
        </p:txBody>
      </p:sp>
      <p:sp>
        <p:nvSpPr>
          <p:cNvPr id="69" name="Text 67"/>
          <p:cNvSpPr/>
          <p:nvPr/>
        </p:nvSpPr>
        <p:spPr>
          <a:xfrm>
            <a:off x="10259568" y="5870448"/>
            <a:ext cx="1152144" cy="384048"/>
          </a:xfrm>
          <a:prstGeom prst="rect">
            <a:avLst/>
          </a:prstGeom>
          <a:noFill/>
          <a:ln/>
        </p:spPr>
        <p:txBody>
          <a:bodyPr wrap="square" lIns="0" tIns="0" rIns="0" bIns="0" rtlCol="0" anchor="ctr"/>
          <a:lstStyle/>
          <a:p>
            <a:pPr algn="r" indent="0" marL="0">
              <a:buNone/>
            </a:pPr>
            <a:r>
              <a:rPr lang="en-US" sz="800" b="1" dirty="0">
                <a:solidFill>
                  <a:srgbClr val="9A6A28"/>
                </a:solidFill>
                <a:latin typeface="Calibri" pitchFamily="34" charset="0"/>
                <a:ea typeface="Calibri" pitchFamily="34" charset="-122"/>
                <a:cs typeface="Calibri" pitchFamily="34" charset="-120"/>
              </a:rPr>
              <a:t>CKKS · slot</a:t>
            </a:r>
            <a:endParaRPr lang="en-US" sz="800" dirty="0"/>
          </a:p>
        </p:txBody>
      </p:sp>
      <p:sp>
        <p:nvSpPr>
          <p:cNvPr id="70" name="Shape 68"/>
          <p:cNvSpPr/>
          <p:nvPr/>
        </p:nvSpPr>
        <p:spPr>
          <a:xfrm flipH="1">
            <a:off x="3986784" y="6473952"/>
            <a:ext cx="1920240" cy="0"/>
          </a:xfrm>
          <a:prstGeom prst="line">
            <a:avLst/>
          </a:prstGeom>
          <a:noFill/>
          <a:ln w="19050">
            <a:solidFill>
              <a:srgbClr val="1C2530"/>
            </a:solidFill>
            <a:prstDash val="solid"/>
            <a:headEnd type="none"/>
            <a:tailEnd type="triangle"/>
          </a:ln>
        </p:spPr>
      </p:sp>
      <p:sp>
        <p:nvSpPr>
          <p:cNvPr id="71" name="Text 69"/>
          <p:cNvSpPr/>
          <p:nvPr/>
        </p:nvSpPr>
        <p:spPr>
          <a:xfrm>
            <a:off x="1097280" y="6236208"/>
            <a:ext cx="4754880" cy="219456"/>
          </a:xfrm>
          <a:prstGeom prst="rect">
            <a:avLst/>
          </a:prstGeom>
          <a:solidFill>
            <a:srgbClr val="F1EDE4"/>
          </a:solidFill>
          <a:ln/>
        </p:spPr>
        <p:txBody>
          <a:bodyPr wrap="square" lIns="0" tIns="0" rIns="0" bIns="0" rtlCol="0" anchor="ctr"/>
          <a:lstStyle/>
          <a:p>
            <a:pPr algn="r" indent="0" marL="0">
              <a:buNone/>
            </a:pPr>
            <a:r>
              <a:rPr lang="en-US" sz="850" i="1" dirty="0">
                <a:solidFill>
                  <a:srgbClr val="3B4650"/>
                </a:solidFill>
                <a:latin typeface="Calibri" pitchFamily="34" charset="0"/>
                <a:ea typeface="Calibri" pitchFamily="34" charset="-122"/>
                <a:cs typeface="Calibri" pitchFamily="34" charset="-120"/>
              </a:rPr>
              <a:t>an encrypted score — readable only by the client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08 · STATUS</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Client side: complete</a:t>
            </a:r>
            <a:endParaRPr lang="en-US" sz="2700" dirty="0"/>
          </a:p>
        </p:txBody>
      </p:sp>
      <p:sp>
        <p:nvSpPr>
          <p:cNvPr id="4" name="Shape 2"/>
          <p:cNvSpPr/>
          <p:nvPr/>
        </p:nvSpPr>
        <p:spPr>
          <a:xfrm>
            <a:off x="10234879" y="402336"/>
            <a:ext cx="1298448" cy="219456"/>
          </a:xfrm>
          <a:prstGeom prst="rect">
            <a:avLst/>
          </a:prstGeom>
          <a:solidFill>
            <a:srgbClr val="1C2530"/>
          </a:solidFill>
          <a:ln w="9525">
            <a:solidFill>
              <a:srgbClr val="1C2530"/>
            </a:solidFill>
            <a:prstDash val="solid"/>
          </a:ln>
        </p:spPr>
      </p:sp>
      <p:sp>
        <p:nvSpPr>
          <p:cNvPr id="5" name="Text 3"/>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6" name="Text 4"/>
          <p:cNvSpPr/>
          <p:nvPr/>
        </p:nvSpPr>
        <p:spPr>
          <a:xfrm>
            <a:off x="658368" y="1463040"/>
            <a:ext cx="10058400" cy="54864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Go module at tools/transciphering/. HERA-16 stream cipher, m = 16 state elements, r = 4 rounds, t = 2²⁶ plaintext modulus. Pushed to main, commit 32e6516.</a:t>
            </a:r>
            <a:endParaRPr lang="en-US" sz="1450" dirty="0"/>
          </a:p>
        </p:txBody>
      </p:sp>
      <p:sp>
        <p:nvSpPr>
          <p:cNvPr id="7" name="Shape 5"/>
          <p:cNvSpPr/>
          <p:nvPr/>
        </p:nvSpPr>
        <p:spPr>
          <a:xfrm>
            <a:off x="658368" y="2651760"/>
            <a:ext cx="2487168" cy="1371600"/>
          </a:xfrm>
          <a:prstGeom prst="rect">
            <a:avLst/>
          </a:prstGeom>
          <a:solidFill>
            <a:srgbClr val="FFFFFF"/>
          </a:solidFill>
          <a:ln w="12700">
            <a:solidFill>
              <a:srgbClr val="D3CCC0"/>
            </a:solidFill>
            <a:prstDash val="solid"/>
          </a:ln>
        </p:spPr>
      </p:sp>
      <p:sp>
        <p:nvSpPr>
          <p:cNvPr id="8" name="Text 6"/>
          <p:cNvSpPr/>
          <p:nvPr/>
        </p:nvSpPr>
        <p:spPr>
          <a:xfrm>
            <a:off x="877824" y="2907792"/>
            <a:ext cx="2103120" cy="502920"/>
          </a:xfrm>
          <a:prstGeom prst="rect">
            <a:avLst/>
          </a:prstGeom>
          <a:noFill/>
          <a:ln/>
        </p:spPr>
        <p:txBody>
          <a:bodyPr wrap="square" lIns="0" tIns="0" rIns="0" bIns="0" rtlCol="0" anchor="ctr"/>
          <a:lstStyle/>
          <a:p>
            <a:pPr indent="0" marL="0">
              <a:buNone/>
            </a:pPr>
            <a:r>
              <a:rPr lang="en-US" sz="2400" dirty="0">
                <a:solidFill>
                  <a:srgbClr val="1C2530"/>
                </a:solidFill>
                <a:latin typeface="Century Schoolbook" pitchFamily="34" charset="0"/>
                <a:ea typeface="Century Schoolbook" pitchFamily="34" charset="-122"/>
                <a:cs typeface="Century Schoolbook" pitchFamily="34" charset="-120"/>
              </a:rPr>
              <a:t>0.53 ms</a:t>
            </a:r>
            <a:endParaRPr lang="en-US" sz="2400" dirty="0"/>
          </a:p>
        </p:txBody>
      </p:sp>
      <p:sp>
        <p:nvSpPr>
          <p:cNvPr id="9" name="Text 7"/>
          <p:cNvSpPr/>
          <p:nvPr/>
        </p:nvSpPr>
        <p:spPr>
          <a:xfrm>
            <a:off x="877824" y="3474720"/>
            <a:ext cx="2103120" cy="384048"/>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single-record encrypt</a:t>
            </a:r>
            <a:endParaRPr lang="en-US" sz="1050" dirty="0"/>
          </a:p>
        </p:txBody>
      </p:sp>
      <p:sp>
        <p:nvSpPr>
          <p:cNvPr id="10" name="Shape 8"/>
          <p:cNvSpPr/>
          <p:nvPr/>
        </p:nvSpPr>
        <p:spPr>
          <a:xfrm>
            <a:off x="3401568" y="2651760"/>
            <a:ext cx="2487168" cy="1371600"/>
          </a:xfrm>
          <a:prstGeom prst="rect">
            <a:avLst/>
          </a:prstGeom>
          <a:solidFill>
            <a:srgbClr val="FFFFFF"/>
          </a:solidFill>
          <a:ln w="12700">
            <a:solidFill>
              <a:srgbClr val="D3CCC0"/>
            </a:solidFill>
            <a:prstDash val="solid"/>
          </a:ln>
        </p:spPr>
      </p:sp>
      <p:sp>
        <p:nvSpPr>
          <p:cNvPr id="11" name="Text 9"/>
          <p:cNvSpPr/>
          <p:nvPr/>
        </p:nvSpPr>
        <p:spPr>
          <a:xfrm>
            <a:off x="3621024" y="2907792"/>
            <a:ext cx="2103120" cy="502920"/>
          </a:xfrm>
          <a:prstGeom prst="rect">
            <a:avLst/>
          </a:prstGeom>
          <a:noFill/>
          <a:ln/>
        </p:spPr>
        <p:txBody>
          <a:bodyPr wrap="square" lIns="0" tIns="0" rIns="0" bIns="0" rtlCol="0" anchor="ctr"/>
          <a:lstStyle/>
          <a:p>
            <a:pPr indent="0" marL="0">
              <a:buNone/>
            </a:pPr>
            <a:r>
              <a:rPr lang="en-US" sz="2400" dirty="0">
                <a:solidFill>
                  <a:srgbClr val="1C2530"/>
                </a:solidFill>
                <a:latin typeface="Century Schoolbook" pitchFamily="34" charset="0"/>
                <a:ea typeface="Century Schoolbook" pitchFamily="34" charset="-122"/>
                <a:cs typeface="Century Schoolbook" pitchFamily="34" charset="-120"/>
              </a:rPr>
              <a:t>7 ms</a:t>
            </a:r>
            <a:endParaRPr lang="en-US" sz="2400" dirty="0"/>
          </a:p>
        </p:txBody>
      </p:sp>
      <p:sp>
        <p:nvSpPr>
          <p:cNvPr id="12" name="Text 10"/>
          <p:cNvSpPr/>
          <p:nvPr/>
        </p:nvSpPr>
        <p:spPr>
          <a:xfrm>
            <a:off x="3621024" y="3474720"/>
            <a:ext cx="2103120" cy="384048"/>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16-lane batch</a:t>
            </a:r>
            <a:endParaRPr lang="en-US" sz="1050" dirty="0"/>
          </a:p>
        </p:txBody>
      </p:sp>
      <p:sp>
        <p:nvSpPr>
          <p:cNvPr id="13" name="Shape 11"/>
          <p:cNvSpPr/>
          <p:nvPr/>
        </p:nvSpPr>
        <p:spPr>
          <a:xfrm>
            <a:off x="6144768" y="2651760"/>
            <a:ext cx="2487168" cy="1371600"/>
          </a:xfrm>
          <a:prstGeom prst="rect">
            <a:avLst/>
          </a:prstGeom>
          <a:solidFill>
            <a:srgbClr val="FFFFFF"/>
          </a:solidFill>
          <a:ln w="12700">
            <a:solidFill>
              <a:srgbClr val="D3CCC0"/>
            </a:solidFill>
            <a:prstDash val="solid"/>
          </a:ln>
        </p:spPr>
      </p:sp>
      <p:sp>
        <p:nvSpPr>
          <p:cNvPr id="14" name="Text 12"/>
          <p:cNvSpPr/>
          <p:nvPr/>
        </p:nvSpPr>
        <p:spPr>
          <a:xfrm>
            <a:off x="6364224" y="2907792"/>
            <a:ext cx="2103120" cy="502920"/>
          </a:xfrm>
          <a:prstGeom prst="rect">
            <a:avLst/>
          </a:prstGeom>
          <a:noFill/>
          <a:ln/>
        </p:spPr>
        <p:txBody>
          <a:bodyPr wrap="square" lIns="0" tIns="0" rIns="0" bIns="0" rtlCol="0" anchor="ctr"/>
          <a:lstStyle/>
          <a:p>
            <a:pPr indent="0" marL="0">
              <a:buNone/>
            </a:pPr>
            <a:r>
              <a:rPr lang="en-US" sz="2400" dirty="0">
                <a:solidFill>
                  <a:srgbClr val="1C2530"/>
                </a:solidFill>
                <a:latin typeface="Century Schoolbook" pitchFamily="34" charset="0"/>
                <a:ea typeface="Century Schoolbook" pitchFamily="34" charset="-122"/>
                <a:cs typeface="Century Schoolbook" pitchFamily="34" charset="-120"/>
              </a:rPr>
              <a:t>1,052 B</a:t>
            </a:r>
            <a:endParaRPr lang="en-US" sz="2400" dirty="0"/>
          </a:p>
        </p:txBody>
      </p:sp>
      <p:sp>
        <p:nvSpPr>
          <p:cNvPr id="15" name="Text 13"/>
          <p:cNvSpPr/>
          <p:nvPr/>
        </p:nvSpPr>
        <p:spPr>
          <a:xfrm>
            <a:off x="6364224" y="3474720"/>
            <a:ext cx="2103120" cy="384048"/>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upload, from 262,257 B</a:t>
            </a:r>
            <a:endParaRPr lang="en-US" sz="1050" dirty="0"/>
          </a:p>
        </p:txBody>
      </p:sp>
      <p:sp>
        <p:nvSpPr>
          <p:cNvPr id="16" name="Shape 14"/>
          <p:cNvSpPr/>
          <p:nvPr/>
        </p:nvSpPr>
        <p:spPr>
          <a:xfrm>
            <a:off x="8887968" y="2651760"/>
            <a:ext cx="2487168" cy="1371600"/>
          </a:xfrm>
          <a:prstGeom prst="rect">
            <a:avLst/>
          </a:prstGeom>
          <a:solidFill>
            <a:srgbClr val="E4D8BF"/>
          </a:solidFill>
          <a:ln w="19050">
            <a:solidFill>
              <a:srgbClr val="9A6A28"/>
            </a:solidFill>
            <a:prstDash val="solid"/>
          </a:ln>
        </p:spPr>
      </p:sp>
      <p:sp>
        <p:nvSpPr>
          <p:cNvPr id="17" name="Text 15"/>
          <p:cNvSpPr/>
          <p:nvPr/>
        </p:nvSpPr>
        <p:spPr>
          <a:xfrm>
            <a:off x="9107424" y="2907792"/>
            <a:ext cx="2103120" cy="502920"/>
          </a:xfrm>
          <a:prstGeom prst="rect">
            <a:avLst/>
          </a:prstGeom>
          <a:noFill/>
          <a:ln/>
        </p:spPr>
        <p:txBody>
          <a:bodyPr wrap="square" lIns="0" tIns="0" rIns="0" bIns="0" rtlCol="0" anchor="ctr"/>
          <a:lstStyle/>
          <a:p>
            <a:pPr indent="0" marL="0">
              <a:buNone/>
            </a:pPr>
            <a:r>
              <a:rPr lang="en-US" sz="2400" dirty="0">
                <a:solidFill>
                  <a:srgbClr val="9A6A28"/>
                </a:solidFill>
                <a:latin typeface="Century Schoolbook" pitchFamily="34" charset="0"/>
                <a:ea typeface="Century Schoolbook" pitchFamily="34" charset="-122"/>
                <a:cs typeface="Century Schoolbook" pitchFamily="34" charset="-120"/>
              </a:rPr>
              <a:t>249×</a:t>
            </a:r>
            <a:endParaRPr lang="en-US" sz="2400" dirty="0"/>
          </a:p>
        </p:txBody>
      </p:sp>
      <p:sp>
        <p:nvSpPr>
          <p:cNvPr id="18" name="Text 16"/>
          <p:cNvSpPr/>
          <p:nvPr/>
        </p:nvSpPr>
        <p:spPr>
          <a:xfrm>
            <a:off x="9107424" y="3474720"/>
            <a:ext cx="2103120" cy="384048"/>
          </a:xfrm>
          <a:prstGeom prst="rect">
            <a:avLst/>
          </a:prstGeom>
          <a:noFill/>
          <a:ln/>
        </p:spPr>
        <p:txBody>
          <a:bodyPr wrap="square" lIns="0" tIns="0" rIns="0" bIns="0" rtlCol="0" anchor="ctr"/>
          <a:lstStyle/>
          <a:p>
            <a:pPr indent="0" marL="0">
              <a:lnSpc>
                <a:spcPts val="1400"/>
              </a:lnSpc>
              <a:buNone/>
            </a:pPr>
            <a:r>
              <a:rPr lang="en-US" sz="1050" dirty="0">
                <a:solidFill>
                  <a:srgbClr val="3B4650"/>
                </a:solidFill>
                <a:latin typeface="Calibri" pitchFamily="34" charset="0"/>
                <a:ea typeface="Calibri" pitchFamily="34" charset="-122"/>
                <a:cs typeface="Calibri" pitchFamily="34" charset="-120"/>
              </a:rPr>
              <a:t>reduction on the wire</a:t>
            </a:r>
            <a:endParaRPr lang="en-US" sz="1050" dirty="0"/>
          </a:p>
        </p:txBody>
      </p:sp>
      <p:sp>
        <p:nvSpPr>
          <p:cNvPr id="19" name="Text 17"/>
          <p:cNvSpPr/>
          <p:nvPr/>
        </p:nvSpPr>
        <p:spPr>
          <a:xfrm>
            <a:off x="658368" y="4434840"/>
            <a:ext cx="10424160" cy="320040"/>
          </a:xfrm>
          <a:prstGeom prst="rect">
            <a:avLst/>
          </a:prstGeom>
          <a:noFill/>
          <a:ln/>
        </p:spPr>
        <p:txBody>
          <a:bodyPr wrap="square" lIns="0" tIns="0" rIns="0" bIns="0" rtlCol="0" anchor="ctr"/>
          <a:lstStyle/>
          <a:p>
            <a:pPr indent="0" marL="0">
              <a:buNone/>
            </a:pPr>
            <a:r>
              <a:rPr lang="en-US" sz="1300" i="1" dirty="0">
                <a:solidFill>
                  <a:srgbClr val="3B4650"/>
                </a:solidFill>
                <a:latin typeface="Calibri" pitchFamily="34" charset="0"/>
                <a:ea typeface="Calibri" pitchFamily="34" charset="-122"/>
                <a:cs typeface="Calibri" pitchFamily="34" charset="-120"/>
              </a:rPr>
              <a:t>All four measured on my own hardware. Nothing on this slide is estimated.</a:t>
            </a:r>
            <a:endParaRPr lang="en-US" sz="1300" dirty="0"/>
          </a:p>
        </p:txBody>
      </p:sp>
      <p:sp>
        <p:nvSpPr>
          <p:cNvPr id="20" name="Text 18"/>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1" name="Text 19"/>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09 · FINDING 1</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build issue does not exist</a:t>
            </a:r>
            <a:endParaRPr lang="en-US" sz="2700" dirty="0"/>
          </a:p>
        </p:txBody>
      </p:sp>
      <p:sp>
        <p:nvSpPr>
          <p:cNvPr id="4" name="Shape 2"/>
          <p:cNvSpPr/>
          <p:nvPr/>
        </p:nvSpPr>
        <p:spPr>
          <a:xfrm>
            <a:off x="10234879" y="402336"/>
            <a:ext cx="1298448" cy="219456"/>
          </a:xfrm>
          <a:prstGeom prst="rect">
            <a:avLst/>
          </a:prstGeom>
          <a:solidFill>
            <a:srgbClr val="1C2530"/>
          </a:solidFill>
          <a:ln w="9525">
            <a:solidFill>
              <a:srgbClr val="1C2530"/>
            </a:solidFill>
            <a:prstDash val="solid"/>
          </a:ln>
        </p:spPr>
      </p:sp>
      <p:sp>
        <p:nvSpPr>
          <p:cNvPr id="5" name="Text 3"/>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6" name="Text 4"/>
          <p:cNvSpPr/>
          <p:nvPr/>
        </p:nvSpPr>
        <p:spPr>
          <a:xfrm>
            <a:off x="658368" y="1463040"/>
            <a:ext cx="1005840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The task was framed as fixing a library/build problem with the KAIST ckks_fv RtF bridge. There is no build problem.</a:t>
            </a:r>
            <a:endParaRPr lang="en-US" sz="1450" dirty="0"/>
          </a:p>
        </p:txBody>
      </p:sp>
      <p:sp>
        <p:nvSpPr>
          <p:cNvPr id="7" name="Shape 5"/>
          <p:cNvSpPr/>
          <p:nvPr/>
        </p:nvSpPr>
        <p:spPr>
          <a:xfrm>
            <a:off x="658368" y="2331720"/>
            <a:ext cx="5120640" cy="1417320"/>
          </a:xfrm>
          <a:prstGeom prst="rect">
            <a:avLst/>
          </a:prstGeom>
          <a:solidFill>
            <a:srgbClr val="FFFFFF"/>
          </a:solidFill>
          <a:ln w="12700">
            <a:solidFill>
              <a:srgbClr val="D3CCC0"/>
            </a:solidFill>
            <a:prstDash val="dash"/>
          </a:ln>
        </p:spPr>
      </p:sp>
      <p:sp>
        <p:nvSpPr>
          <p:cNvPr id="8" name="Text 6"/>
          <p:cNvSpPr/>
          <p:nvPr/>
        </p:nvSpPr>
        <p:spPr>
          <a:xfrm>
            <a:off x="950976" y="2514600"/>
            <a:ext cx="4480560" cy="256032"/>
          </a:xfrm>
          <a:prstGeom prst="rect">
            <a:avLst/>
          </a:prstGeom>
          <a:noFill/>
          <a:ln/>
        </p:spPr>
        <p:txBody>
          <a:bodyPr wrap="square" lIns="0" tIns="0" rIns="0" bIns="0" rtlCol="0" anchor="ctr"/>
          <a:lstStyle/>
          <a:p>
            <a:pPr indent="0" marL="0">
              <a:buNone/>
            </a:pPr>
            <a:r>
              <a:rPr lang="en-US" sz="1100" b="1" spc="100" kern="0" dirty="0">
                <a:solidFill>
                  <a:srgbClr val="7C848D"/>
                </a:solidFill>
                <a:latin typeface="Calibri" pitchFamily="34" charset="0"/>
                <a:ea typeface="Calibri" pitchFamily="34" charset="-122"/>
                <a:cs typeface="Calibri" pitchFamily="34" charset="-120"/>
              </a:rPr>
              <a:t>As framed</a:t>
            </a:r>
            <a:endParaRPr lang="en-US" sz="1100" dirty="0"/>
          </a:p>
        </p:txBody>
      </p:sp>
      <p:sp>
        <p:nvSpPr>
          <p:cNvPr id="9" name="Text 7"/>
          <p:cNvSpPr/>
          <p:nvPr/>
        </p:nvSpPr>
        <p:spPr>
          <a:xfrm>
            <a:off x="950976" y="2834640"/>
            <a:ext cx="4480560" cy="731520"/>
          </a:xfrm>
          <a:prstGeom prst="rect">
            <a:avLst/>
          </a:prstGeom>
          <a:noFill/>
          <a:ln/>
        </p:spPr>
        <p:txBody>
          <a:bodyPr wrap="square" lIns="0" tIns="0" rIns="0" bIns="0" rtlCol="0" anchor="ctr"/>
          <a:lstStyle/>
          <a:p>
            <a:pPr indent="0" marL="0">
              <a:lnSpc>
                <a:spcPts val="1900"/>
              </a:lnSpc>
              <a:buNone/>
            </a:pPr>
            <a:r>
              <a:rPr lang="en-US" sz="1250" dirty="0">
                <a:solidFill>
                  <a:srgbClr val="7C848D"/>
                </a:solidFill>
                <a:latin typeface="Calibri" pitchFamily="34" charset="0"/>
                <a:ea typeface="Calibri" pitchFamily="34" charset="-122"/>
                <a:cs typeface="Calibri" pitchFamily="34" charset="-120"/>
              </a:rPr>
              <a:t>The RtF bridge does not build; fix the library before anything else can proceed.</a:t>
            </a:r>
            <a:endParaRPr lang="en-US" sz="1250" dirty="0"/>
          </a:p>
        </p:txBody>
      </p:sp>
      <p:sp>
        <p:nvSpPr>
          <p:cNvPr id="10" name="Shape 8"/>
          <p:cNvSpPr/>
          <p:nvPr/>
        </p:nvSpPr>
        <p:spPr>
          <a:xfrm>
            <a:off x="6400800" y="2331720"/>
            <a:ext cx="5120640" cy="1417320"/>
          </a:xfrm>
          <a:prstGeom prst="rect">
            <a:avLst/>
          </a:prstGeom>
          <a:solidFill>
            <a:srgbClr val="E4D8BF"/>
          </a:solidFill>
          <a:ln w="19050">
            <a:solidFill>
              <a:srgbClr val="9A6A28"/>
            </a:solidFill>
            <a:prstDash val="solid"/>
          </a:ln>
        </p:spPr>
      </p:sp>
      <p:sp>
        <p:nvSpPr>
          <p:cNvPr id="11" name="Text 9"/>
          <p:cNvSpPr/>
          <p:nvPr/>
        </p:nvSpPr>
        <p:spPr>
          <a:xfrm>
            <a:off x="6693408" y="2514600"/>
            <a:ext cx="4480560" cy="256032"/>
          </a:xfrm>
          <a:prstGeom prst="rect">
            <a:avLst/>
          </a:prstGeom>
          <a:noFill/>
          <a:ln/>
        </p:spPr>
        <p:txBody>
          <a:bodyPr wrap="square" lIns="0" tIns="0" rIns="0" bIns="0" rtlCol="0" anchor="ctr"/>
          <a:lstStyle/>
          <a:p>
            <a:pPr indent="0" marL="0">
              <a:buNone/>
            </a:pPr>
            <a:r>
              <a:rPr lang="en-US" sz="1100" b="1" spc="100" kern="0" dirty="0">
                <a:solidFill>
                  <a:srgbClr val="9A6A28"/>
                </a:solidFill>
                <a:latin typeface="Calibri" pitchFamily="34" charset="0"/>
                <a:ea typeface="Calibri" pitchFamily="34" charset="-122"/>
                <a:cs typeface="Calibri" pitchFamily="34" charset="-120"/>
              </a:rPr>
              <a:t>As found</a:t>
            </a:r>
            <a:endParaRPr lang="en-US" sz="1100" dirty="0"/>
          </a:p>
        </p:txBody>
      </p:sp>
      <p:sp>
        <p:nvSpPr>
          <p:cNvPr id="12" name="Text 10"/>
          <p:cNvSpPr/>
          <p:nvPr/>
        </p:nvSpPr>
        <p:spPr>
          <a:xfrm>
            <a:off x="6693408" y="2834640"/>
            <a:ext cx="4480560" cy="777240"/>
          </a:xfrm>
          <a:prstGeom prst="rect">
            <a:avLst/>
          </a:prstGeom>
          <a:noFill/>
          <a:ln/>
        </p:spPr>
        <p:txBody>
          <a:bodyPr wrap="square" lIns="0" tIns="0" rIns="0" bIns="0" rtlCol="0" anchor="ctr"/>
          <a:lstStyle/>
          <a:p>
            <a:pPr indent="0" marL="0">
              <a:lnSpc>
                <a:spcPts val="1900"/>
              </a:lnSpc>
              <a:buNone/>
            </a:pPr>
            <a:r>
              <a:rPr lang="en-US" sz="1250" dirty="0">
                <a:solidFill>
                  <a:srgbClr val="1C2530"/>
                </a:solidFill>
                <a:latin typeface="Calibri" pitchFamily="34" charset="0"/>
                <a:ea typeface="Calibri" pitchFamily="34" charset="-122"/>
                <a:cs typeface="Calibri" pitchFamily="34" charset="-120"/>
              </a:rPr>
              <a:t>The fork builds clean under Go 1.25 with zero source changes. go vet and go test -c both exit 0. The only blocker is RAM.</a:t>
            </a:r>
            <a:endParaRPr lang="en-US" sz="1250" dirty="0"/>
          </a:p>
        </p:txBody>
      </p:sp>
      <p:sp>
        <p:nvSpPr>
          <p:cNvPr id="13" name="Shape 11"/>
          <p:cNvSpPr/>
          <p:nvPr/>
        </p:nvSpPr>
        <p:spPr>
          <a:xfrm>
            <a:off x="5870448" y="3035808"/>
            <a:ext cx="475488" cy="0"/>
          </a:xfrm>
          <a:prstGeom prst="line">
            <a:avLst/>
          </a:prstGeom>
          <a:noFill/>
          <a:ln w="19050">
            <a:solidFill>
              <a:srgbClr val="1C2530"/>
            </a:solidFill>
            <a:prstDash val="solid"/>
            <a:headEnd type="none"/>
            <a:tailEnd type="triangle"/>
          </a:ln>
        </p:spPr>
      </p:sp>
      <p:sp>
        <p:nvSpPr>
          <p:cNvPr id="14" name="Shape 12"/>
          <p:cNvSpPr/>
          <p:nvPr/>
        </p:nvSpPr>
        <p:spPr>
          <a:xfrm>
            <a:off x="658368" y="4160520"/>
            <a:ext cx="10881360" cy="1051560"/>
          </a:xfrm>
          <a:prstGeom prst="rect">
            <a:avLst/>
          </a:prstGeom>
          <a:solidFill>
            <a:srgbClr val="EDE8DE"/>
          </a:solidFill>
          <a:ln w="12700">
            <a:solidFill>
              <a:srgbClr val="7C848D"/>
            </a:solidFill>
            <a:prstDash val="solid"/>
          </a:ln>
        </p:spPr>
      </p:sp>
      <p:sp>
        <p:nvSpPr>
          <p:cNvPr id="15" name="Text 13"/>
          <p:cNvSpPr/>
          <p:nvPr/>
        </p:nvSpPr>
        <p:spPr>
          <a:xfrm>
            <a:off x="950976" y="4297680"/>
            <a:ext cx="3657600" cy="237744"/>
          </a:xfrm>
          <a:prstGeom prst="rect">
            <a:avLst/>
          </a:prstGeom>
          <a:noFill/>
          <a:ln/>
        </p:spPr>
        <p:txBody>
          <a:bodyPr wrap="square" lIns="0" tIns="0" rIns="0" bIns="0" rtlCol="0" anchor="ctr"/>
          <a:lstStyle/>
          <a:p>
            <a:pPr indent="0" marL="0">
              <a:buNone/>
            </a:pPr>
            <a:r>
              <a:rPr lang="en-US" sz="1050" b="1" dirty="0">
                <a:solidFill>
                  <a:srgbClr val="1C2530"/>
                </a:solidFill>
                <a:latin typeface="Calibri" pitchFamily="34" charset="0"/>
                <a:ea typeface="Calibri" pitchFamily="34" charset="-122"/>
                <a:cs typeface="Calibri" pitchFamily="34" charset="-120"/>
              </a:rPr>
              <a:t>Pinned reproducibly</a:t>
            </a:r>
            <a:endParaRPr lang="en-US" sz="1050" dirty="0"/>
          </a:p>
        </p:txBody>
      </p:sp>
      <p:sp>
        <p:nvSpPr>
          <p:cNvPr id="16" name="Text 14"/>
          <p:cNvSpPr/>
          <p:nvPr/>
        </p:nvSpPr>
        <p:spPr>
          <a:xfrm>
            <a:off x="950976" y="4553712"/>
            <a:ext cx="10287000" cy="502920"/>
          </a:xfrm>
          <a:prstGeom prst="rect">
            <a:avLst/>
          </a:prstGeom>
          <a:noFill/>
          <a:ln/>
        </p:spPr>
        <p:txBody>
          <a:bodyPr wrap="square" lIns="0" tIns="0" rIns="0" bIns="0" rtlCol="0" anchor="ctr"/>
          <a:lstStyle/>
          <a:p>
            <a:pPr indent="0" marL="0">
              <a:lnSpc>
                <a:spcPts val="1500"/>
              </a:lnSpc>
              <a:buNone/>
            </a:pPr>
            <a:r>
              <a:rPr lang="en-US" sz="950" dirty="0">
                <a:solidFill>
                  <a:srgbClr val="3B4650"/>
                </a:solidFill>
                <a:latin typeface="Courier New" pitchFamily="34" charset="0"/>
                <a:ea typeface="Courier New" pitchFamily="34" charset="-122"/>
                <a:cs typeface="Courier New" pitchFamily="34" charset="-120"/>
              </a:rPr>
              <a:t>SHA 105fc73115b56f1d6ff357029c7682b19a6d8510 · fetched by third_party/fetch_rtf.sh · recorded in third_party/BUILD_NOTES.md · checkout gitignored</a:t>
            </a:r>
            <a:endParaRPr lang="en-US" sz="950" dirty="0"/>
          </a:p>
        </p:txBody>
      </p:sp>
      <p:sp>
        <p:nvSpPr>
          <p:cNvPr id="17" name="Text 15"/>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18" name="Text 16"/>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10 · FINDING 2</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Toy-scale correctness: PASS</a:t>
            </a:r>
            <a:endParaRPr lang="en-US" sz="2700" dirty="0"/>
          </a:p>
        </p:txBody>
      </p:sp>
      <p:sp>
        <p:nvSpPr>
          <p:cNvPr id="4" name="Shape 2"/>
          <p:cNvSpPr/>
          <p:nvPr/>
        </p:nvSpPr>
        <p:spPr>
          <a:xfrm>
            <a:off x="10234879" y="402336"/>
            <a:ext cx="1298448" cy="219456"/>
          </a:xfrm>
          <a:prstGeom prst="rect">
            <a:avLst/>
          </a:prstGeom>
          <a:solidFill>
            <a:srgbClr val="1C2530"/>
          </a:solidFill>
          <a:ln w="9525">
            <a:solidFill>
              <a:srgbClr val="1C2530"/>
            </a:solidFill>
            <a:prstDash val="solid"/>
          </a:ln>
        </p:spPr>
      </p:sp>
      <p:sp>
        <p:nvSpPr>
          <p:cNvPr id="5" name="Text 3"/>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6" name="Text 4"/>
          <p:cNvSpPr/>
          <p:nvPr/>
        </p:nvSpPr>
        <p:spPr>
          <a:xfrm>
            <a:off x="658368" y="1463040"/>
            <a:ext cx="1024128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Built a LogN 16 → 10 reduced copy of RtFHeraParams[3] ("128as"), all moduli reused unchanged, and ran the complete server-side path.</a:t>
            </a:r>
            <a:endParaRPr lang="en-US" sz="1450" dirty="0"/>
          </a:p>
        </p:txBody>
      </p:sp>
      <p:sp>
        <p:nvSpPr>
          <p:cNvPr id="7" name="Shape 5"/>
          <p:cNvSpPr/>
          <p:nvPr/>
        </p:nvSpPr>
        <p:spPr>
          <a:xfrm>
            <a:off x="658368" y="2395728"/>
            <a:ext cx="2487168" cy="749808"/>
          </a:xfrm>
          <a:prstGeom prst="rect">
            <a:avLst/>
          </a:prstGeom>
          <a:solidFill>
            <a:srgbClr val="FFFFFF"/>
          </a:solidFill>
          <a:ln w="12700">
            <a:solidFill>
              <a:srgbClr val="1C2530"/>
            </a:solidFill>
            <a:prstDash val="solid"/>
          </a:ln>
        </p:spPr>
      </p:sp>
      <p:sp>
        <p:nvSpPr>
          <p:cNvPr id="8" name="Text 6"/>
          <p:cNvSpPr/>
          <p:nvPr/>
        </p:nvSpPr>
        <p:spPr>
          <a:xfrm>
            <a:off x="841248" y="2395728"/>
            <a:ext cx="2121408" cy="749808"/>
          </a:xfrm>
          <a:prstGeom prst="rect">
            <a:avLst/>
          </a:prstGeom>
          <a:noFill/>
          <a:ln/>
        </p:spPr>
        <p:txBody>
          <a:bodyPr wrap="square" lIns="0" tIns="0" rIns="0" bIns="0" rtlCol="0" anchor="ctr"/>
          <a:lstStyle/>
          <a:p>
            <a:pPr indent="0" marL="0">
              <a:lnSpc>
                <a:spcPts val="1500"/>
              </a:lnSpc>
              <a:buNone/>
            </a:pPr>
            <a:r>
              <a:rPr lang="en-US" sz="1150" dirty="0">
                <a:solidFill>
                  <a:srgbClr val="1C2530"/>
                </a:solidFill>
                <a:latin typeface="Calibri" pitchFamily="34" charset="0"/>
                <a:ea typeface="Calibri" pitchFamily="34" charset="-122"/>
                <a:cs typeface="Calibri" pitchFamily="34" charset="-120"/>
              </a:rPr>
              <a:t>Homomorphic HERA in BFV</a:t>
            </a:r>
            <a:endParaRPr lang="en-US" sz="1150" dirty="0"/>
          </a:p>
        </p:txBody>
      </p:sp>
      <p:sp>
        <p:nvSpPr>
          <p:cNvPr id="9" name="Shape 7"/>
          <p:cNvSpPr/>
          <p:nvPr/>
        </p:nvSpPr>
        <p:spPr>
          <a:xfrm>
            <a:off x="3182112" y="2770632"/>
            <a:ext cx="219456" cy="0"/>
          </a:xfrm>
          <a:prstGeom prst="line">
            <a:avLst/>
          </a:prstGeom>
          <a:noFill/>
          <a:ln w="15875">
            <a:solidFill>
              <a:srgbClr val="7C848D"/>
            </a:solidFill>
            <a:prstDash val="solid"/>
            <a:headEnd type="none"/>
            <a:tailEnd type="triangle"/>
          </a:ln>
        </p:spPr>
      </p:sp>
      <p:sp>
        <p:nvSpPr>
          <p:cNvPr id="10" name="Shape 8"/>
          <p:cNvSpPr/>
          <p:nvPr/>
        </p:nvSpPr>
        <p:spPr>
          <a:xfrm>
            <a:off x="3438144" y="2395728"/>
            <a:ext cx="2487168" cy="749808"/>
          </a:xfrm>
          <a:prstGeom prst="rect">
            <a:avLst/>
          </a:prstGeom>
          <a:solidFill>
            <a:srgbClr val="FFFFFF"/>
          </a:solidFill>
          <a:ln w="12700">
            <a:solidFill>
              <a:srgbClr val="1C2530"/>
            </a:solidFill>
            <a:prstDash val="solid"/>
          </a:ln>
        </p:spPr>
      </p:sp>
      <p:sp>
        <p:nvSpPr>
          <p:cNvPr id="11" name="Text 9"/>
          <p:cNvSpPr/>
          <p:nvPr/>
        </p:nvSpPr>
        <p:spPr>
          <a:xfrm>
            <a:off x="3621024" y="2395728"/>
            <a:ext cx="2121408" cy="749808"/>
          </a:xfrm>
          <a:prstGeom prst="rect">
            <a:avLst/>
          </a:prstGeom>
          <a:noFill/>
          <a:ln/>
        </p:spPr>
        <p:txBody>
          <a:bodyPr wrap="square" lIns="0" tIns="0" rIns="0" bIns="0" rtlCol="0" anchor="ctr"/>
          <a:lstStyle/>
          <a:p>
            <a:pPr indent="0" marL="0">
              <a:lnSpc>
                <a:spcPts val="1500"/>
              </a:lnSpc>
              <a:buNone/>
            </a:pPr>
            <a:r>
              <a:rPr lang="en-US" sz="1150" dirty="0">
                <a:solidFill>
                  <a:srgbClr val="1C2530"/>
                </a:solidFill>
                <a:latin typeface="Calibri" pitchFamily="34" charset="0"/>
                <a:ea typeface="Calibri" pitchFamily="34" charset="-122"/>
                <a:cs typeface="Calibri" pitchFamily="34" charset="-120"/>
              </a:rPr>
              <a:t>HalfBoot</a:t>
            </a:r>
            <a:endParaRPr lang="en-US" sz="1150" dirty="0"/>
          </a:p>
        </p:txBody>
      </p:sp>
      <p:sp>
        <p:nvSpPr>
          <p:cNvPr id="12" name="Shape 10"/>
          <p:cNvSpPr/>
          <p:nvPr/>
        </p:nvSpPr>
        <p:spPr>
          <a:xfrm>
            <a:off x="5961888" y="2770632"/>
            <a:ext cx="219456" cy="0"/>
          </a:xfrm>
          <a:prstGeom prst="line">
            <a:avLst/>
          </a:prstGeom>
          <a:noFill/>
          <a:ln w="15875">
            <a:solidFill>
              <a:srgbClr val="7C848D"/>
            </a:solidFill>
            <a:prstDash val="solid"/>
            <a:headEnd type="none"/>
            <a:tailEnd type="triangle"/>
          </a:ln>
        </p:spPr>
      </p:sp>
      <p:sp>
        <p:nvSpPr>
          <p:cNvPr id="13" name="Shape 11"/>
          <p:cNvSpPr/>
          <p:nvPr/>
        </p:nvSpPr>
        <p:spPr>
          <a:xfrm>
            <a:off x="6217920" y="2395728"/>
            <a:ext cx="2487168" cy="749808"/>
          </a:xfrm>
          <a:prstGeom prst="rect">
            <a:avLst/>
          </a:prstGeom>
          <a:solidFill>
            <a:srgbClr val="FFFFFF"/>
          </a:solidFill>
          <a:ln w="12700">
            <a:solidFill>
              <a:srgbClr val="1C2530"/>
            </a:solidFill>
            <a:prstDash val="solid"/>
          </a:ln>
        </p:spPr>
      </p:sp>
      <p:sp>
        <p:nvSpPr>
          <p:cNvPr id="14" name="Text 12"/>
          <p:cNvSpPr/>
          <p:nvPr/>
        </p:nvSpPr>
        <p:spPr>
          <a:xfrm>
            <a:off x="6400800" y="2395728"/>
            <a:ext cx="2121408" cy="749808"/>
          </a:xfrm>
          <a:prstGeom prst="rect">
            <a:avLst/>
          </a:prstGeom>
          <a:noFill/>
          <a:ln/>
        </p:spPr>
        <p:txBody>
          <a:bodyPr wrap="square" lIns="0" tIns="0" rIns="0" bIns="0" rtlCol="0" anchor="ctr"/>
          <a:lstStyle/>
          <a:p>
            <a:pPr indent="0" marL="0">
              <a:lnSpc>
                <a:spcPts val="1500"/>
              </a:lnSpc>
              <a:buNone/>
            </a:pPr>
            <a:r>
              <a:rPr lang="en-US" sz="1150" dirty="0">
                <a:solidFill>
                  <a:srgbClr val="1C2530"/>
                </a:solidFill>
                <a:latin typeface="Calibri" pitchFamily="34" charset="0"/>
                <a:ea typeface="Calibri" pitchFamily="34" charset="-122"/>
                <a:cs typeface="Calibri" pitchFamily="34" charset="-120"/>
              </a:rPr>
              <a:t>FV → CKKS repack</a:t>
            </a:r>
            <a:endParaRPr lang="en-US" sz="1150" dirty="0"/>
          </a:p>
        </p:txBody>
      </p:sp>
      <p:sp>
        <p:nvSpPr>
          <p:cNvPr id="15" name="Shape 13"/>
          <p:cNvSpPr/>
          <p:nvPr/>
        </p:nvSpPr>
        <p:spPr>
          <a:xfrm>
            <a:off x="8741664" y="2770632"/>
            <a:ext cx="219456" cy="0"/>
          </a:xfrm>
          <a:prstGeom prst="line">
            <a:avLst/>
          </a:prstGeom>
          <a:noFill/>
          <a:ln w="15875">
            <a:solidFill>
              <a:srgbClr val="7C848D"/>
            </a:solidFill>
            <a:prstDash val="solid"/>
            <a:headEnd type="none"/>
            <a:tailEnd type="triangle"/>
          </a:ln>
        </p:spPr>
      </p:sp>
      <p:sp>
        <p:nvSpPr>
          <p:cNvPr id="16" name="Shape 14"/>
          <p:cNvSpPr/>
          <p:nvPr/>
        </p:nvSpPr>
        <p:spPr>
          <a:xfrm>
            <a:off x="8997696" y="2395728"/>
            <a:ext cx="2487168" cy="749808"/>
          </a:xfrm>
          <a:prstGeom prst="rect">
            <a:avLst/>
          </a:prstGeom>
          <a:solidFill>
            <a:srgbClr val="FFFFFF"/>
          </a:solidFill>
          <a:ln w="12700">
            <a:solidFill>
              <a:srgbClr val="1C2530"/>
            </a:solidFill>
            <a:prstDash val="solid"/>
          </a:ln>
        </p:spPr>
      </p:sp>
      <p:sp>
        <p:nvSpPr>
          <p:cNvPr id="17" name="Text 15"/>
          <p:cNvSpPr/>
          <p:nvPr/>
        </p:nvSpPr>
        <p:spPr>
          <a:xfrm>
            <a:off x="9180576" y="2395728"/>
            <a:ext cx="2121408" cy="749808"/>
          </a:xfrm>
          <a:prstGeom prst="rect">
            <a:avLst/>
          </a:prstGeom>
          <a:noFill/>
          <a:ln/>
        </p:spPr>
        <p:txBody>
          <a:bodyPr wrap="square" lIns="0" tIns="0" rIns="0" bIns="0" rtlCol="0" anchor="ctr"/>
          <a:lstStyle/>
          <a:p>
            <a:pPr indent="0" marL="0">
              <a:lnSpc>
                <a:spcPts val="1500"/>
              </a:lnSpc>
              <a:buNone/>
            </a:pPr>
            <a:r>
              <a:rPr lang="en-US" sz="1150" dirty="0">
                <a:solidFill>
                  <a:srgbClr val="1C2530"/>
                </a:solidFill>
                <a:latin typeface="Calibri" pitchFamily="34" charset="0"/>
                <a:ea typeface="Calibri" pitchFamily="34" charset="-122"/>
                <a:cs typeface="Calibri" pitchFamily="34" charset="-120"/>
              </a:rPr>
              <a:t>CKKS model evaluation</a:t>
            </a:r>
            <a:endParaRPr lang="en-US" sz="1150" dirty="0"/>
          </a:p>
        </p:txBody>
      </p:sp>
      <p:sp>
        <p:nvSpPr>
          <p:cNvPr id="18" name="Shape 16"/>
          <p:cNvSpPr/>
          <p:nvPr/>
        </p:nvSpPr>
        <p:spPr>
          <a:xfrm>
            <a:off x="658368" y="3520440"/>
            <a:ext cx="2514600" cy="1143000"/>
          </a:xfrm>
          <a:prstGeom prst="rect">
            <a:avLst/>
          </a:prstGeom>
          <a:solidFill>
            <a:srgbClr val="E4D8BF"/>
          </a:solidFill>
          <a:ln w="19050">
            <a:solidFill>
              <a:srgbClr val="9A6A28"/>
            </a:solidFill>
            <a:prstDash val="solid"/>
          </a:ln>
        </p:spPr>
      </p:sp>
      <p:sp>
        <p:nvSpPr>
          <p:cNvPr id="19" name="Text 17"/>
          <p:cNvSpPr/>
          <p:nvPr/>
        </p:nvSpPr>
        <p:spPr>
          <a:xfrm>
            <a:off x="859536" y="3712464"/>
            <a:ext cx="2103120" cy="438912"/>
          </a:xfrm>
          <a:prstGeom prst="rect">
            <a:avLst/>
          </a:prstGeom>
          <a:noFill/>
          <a:ln/>
        </p:spPr>
        <p:txBody>
          <a:bodyPr wrap="square" lIns="0" tIns="0" rIns="0" bIns="0" rtlCol="0" anchor="ctr"/>
          <a:lstStyle/>
          <a:p>
            <a:pPr indent="0" marL="0">
              <a:buNone/>
            </a:pPr>
            <a:r>
              <a:rPr lang="en-US" sz="2000" dirty="0">
                <a:solidFill>
                  <a:srgbClr val="9A6A28"/>
                </a:solidFill>
                <a:latin typeface="Century Schoolbook" pitchFamily="34" charset="0"/>
                <a:ea typeface="Century Schoolbook" pitchFamily="34" charset="-122"/>
                <a:cs typeface="Century Schoolbook" pitchFamily="34" charset="-120"/>
              </a:rPr>
              <a:t>2.1 × 10⁻⁵</a:t>
            </a:r>
            <a:endParaRPr lang="en-US" sz="2000" dirty="0"/>
          </a:p>
        </p:txBody>
      </p:sp>
      <p:sp>
        <p:nvSpPr>
          <p:cNvPr id="20" name="Text 18"/>
          <p:cNvSpPr/>
          <p:nvPr/>
        </p:nvSpPr>
        <p:spPr>
          <a:xfrm>
            <a:off x="859536" y="4187952"/>
            <a:ext cx="2103120" cy="274320"/>
          </a:xfrm>
          <a:prstGeom prst="rect">
            <a:avLst/>
          </a:prstGeom>
          <a:noFill/>
          <a:ln/>
        </p:spPr>
        <p:txBody>
          <a:bodyPr wrap="square" lIns="0" tIns="0" rIns="0" bIns="0" rtlCol="0" anchor="ctr"/>
          <a:lstStyle/>
          <a:p>
            <a:pPr indent="0" marL="0">
              <a:buNone/>
            </a:pPr>
            <a:r>
              <a:rPr lang="en-US" sz="1050" dirty="0">
                <a:solidFill>
                  <a:srgbClr val="3B4650"/>
                </a:solidFill>
                <a:latin typeface="Calibri" pitchFamily="34" charset="0"/>
                <a:ea typeface="Calibri" pitchFamily="34" charset="-122"/>
                <a:cs typeface="Calibri" pitchFamily="34" charset="-120"/>
              </a:rPr>
              <a:t>max absolute error</a:t>
            </a:r>
            <a:endParaRPr lang="en-US" sz="1050" dirty="0"/>
          </a:p>
        </p:txBody>
      </p:sp>
      <p:sp>
        <p:nvSpPr>
          <p:cNvPr id="21" name="Shape 19"/>
          <p:cNvSpPr/>
          <p:nvPr/>
        </p:nvSpPr>
        <p:spPr>
          <a:xfrm>
            <a:off x="3447288" y="3520440"/>
            <a:ext cx="2514600" cy="1143000"/>
          </a:xfrm>
          <a:prstGeom prst="rect">
            <a:avLst/>
          </a:prstGeom>
          <a:solidFill>
            <a:srgbClr val="FFFFFF"/>
          </a:solidFill>
          <a:ln w="12700">
            <a:solidFill>
              <a:srgbClr val="D3CCC0"/>
            </a:solidFill>
            <a:prstDash val="solid"/>
          </a:ln>
        </p:spPr>
      </p:sp>
      <p:sp>
        <p:nvSpPr>
          <p:cNvPr id="22" name="Text 20"/>
          <p:cNvSpPr/>
          <p:nvPr/>
        </p:nvSpPr>
        <p:spPr>
          <a:xfrm>
            <a:off x="3648456" y="3712464"/>
            <a:ext cx="2103120" cy="438912"/>
          </a:xfrm>
          <a:prstGeom prst="rect">
            <a:avLst/>
          </a:prstGeom>
          <a:noFill/>
          <a:ln/>
        </p:spPr>
        <p:txBody>
          <a:bodyPr wrap="square" lIns="0" tIns="0" rIns="0" bIns="0" rtlCol="0" anchor="ctr"/>
          <a:lstStyle/>
          <a:p>
            <a:pPr indent="0" marL="0">
              <a:buNone/>
            </a:pPr>
            <a:r>
              <a:rPr lang="en-US" sz="2000" dirty="0">
                <a:solidFill>
                  <a:srgbClr val="1C2530"/>
                </a:solidFill>
                <a:latin typeface="Century Schoolbook" pitchFamily="34" charset="0"/>
                <a:ea typeface="Century Schoolbook" pitchFamily="34" charset="-122"/>
                <a:cs typeface="Century Schoolbook" pitchFamily="34" charset="-120"/>
              </a:rPr>
              <a:t>5 × 10⁻²</a:t>
            </a:r>
            <a:endParaRPr lang="en-US" sz="2000" dirty="0"/>
          </a:p>
        </p:txBody>
      </p:sp>
      <p:sp>
        <p:nvSpPr>
          <p:cNvPr id="23" name="Text 21"/>
          <p:cNvSpPr/>
          <p:nvPr/>
        </p:nvSpPr>
        <p:spPr>
          <a:xfrm>
            <a:off x="3648456" y="4187952"/>
            <a:ext cx="2103120" cy="274320"/>
          </a:xfrm>
          <a:prstGeom prst="rect">
            <a:avLst/>
          </a:prstGeom>
          <a:noFill/>
          <a:ln/>
        </p:spPr>
        <p:txBody>
          <a:bodyPr wrap="square" lIns="0" tIns="0" rIns="0" bIns="0" rtlCol="0" anchor="ctr"/>
          <a:lstStyle/>
          <a:p>
            <a:pPr indent="0" marL="0">
              <a:buNone/>
            </a:pPr>
            <a:r>
              <a:rPr lang="en-US" sz="1050" dirty="0">
                <a:solidFill>
                  <a:srgbClr val="3B4650"/>
                </a:solidFill>
                <a:latin typeface="Calibri" pitchFamily="34" charset="0"/>
                <a:ea typeface="Calibri" pitchFamily="34" charset="-122"/>
                <a:cs typeface="Calibri" pitchFamily="34" charset="-120"/>
              </a:rPr>
              <a:t>tolerance</a:t>
            </a:r>
            <a:endParaRPr lang="en-US" sz="1050" dirty="0"/>
          </a:p>
        </p:txBody>
      </p:sp>
      <p:sp>
        <p:nvSpPr>
          <p:cNvPr id="24" name="Shape 22"/>
          <p:cNvSpPr/>
          <p:nvPr/>
        </p:nvSpPr>
        <p:spPr>
          <a:xfrm>
            <a:off x="6236208" y="3520440"/>
            <a:ext cx="2514600" cy="1143000"/>
          </a:xfrm>
          <a:prstGeom prst="rect">
            <a:avLst/>
          </a:prstGeom>
          <a:solidFill>
            <a:srgbClr val="FFFFFF"/>
          </a:solidFill>
          <a:ln w="12700">
            <a:solidFill>
              <a:srgbClr val="D3CCC0"/>
            </a:solidFill>
            <a:prstDash val="solid"/>
          </a:ln>
        </p:spPr>
      </p:sp>
      <p:sp>
        <p:nvSpPr>
          <p:cNvPr id="25" name="Text 23"/>
          <p:cNvSpPr/>
          <p:nvPr/>
        </p:nvSpPr>
        <p:spPr>
          <a:xfrm>
            <a:off x="6437376" y="3712464"/>
            <a:ext cx="2103120" cy="438912"/>
          </a:xfrm>
          <a:prstGeom prst="rect">
            <a:avLst/>
          </a:prstGeom>
          <a:noFill/>
          <a:ln/>
        </p:spPr>
        <p:txBody>
          <a:bodyPr wrap="square" lIns="0" tIns="0" rIns="0" bIns="0" rtlCol="0" anchor="ctr"/>
          <a:lstStyle/>
          <a:p>
            <a:pPr indent="0" marL="0">
              <a:buNone/>
            </a:pPr>
            <a:r>
              <a:rPr lang="en-US" sz="2000" dirty="0">
                <a:solidFill>
                  <a:srgbClr val="1C2530"/>
                </a:solidFill>
                <a:latin typeface="Century Schoolbook" pitchFamily="34" charset="0"/>
                <a:ea typeface="Century Schoolbook" pitchFamily="34" charset="-122"/>
                <a:cs typeface="Century Schoolbook" pitchFamily="34" charset="-120"/>
              </a:rPr>
              <a:t>~275 MB</a:t>
            </a:r>
            <a:endParaRPr lang="en-US" sz="2000" dirty="0"/>
          </a:p>
        </p:txBody>
      </p:sp>
      <p:sp>
        <p:nvSpPr>
          <p:cNvPr id="26" name="Text 24"/>
          <p:cNvSpPr/>
          <p:nvPr/>
        </p:nvSpPr>
        <p:spPr>
          <a:xfrm>
            <a:off x="6437376" y="4187952"/>
            <a:ext cx="2103120" cy="274320"/>
          </a:xfrm>
          <a:prstGeom prst="rect">
            <a:avLst/>
          </a:prstGeom>
          <a:noFill/>
          <a:ln/>
        </p:spPr>
        <p:txBody>
          <a:bodyPr wrap="square" lIns="0" tIns="0" rIns="0" bIns="0" rtlCol="0" anchor="ctr"/>
          <a:lstStyle/>
          <a:p>
            <a:pPr indent="0" marL="0">
              <a:buNone/>
            </a:pPr>
            <a:r>
              <a:rPr lang="en-US" sz="1050" dirty="0">
                <a:solidFill>
                  <a:srgbClr val="3B4650"/>
                </a:solidFill>
                <a:latin typeface="Calibri" pitchFamily="34" charset="0"/>
                <a:ea typeface="Calibri" pitchFamily="34" charset="-122"/>
                <a:cs typeface="Calibri" pitchFamily="34" charset="-120"/>
              </a:rPr>
              <a:t>peak RSS</a:t>
            </a:r>
            <a:endParaRPr lang="en-US" sz="1050" dirty="0"/>
          </a:p>
        </p:txBody>
      </p:sp>
      <p:sp>
        <p:nvSpPr>
          <p:cNvPr id="27" name="Shape 25"/>
          <p:cNvSpPr/>
          <p:nvPr/>
        </p:nvSpPr>
        <p:spPr>
          <a:xfrm>
            <a:off x="9052560" y="3520440"/>
            <a:ext cx="2468880" cy="1143000"/>
          </a:xfrm>
          <a:prstGeom prst="rect">
            <a:avLst/>
          </a:prstGeom>
          <a:solidFill>
            <a:srgbClr val="1C2530"/>
          </a:solidFill>
          <a:ln w="12700">
            <a:solidFill>
              <a:srgbClr val="1C2530"/>
            </a:solidFill>
            <a:prstDash val="solid"/>
          </a:ln>
        </p:spPr>
      </p:sp>
      <p:sp>
        <p:nvSpPr>
          <p:cNvPr id="28" name="Text 26"/>
          <p:cNvSpPr/>
          <p:nvPr/>
        </p:nvSpPr>
        <p:spPr>
          <a:xfrm>
            <a:off x="9052560" y="3675888"/>
            <a:ext cx="2468880" cy="457200"/>
          </a:xfrm>
          <a:prstGeom prst="rect">
            <a:avLst/>
          </a:prstGeom>
          <a:noFill/>
          <a:ln/>
        </p:spPr>
        <p:txBody>
          <a:bodyPr wrap="square" lIns="0" tIns="0" rIns="0" bIns="0" rtlCol="0" anchor="ctr"/>
          <a:lstStyle/>
          <a:p>
            <a:pPr algn="ctr" indent="0" marL="0">
              <a:buNone/>
            </a:pPr>
            <a:r>
              <a:rPr lang="en-US" sz="2600" dirty="0">
                <a:solidFill>
                  <a:srgbClr val="F6F3EC"/>
                </a:solidFill>
                <a:latin typeface="Century Schoolbook" pitchFamily="34" charset="0"/>
                <a:ea typeface="Century Schoolbook" pitchFamily="34" charset="-122"/>
                <a:cs typeface="Century Schoolbook" pitchFamily="34" charset="-120"/>
              </a:rPr>
              <a:t>PASS</a:t>
            </a:r>
            <a:endParaRPr lang="en-US" sz="2600" dirty="0"/>
          </a:p>
        </p:txBody>
      </p:sp>
      <p:sp>
        <p:nvSpPr>
          <p:cNvPr id="29" name="Text 27"/>
          <p:cNvSpPr/>
          <p:nvPr/>
        </p:nvSpPr>
        <p:spPr>
          <a:xfrm>
            <a:off x="9052560" y="4169664"/>
            <a:ext cx="2468880" cy="274320"/>
          </a:xfrm>
          <a:prstGeom prst="rect">
            <a:avLst/>
          </a:prstGeom>
          <a:noFill/>
          <a:ln/>
        </p:spPr>
        <p:txBody>
          <a:bodyPr wrap="square" lIns="0" tIns="0" rIns="0" bIns="0" rtlCol="0" anchor="ctr"/>
          <a:lstStyle/>
          <a:p>
            <a:pPr algn="ctr" indent="0" marL="0">
              <a:buNone/>
            </a:pPr>
            <a:r>
              <a:rPr lang="en-US" sz="950" dirty="0">
                <a:solidFill>
                  <a:srgbClr val="A9B2BB"/>
                </a:solidFill>
                <a:latin typeface="Calibri" pitchFamily="34" charset="0"/>
                <a:ea typeface="Calibri" pitchFamily="34" charset="-122"/>
                <a:cs typeface="Calibri" pitchFamily="34" charset="-120"/>
              </a:rPr>
              <a:t>full server path, end to end</a:t>
            </a:r>
            <a:endParaRPr lang="en-US" sz="950" dirty="0"/>
          </a:p>
        </p:txBody>
      </p:sp>
      <p:sp>
        <p:nvSpPr>
          <p:cNvPr id="30" name="Text 28"/>
          <p:cNvSpPr/>
          <p:nvPr/>
        </p:nvSpPr>
        <p:spPr>
          <a:xfrm>
            <a:off x="658368" y="4983480"/>
            <a:ext cx="10424160" cy="320040"/>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What remains is a resource-scaling problem, not a correctness problem.</a:t>
            </a:r>
            <a:endParaRPr lang="en-US" sz="1400" dirty="0"/>
          </a:p>
        </p:txBody>
      </p:sp>
      <p:sp>
        <p:nvSpPr>
          <p:cNvPr id="31" name="Text 29"/>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32" name="Text 30"/>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11 · FINDING 3</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60 GB premise was never measured</a:t>
            </a:r>
            <a:endParaRPr lang="en-US" sz="2700" dirty="0"/>
          </a:p>
        </p:txBody>
      </p:sp>
      <p:sp>
        <p:nvSpPr>
          <p:cNvPr id="4" name="Text 2"/>
          <p:cNvSpPr/>
          <p:nvPr/>
        </p:nvSpPr>
        <p:spPr>
          <a:xfrm>
            <a:off x="658368" y="1389888"/>
            <a:ext cx="10241280" cy="256032"/>
          </a:xfrm>
          <a:prstGeom prst="rect">
            <a:avLst/>
          </a:prstGeom>
          <a:noFill/>
          <a:ln/>
        </p:spPr>
        <p:txBody>
          <a:bodyPr wrap="square" lIns="0" tIns="0" rIns="0" bIns="0" rtlCol="0" anchor="ctr"/>
          <a:lstStyle/>
          <a:p>
            <a:pPr indent="0" marL="0">
              <a:buNone/>
            </a:pPr>
            <a:r>
              <a:rPr lang="en-US" sz="1150" dirty="0">
                <a:solidFill>
                  <a:srgbClr val="3B4650"/>
                </a:solidFill>
                <a:latin typeface="Calibri" pitchFamily="34" charset="0"/>
                <a:ea typeface="Calibri" pitchFamily="34" charset="-122"/>
                <a:cs typeface="Calibri" pitchFamily="34" charset="-120"/>
              </a:rPr>
              <a:t>Direct instrumentation of the pinned checkout — tools/transciphering/OPTIMIZATION_RESEARCH.md</a:t>
            </a:r>
            <a:endParaRPr lang="en-US" sz="1150" dirty="0"/>
          </a:p>
        </p:txBody>
      </p:sp>
      <p:sp>
        <p:nvSpPr>
          <p:cNvPr id="5" name="Shape 3"/>
          <p:cNvSpPr/>
          <p:nvPr/>
        </p:nvSpPr>
        <p:spPr>
          <a:xfrm>
            <a:off x="658368" y="2697480"/>
            <a:ext cx="2474976" cy="896112"/>
          </a:xfrm>
          <a:prstGeom prst="rect">
            <a:avLst/>
          </a:prstGeom>
          <a:solidFill>
            <a:srgbClr val="E4D8BF"/>
          </a:solidFill>
          <a:ln w="15875">
            <a:solidFill>
              <a:srgbClr val="9A6A28"/>
            </a:solidFill>
            <a:prstDash val="solid"/>
          </a:ln>
        </p:spPr>
      </p:sp>
      <p:sp>
        <p:nvSpPr>
          <p:cNvPr id="6" name="Text 4"/>
          <p:cNvSpPr/>
          <p:nvPr/>
        </p:nvSpPr>
        <p:spPr>
          <a:xfrm>
            <a:off x="804672" y="2843784"/>
            <a:ext cx="2182368" cy="274320"/>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3.5 GB</a:t>
            </a:r>
            <a:endParaRPr lang="en-US" sz="1300" dirty="0"/>
          </a:p>
        </p:txBody>
      </p:sp>
      <p:sp>
        <p:nvSpPr>
          <p:cNvPr id="7" name="Text 5"/>
          <p:cNvSpPr/>
          <p:nvPr/>
        </p:nvSpPr>
        <p:spPr>
          <a:xfrm>
            <a:off x="804672" y="3154680"/>
            <a:ext cx="2182368" cy="274320"/>
          </a:xfrm>
          <a:prstGeom prst="rect">
            <a:avLst/>
          </a:prstGeom>
          <a:noFill/>
          <a:ln/>
        </p:spPr>
        <p:txBody>
          <a:bodyPr wrap="square" lIns="0" tIns="0" rIns="0" bIns="0" rtlCol="0" anchor="ctr"/>
          <a:lstStyle/>
          <a:p>
            <a:pPr indent="0" marL="0">
              <a:buNone/>
            </a:pPr>
            <a:r>
              <a:rPr lang="en-US" sz="1000" dirty="0">
                <a:solidFill>
                  <a:srgbClr val="3B4650"/>
                </a:solidFill>
                <a:latin typeface="Calibri" pitchFamily="34" charset="0"/>
                <a:ea typeface="Calibri" pitchFamily="34" charset="-122"/>
                <a:cs typeface="Calibri" pitchFamily="34" charset="-120"/>
              </a:rPr>
              <a:t>Evaluation keys</a:t>
            </a:r>
            <a:endParaRPr lang="en-US" sz="1000" dirty="0"/>
          </a:p>
        </p:txBody>
      </p:sp>
      <p:sp>
        <p:nvSpPr>
          <p:cNvPr id="8" name="Shape 6"/>
          <p:cNvSpPr/>
          <p:nvPr/>
        </p:nvSpPr>
        <p:spPr>
          <a:xfrm>
            <a:off x="3133344" y="2697480"/>
            <a:ext cx="2828544" cy="896112"/>
          </a:xfrm>
          <a:prstGeom prst="rect">
            <a:avLst/>
          </a:prstGeom>
          <a:solidFill>
            <a:srgbClr val="D9CDB2"/>
          </a:solidFill>
          <a:ln w="15875">
            <a:solidFill>
              <a:srgbClr val="9A6A28"/>
            </a:solidFill>
            <a:prstDash val="solid"/>
          </a:ln>
        </p:spPr>
      </p:sp>
      <p:sp>
        <p:nvSpPr>
          <p:cNvPr id="9" name="Text 7"/>
          <p:cNvSpPr/>
          <p:nvPr/>
        </p:nvSpPr>
        <p:spPr>
          <a:xfrm>
            <a:off x="3279648" y="2843784"/>
            <a:ext cx="2535936" cy="274320"/>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4.0 GB</a:t>
            </a:r>
            <a:endParaRPr lang="en-US" sz="1300" dirty="0"/>
          </a:p>
        </p:txBody>
      </p:sp>
      <p:sp>
        <p:nvSpPr>
          <p:cNvPr id="10" name="Text 8"/>
          <p:cNvSpPr/>
          <p:nvPr/>
        </p:nvSpPr>
        <p:spPr>
          <a:xfrm>
            <a:off x="3279648" y="3154680"/>
            <a:ext cx="2535936" cy="274320"/>
          </a:xfrm>
          <a:prstGeom prst="rect">
            <a:avLst/>
          </a:prstGeom>
          <a:noFill/>
          <a:ln/>
        </p:spPr>
        <p:txBody>
          <a:bodyPr wrap="square" lIns="0" tIns="0" rIns="0" bIns="0" rtlCol="0" anchor="ctr"/>
          <a:lstStyle/>
          <a:p>
            <a:pPr indent="0" marL="0">
              <a:buNone/>
            </a:pPr>
            <a:r>
              <a:rPr lang="en-US" sz="1000" dirty="0">
                <a:solidFill>
                  <a:srgbClr val="3B4650"/>
                </a:solidFill>
                <a:latin typeface="Calibri" pitchFamily="34" charset="0"/>
                <a:ea typeface="Calibri" pitchFamily="34" charset="-122"/>
                <a:cs typeface="Calibri" pitchFamily="34" charset="-120"/>
              </a:rPr>
              <a:t>Layout-conversion matrices</a:t>
            </a:r>
            <a:endParaRPr lang="en-US" sz="1000" dirty="0"/>
          </a:p>
        </p:txBody>
      </p:sp>
      <p:sp>
        <p:nvSpPr>
          <p:cNvPr id="11" name="Shape 9"/>
          <p:cNvSpPr/>
          <p:nvPr/>
        </p:nvSpPr>
        <p:spPr>
          <a:xfrm>
            <a:off x="5961888" y="2697480"/>
            <a:ext cx="5303520" cy="896112"/>
          </a:xfrm>
          <a:prstGeom prst="rect">
            <a:avLst/>
          </a:prstGeom>
          <a:solidFill>
            <a:srgbClr val="EBE6DC"/>
          </a:solidFill>
          <a:ln w="15875">
            <a:solidFill>
              <a:srgbClr val="7C848D"/>
            </a:solidFill>
            <a:prstDash val="dash"/>
          </a:ln>
        </p:spPr>
      </p:sp>
      <p:sp>
        <p:nvSpPr>
          <p:cNvPr id="12" name="Text 10"/>
          <p:cNvSpPr/>
          <p:nvPr/>
        </p:nvSpPr>
        <p:spPr>
          <a:xfrm>
            <a:off x="6108192" y="2843784"/>
            <a:ext cx="5010912" cy="274320"/>
          </a:xfrm>
          <a:prstGeom prst="rect">
            <a:avLst/>
          </a:prstGeom>
          <a:noFill/>
          <a:ln/>
        </p:spPr>
        <p:txBody>
          <a:bodyPr wrap="square" lIns="0" tIns="0" rIns="0" bIns="0" rtlCol="0" anchor="ctr"/>
          <a:lstStyle/>
          <a:p>
            <a:pPr indent="0" marL="0">
              <a:buNone/>
            </a:pPr>
            <a:r>
              <a:rPr lang="en-US" sz="1300" b="1" dirty="0">
                <a:solidFill>
                  <a:srgbClr val="3B4650"/>
                </a:solidFill>
                <a:latin typeface="Calibri" pitchFamily="34" charset="0"/>
                <a:ea typeface="Calibri" pitchFamily="34" charset="-122"/>
                <a:cs typeface="Calibri" pitchFamily="34" charset="-120"/>
              </a:rPr>
              <a:t>headroom left</a:t>
            </a:r>
            <a:endParaRPr lang="en-US" sz="1300" dirty="0"/>
          </a:p>
        </p:txBody>
      </p:sp>
      <p:sp>
        <p:nvSpPr>
          <p:cNvPr id="13" name="Text 11"/>
          <p:cNvSpPr/>
          <p:nvPr/>
        </p:nvSpPr>
        <p:spPr>
          <a:xfrm>
            <a:off x="6108192" y="3154680"/>
            <a:ext cx="5010912" cy="274320"/>
          </a:xfrm>
          <a:prstGeom prst="rect">
            <a:avLst/>
          </a:prstGeom>
          <a:noFill/>
          <a:ln/>
        </p:spPr>
        <p:txBody>
          <a:bodyPr wrap="square" lIns="0" tIns="0" rIns="0" bIns="0" rtlCol="0" anchor="ctr"/>
          <a:lstStyle/>
          <a:p>
            <a:pPr indent="0" marL="0">
              <a:buNone/>
            </a:pPr>
            <a:r>
              <a:rPr lang="en-US" sz="1000" i="1" dirty="0">
                <a:solidFill>
                  <a:srgbClr val="7C848D"/>
                </a:solidFill>
                <a:latin typeface="Calibri" pitchFamily="34" charset="0"/>
                <a:ea typeface="Calibri" pitchFamily="34" charset="-122"/>
                <a:cs typeface="Calibri" pitchFamily="34" charset="-120"/>
              </a:rPr>
              <a:t>hera.Crypt ran here and was killed — never instrumented</a:t>
            </a:r>
            <a:endParaRPr lang="en-US" sz="1000" dirty="0"/>
          </a:p>
        </p:txBody>
      </p:sp>
      <p:sp>
        <p:nvSpPr>
          <p:cNvPr id="14" name="Shape 12"/>
          <p:cNvSpPr/>
          <p:nvPr/>
        </p:nvSpPr>
        <p:spPr>
          <a:xfrm>
            <a:off x="658368" y="3685032"/>
            <a:ext cx="10607040" cy="0"/>
          </a:xfrm>
          <a:prstGeom prst="line">
            <a:avLst/>
          </a:prstGeom>
          <a:noFill/>
          <a:ln w="12700">
            <a:solidFill>
              <a:srgbClr val="D3CCC0"/>
            </a:solidFill>
            <a:prstDash val="solid"/>
          </a:ln>
        </p:spPr>
      </p:sp>
      <p:sp>
        <p:nvSpPr>
          <p:cNvPr id="15" name="Shape 13"/>
          <p:cNvSpPr/>
          <p:nvPr/>
        </p:nvSpPr>
        <p:spPr>
          <a:xfrm>
            <a:off x="658368" y="3685032"/>
            <a:ext cx="0" cy="73152"/>
          </a:xfrm>
          <a:prstGeom prst="line">
            <a:avLst/>
          </a:prstGeom>
          <a:noFill/>
          <a:ln w="12700">
            <a:solidFill>
              <a:srgbClr val="D3CCC0"/>
            </a:solidFill>
            <a:prstDash val="solid"/>
          </a:ln>
        </p:spPr>
      </p:sp>
      <p:sp>
        <p:nvSpPr>
          <p:cNvPr id="16" name="Text 14"/>
          <p:cNvSpPr/>
          <p:nvPr/>
        </p:nvSpPr>
        <p:spPr>
          <a:xfrm>
            <a:off x="658368" y="3776472"/>
            <a:ext cx="731520" cy="201168"/>
          </a:xfrm>
          <a:prstGeom prst="rect">
            <a:avLst/>
          </a:prstGeom>
          <a:noFill/>
          <a:ln/>
        </p:spPr>
        <p:txBody>
          <a:bodyPr wrap="square" lIns="0" tIns="0" rIns="0" bIns="0" rtlCol="0" anchor="ctr"/>
          <a:lstStyle/>
          <a:p>
            <a:pPr algn="l" indent="0" marL="0">
              <a:buNone/>
            </a:pPr>
            <a:r>
              <a:rPr lang="en-US" sz="850" dirty="0">
                <a:solidFill>
                  <a:srgbClr val="7C848D"/>
                </a:solidFill>
                <a:latin typeface="Calibri" pitchFamily="34" charset="0"/>
                <a:ea typeface="Calibri" pitchFamily="34" charset="-122"/>
                <a:cs typeface="Calibri" pitchFamily="34" charset="-120"/>
              </a:rPr>
              <a:t>0 GB</a:t>
            </a:r>
            <a:endParaRPr lang="en-US" sz="850" dirty="0"/>
          </a:p>
        </p:txBody>
      </p:sp>
      <p:sp>
        <p:nvSpPr>
          <p:cNvPr id="17" name="Shape 15"/>
          <p:cNvSpPr/>
          <p:nvPr/>
        </p:nvSpPr>
        <p:spPr>
          <a:xfrm>
            <a:off x="4194048" y="3685032"/>
            <a:ext cx="0" cy="73152"/>
          </a:xfrm>
          <a:prstGeom prst="line">
            <a:avLst/>
          </a:prstGeom>
          <a:noFill/>
          <a:ln w="12700">
            <a:solidFill>
              <a:srgbClr val="D3CCC0"/>
            </a:solidFill>
            <a:prstDash val="solid"/>
          </a:ln>
        </p:spPr>
      </p:sp>
      <p:sp>
        <p:nvSpPr>
          <p:cNvPr id="18" name="Text 16"/>
          <p:cNvSpPr/>
          <p:nvPr/>
        </p:nvSpPr>
        <p:spPr>
          <a:xfrm>
            <a:off x="3828288" y="3776472"/>
            <a:ext cx="731520" cy="201168"/>
          </a:xfrm>
          <a:prstGeom prst="rect">
            <a:avLst/>
          </a:prstGeom>
          <a:noFill/>
          <a:ln/>
        </p:spPr>
        <p:txBody>
          <a:bodyPr wrap="square" lIns="0" tIns="0" rIns="0" bIns="0" rtlCol="0" anchor="ctr"/>
          <a:lstStyle/>
          <a:p>
            <a:pPr algn="ctr" indent="0" marL="0">
              <a:buNone/>
            </a:pPr>
            <a:r>
              <a:rPr lang="en-US" sz="850" dirty="0">
                <a:solidFill>
                  <a:srgbClr val="7C848D"/>
                </a:solidFill>
                <a:latin typeface="Calibri" pitchFamily="34" charset="0"/>
                <a:ea typeface="Calibri" pitchFamily="34" charset="-122"/>
                <a:cs typeface="Calibri" pitchFamily="34" charset="-120"/>
              </a:rPr>
              <a:t>5 GB</a:t>
            </a:r>
            <a:endParaRPr lang="en-US" sz="850" dirty="0"/>
          </a:p>
        </p:txBody>
      </p:sp>
      <p:sp>
        <p:nvSpPr>
          <p:cNvPr id="19" name="Shape 17"/>
          <p:cNvSpPr/>
          <p:nvPr/>
        </p:nvSpPr>
        <p:spPr>
          <a:xfrm>
            <a:off x="7729728" y="3685032"/>
            <a:ext cx="0" cy="73152"/>
          </a:xfrm>
          <a:prstGeom prst="line">
            <a:avLst/>
          </a:prstGeom>
          <a:noFill/>
          <a:ln w="12700">
            <a:solidFill>
              <a:srgbClr val="D3CCC0"/>
            </a:solidFill>
            <a:prstDash val="solid"/>
          </a:ln>
        </p:spPr>
      </p:sp>
      <p:sp>
        <p:nvSpPr>
          <p:cNvPr id="20" name="Text 18"/>
          <p:cNvSpPr/>
          <p:nvPr/>
        </p:nvSpPr>
        <p:spPr>
          <a:xfrm>
            <a:off x="7363968" y="3776472"/>
            <a:ext cx="731520" cy="201168"/>
          </a:xfrm>
          <a:prstGeom prst="rect">
            <a:avLst/>
          </a:prstGeom>
          <a:noFill/>
          <a:ln/>
        </p:spPr>
        <p:txBody>
          <a:bodyPr wrap="square" lIns="0" tIns="0" rIns="0" bIns="0" rtlCol="0" anchor="ctr"/>
          <a:lstStyle/>
          <a:p>
            <a:pPr algn="ctr" indent="0" marL="0">
              <a:buNone/>
            </a:pPr>
            <a:r>
              <a:rPr lang="en-US" sz="850" dirty="0">
                <a:solidFill>
                  <a:srgbClr val="7C848D"/>
                </a:solidFill>
                <a:latin typeface="Calibri" pitchFamily="34" charset="0"/>
                <a:ea typeface="Calibri" pitchFamily="34" charset="-122"/>
                <a:cs typeface="Calibri" pitchFamily="34" charset="-120"/>
              </a:rPr>
              <a:t>10 GB</a:t>
            </a:r>
            <a:endParaRPr lang="en-US" sz="850" dirty="0"/>
          </a:p>
        </p:txBody>
      </p:sp>
      <p:sp>
        <p:nvSpPr>
          <p:cNvPr id="21" name="Shape 19"/>
          <p:cNvSpPr/>
          <p:nvPr/>
        </p:nvSpPr>
        <p:spPr>
          <a:xfrm>
            <a:off x="11265408" y="3685032"/>
            <a:ext cx="0" cy="73152"/>
          </a:xfrm>
          <a:prstGeom prst="line">
            <a:avLst/>
          </a:prstGeom>
          <a:noFill/>
          <a:ln w="12700">
            <a:solidFill>
              <a:srgbClr val="D3CCC0"/>
            </a:solidFill>
            <a:prstDash val="solid"/>
          </a:ln>
        </p:spPr>
      </p:sp>
      <p:sp>
        <p:nvSpPr>
          <p:cNvPr id="22" name="Text 20"/>
          <p:cNvSpPr/>
          <p:nvPr/>
        </p:nvSpPr>
        <p:spPr>
          <a:xfrm>
            <a:off x="10899648" y="3776472"/>
            <a:ext cx="731520" cy="201168"/>
          </a:xfrm>
          <a:prstGeom prst="rect">
            <a:avLst/>
          </a:prstGeom>
          <a:noFill/>
          <a:ln/>
        </p:spPr>
        <p:txBody>
          <a:bodyPr wrap="square" lIns="0" tIns="0" rIns="0" bIns="0" rtlCol="0" anchor="ctr"/>
          <a:lstStyle/>
          <a:p>
            <a:pPr algn="ctr" indent="0" marL="0">
              <a:buNone/>
            </a:pPr>
            <a:r>
              <a:rPr lang="en-US" sz="850" dirty="0">
                <a:solidFill>
                  <a:srgbClr val="7C848D"/>
                </a:solidFill>
                <a:latin typeface="Calibri" pitchFamily="34" charset="0"/>
                <a:ea typeface="Calibri" pitchFamily="34" charset="-122"/>
                <a:cs typeface="Calibri" pitchFamily="34" charset="-120"/>
              </a:rPr>
              <a:t>15 GB</a:t>
            </a:r>
            <a:endParaRPr lang="en-US" sz="850" dirty="0"/>
          </a:p>
        </p:txBody>
      </p:sp>
      <p:sp>
        <p:nvSpPr>
          <p:cNvPr id="23" name="Text 21"/>
          <p:cNvSpPr/>
          <p:nvPr/>
        </p:nvSpPr>
        <p:spPr>
          <a:xfrm>
            <a:off x="658368" y="2404872"/>
            <a:ext cx="5486400" cy="219456"/>
          </a:xfrm>
          <a:prstGeom prst="rect">
            <a:avLst/>
          </a:prstGeom>
          <a:noFill/>
          <a:ln/>
        </p:spPr>
        <p:txBody>
          <a:bodyPr wrap="square" lIns="0" tIns="0" rIns="0" bIns="0" rtlCol="0" anchor="ctr"/>
          <a:lstStyle/>
          <a:p>
            <a:pPr indent="0" marL="0">
              <a:buNone/>
            </a:pPr>
            <a:r>
              <a:rPr lang="en-US" sz="950" i="1" dirty="0">
                <a:solidFill>
                  <a:srgbClr val="7C848D"/>
                </a:solidFill>
                <a:latin typeface="Calibri" pitchFamily="34" charset="0"/>
                <a:ea typeface="Calibri" pitchFamily="34" charset="-122"/>
                <a:cs typeface="Calibri" pitchFamily="34" charset="-120"/>
              </a:rPr>
              <a:t>15 GB dev host — the whole budget</a:t>
            </a:r>
            <a:endParaRPr lang="en-US" sz="950" dirty="0"/>
          </a:p>
        </p:txBody>
      </p:sp>
      <p:sp>
        <p:nvSpPr>
          <p:cNvPr id="24" name="Shape 22"/>
          <p:cNvSpPr/>
          <p:nvPr/>
        </p:nvSpPr>
        <p:spPr>
          <a:xfrm>
            <a:off x="11265408" y="2194560"/>
            <a:ext cx="0" cy="1399032"/>
          </a:xfrm>
          <a:prstGeom prst="line">
            <a:avLst/>
          </a:prstGeom>
          <a:noFill/>
          <a:ln w="19050">
            <a:solidFill>
              <a:srgbClr val="1C2530"/>
            </a:solidFill>
            <a:prstDash val="dash"/>
          </a:ln>
        </p:spPr>
      </p:sp>
      <p:sp>
        <p:nvSpPr>
          <p:cNvPr id="25" name="Text 23"/>
          <p:cNvSpPr/>
          <p:nvPr/>
        </p:nvSpPr>
        <p:spPr>
          <a:xfrm>
            <a:off x="7242048" y="1947672"/>
            <a:ext cx="4023360" cy="219456"/>
          </a:xfrm>
          <a:prstGeom prst="rect">
            <a:avLst/>
          </a:prstGeom>
          <a:noFill/>
          <a:ln/>
        </p:spPr>
        <p:txBody>
          <a:bodyPr wrap="square" lIns="0" tIns="0" rIns="0" bIns="0" rtlCol="0" anchor="ctr"/>
          <a:lstStyle/>
          <a:p>
            <a:pPr algn="r" indent="0" marL="0">
              <a:buNone/>
            </a:pPr>
            <a:r>
              <a:rPr lang="en-US" sz="950" b="1" dirty="0">
                <a:solidFill>
                  <a:srgbClr val="1C2530"/>
                </a:solidFill>
                <a:latin typeface="Calibri" pitchFamily="34" charset="0"/>
                <a:ea typeface="Calibri" pitchFamily="34" charset="-122"/>
                <a:cs typeface="Calibri" pitchFamily="34" charset="-120"/>
              </a:rPr>
              <a:t>killed by the OS, inside hera.Crypt</a:t>
            </a:r>
            <a:endParaRPr lang="en-US" sz="950" dirty="0"/>
          </a:p>
        </p:txBody>
      </p:sp>
      <p:sp>
        <p:nvSpPr>
          <p:cNvPr id="26" name="Shape 24"/>
          <p:cNvSpPr/>
          <p:nvPr/>
        </p:nvSpPr>
        <p:spPr>
          <a:xfrm>
            <a:off x="658368" y="4224528"/>
            <a:ext cx="5120640" cy="1188720"/>
          </a:xfrm>
          <a:prstGeom prst="rect">
            <a:avLst/>
          </a:prstGeom>
          <a:solidFill>
            <a:srgbClr val="FFFFFF"/>
          </a:solidFill>
          <a:ln w="12700">
            <a:solidFill>
              <a:srgbClr val="D3CCC0"/>
            </a:solidFill>
            <a:prstDash val="solid"/>
          </a:ln>
        </p:spPr>
      </p:sp>
      <p:sp>
        <p:nvSpPr>
          <p:cNvPr id="27" name="Text 25"/>
          <p:cNvSpPr/>
          <p:nvPr/>
        </p:nvSpPr>
        <p:spPr>
          <a:xfrm>
            <a:off x="914400" y="4352544"/>
            <a:ext cx="4572000" cy="237744"/>
          </a:xfrm>
          <a:prstGeom prst="rect">
            <a:avLst/>
          </a:prstGeom>
          <a:noFill/>
          <a:ln/>
        </p:spPr>
        <p:txBody>
          <a:bodyPr wrap="square" lIns="0" tIns="0" rIns="0" bIns="0" rtlCol="0" anchor="ctr"/>
          <a:lstStyle/>
          <a:p>
            <a:pPr indent="0" marL="0">
              <a:buNone/>
            </a:pPr>
            <a:r>
              <a:rPr lang="en-US" sz="1100" b="1" dirty="0">
                <a:solidFill>
                  <a:srgbClr val="1C2530"/>
                </a:solidFill>
                <a:latin typeface="Calibri" pitchFamily="34" charset="0"/>
                <a:ea typeface="Calibri" pitchFamily="34" charset="-122"/>
                <a:cs typeface="Calibri" pitchFamily="34" charset="-120"/>
              </a:rPr>
              <a:t>Prior anchor corrected</a:t>
            </a:r>
            <a:endParaRPr lang="en-US" sz="1100" dirty="0"/>
          </a:p>
        </p:txBody>
      </p:sp>
      <p:sp>
        <p:nvSpPr>
          <p:cNvPr id="28" name="Text 26"/>
          <p:cNvSpPr/>
          <p:nvPr/>
        </p:nvSpPr>
        <p:spPr>
          <a:xfrm>
            <a:off x="914400" y="4608576"/>
            <a:ext cx="4617720" cy="73152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"~364 Galois keys, ~10 GB" was wrong on both factors. Measured: 20 distinct Galois keys; derived key material 3.2–3.5 GB once the RNS digit count is included.</a:t>
            </a:r>
            <a:endParaRPr lang="en-US" sz="1050" dirty="0"/>
          </a:p>
        </p:txBody>
      </p:sp>
      <p:sp>
        <p:nvSpPr>
          <p:cNvPr id="29" name="Shape 27"/>
          <p:cNvSpPr/>
          <p:nvPr/>
        </p:nvSpPr>
        <p:spPr>
          <a:xfrm>
            <a:off x="6400800" y="4224528"/>
            <a:ext cx="5120640" cy="1188720"/>
          </a:xfrm>
          <a:prstGeom prst="rect">
            <a:avLst/>
          </a:prstGeom>
          <a:solidFill>
            <a:srgbClr val="FFFFFF"/>
          </a:solidFill>
          <a:ln w="12700">
            <a:solidFill>
              <a:srgbClr val="D3CCC0"/>
            </a:solidFill>
            <a:prstDash val="solid"/>
          </a:ln>
        </p:spPr>
      </p:sp>
      <p:sp>
        <p:nvSpPr>
          <p:cNvPr id="30" name="Text 28"/>
          <p:cNvSpPr/>
          <p:nvPr/>
        </p:nvSpPr>
        <p:spPr>
          <a:xfrm>
            <a:off x="6656832" y="4352544"/>
            <a:ext cx="4572000" cy="237744"/>
          </a:xfrm>
          <a:prstGeom prst="rect">
            <a:avLst/>
          </a:prstGeom>
          <a:noFill/>
          <a:ln/>
        </p:spPr>
        <p:txBody>
          <a:bodyPr wrap="square" lIns="0" tIns="0" rIns="0" bIns="0" rtlCol="0" anchor="ctr"/>
          <a:lstStyle/>
          <a:p>
            <a:pPr indent="0" marL="0">
              <a:buNone/>
            </a:pPr>
            <a:r>
              <a:rPr lang="en-US" sz="1100" b="1" dirty="0">
                <a:solidFill>
                  <a:srgbClr val="1C2530"/>
                </a:solidFill>
                <a:latin typeface="Calibri" pitchFamily="34" charset="0"/>
                <a:ea typeface="Calibri" pitchFamily="34" charset="-122"/>
                <a:cs typeface="Calibri" pitchFamily="34" charset="-120"/>
              </a:rPr>
              <a:t>A cost nobody had measured</a:t>
            </a:r>
            <a:endParaRPr lang="en-US" sz="1100" dirty="0"/>
          </a:p>
        </p:txBody>
      </p:sp>
      <p:sp>
        <p:nvSpPr>
          <p:cNvPr id="31" name="Text 29"/>
          <p:cNvSpPr/>
          <p:nvPr/>
        </p:nvSpPr>
        <p:spPr>
          <a:xfrm>
            <a:off x="6656832" y="4608576"/>
            <a:ext cx="4617720" cy="73152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GenSlotToCoeffMatFV, the layout-conversion precompute: ~4.0 GB, re-encoded once per RNS level (~24–25×) and held resident. Independent of any Galois-key tuning.</a:t>
            </a:r>
            <a:endParaRPr lang="en-US" sz="1050" dirty="0"/>
          </a:p>
        </p:txBody>
      </p:sp>
      <p:sp>
        <p:nvSpPr>
          <p:cNvPr id="32" name="Shape 30"/>
          <p:cNvSpPr/>
          <p:nvPr/>
        </p:nvSpPr>
        <p:spPr>
          <a:xfrm>
            <a:off x="10234879" y="402336"/>
            <a:ext cx="1298448" cy="219456"/>
          </a:xfrm>
          <a:prstGeom prst="rect">
            <a:avLst/>
          </a:prstGeom>
          <a:solidFill>
            <a:srgbClr val="1C2530"/>
          </a:solidFill>
          <a:ln w="9525">
            <a:solidFill>
              <a:srgbClr val="1C2530"/>
            </a:solidFill>
            <a:prstDash val="solid"/>
          </a:ln>
        </p:spPr>
      </p:sp>
      <p:sp>
        <p:nvSpPr>
          <p:cNvPr id="33" name="Text 31"/>
          <p:cNvSpPr/>
          <p:nvPr/>
        </p:nvSpPr>
        <p:spPr>
          <a:xfrm>
            <a:off x="10234879" y="402336"/>
            <a:ext cx="1298448"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CONFIRMED-RAN</a:t>
            </a:r>
            <a:endParaRPr lang="en-US" sz="750" dirty="0"/>
          </a:p>
        </p:txBody>
      </p:sp>
      <p:sp>
        <p:nvSpPr>
          <p:cNvPr id="34" name="Text 32"/>
          <p:cNvSpPr/>
          <p:nvPr/>
        </p:nvSpPr>
        <p:spPr>
          <a:xfrm>
            <a:off x="658368" y="5669280"/>
            <a:ext cx="10881360" cy="320040"/>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~7.5 GB of the alleged ~60 GB is accounted for. The remainder has never been measured — it is attributed, not observed.</a:t>
            </a:r>
            <a:endParaRPr lang="en-US" sz="1300" dirty="0"/>
          </a:p>
        </p:txBody>
      </p:sp>
      <p:sp>
        <p:nvSpPr>
          <p:cNvPr id="35" name="Text 33"/>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36" name="Text 34"/>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12 · SCALING ESTIMATE</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What the toy run suggests — and does not prove</a:t>
            </a:r>
            <a:endParaRPr lang="en-US" sz="2700" dirty="0"/>
          </a:p>
        </p:txBody>
      </p:sp>
      <p:sp>
        <p:nvSpPr>
          <p:cNvPr id="4" name="Shape 2"/>
          <p:cNvSpPr/>
          <p:nvPr/>
        </p:nvSpPr>
        <p:spPr>
          <a:xfrm>
            <a:off x="10454335" y="402336"/>
            <a:ext cx="1078992" cy="219456"/>
          </a:xfrm>
          <a:prstGeom prst="rect">
            <a:avLst/>
          </a:prstGeom>
          <a:solidFill>
            <a:srgbClr val="9A6A28"/>
          </a:solidFill>
          <a:ln w="9525">
            <a:solidFill>
              <a:srgbClr val="9A6A28"/>
            </a:solidFill>
            <a:prstDash val="solid"/>
          </a:ln>
        </p:spPr>
      </p:sp>
      <p:sp>
        <p:nvSpPr>
          <p:cNvPr id="5" name="Text 3"/>
          <p:cNvSpPr/>
          <p:nvPr/>
        </p:nvSpPr>
        <p:spPr>
          <a:xfrm>
            <a:off x="10454335" y="402336"/>
            <a:ext cx="1078992" cy="219456"/>
          </a:xfrm>
          <a:prstGeom prst="rect">
            <a:avLst/>
          </a:prstGeom>
          <a:noFill/>
          <a:ln/>
        </p:spPr>
        <p:txBody>
          <a:bodyPr wrap="square" lIns="0" tIns="0" rIns="0" bIns="0" rtlCol="0" anchor="ctr"/>
          <a:lstStyle/>
          <a:p>
            <a:pPr algn="ctr" indent="0" marL="0">
              <a:buNone/>
            </a:pPr>
            <a:r>
              <a:rPr lang="en-US" sz="750" b="1" spc="80" kern="0" dirty="0">
                <a:solidFill>
                  <a:srgbClr val="F6F3EC"/>
                </a:solidFill>
                <a:latin typeface="Calibri" pitchFamily="34" charset="0"/>
                <a:ea typeface="Calibri" pitchFamily="34" charset="-122"/>
                <a:cs typeface="Calibri" pitchFamily="34" charset="-120"/>
              </a:rPr>
              <a:t>HYPOTHESIS</a:t>
            </a:r>
            <a:endParaRPr lang="en-US" sz="750" dirty="0"/>
          </a:p>
        </p:txBody>
      </p:sp>
      <p:sp>
        <p:nvSpPr>
          <p:cNvPr id="6" name="Shape 4"/>
          <p:cNvSpPr/>
          <p:nvPr/>
        </p:nvSpPr>
        <p:spPr>
          <a:xfrm>
            <a:off x="658368" y="1481328"/>
            <a:ext cx="10881360" cy="1371600"/>
          </a:xfrm>
          <a:prstGeom prst="rect">
            <a:avLst/>
          </a:prstGeom>
          <a:solidFill>
            <a:srgbClr val="E4D8BF"/>
          </a:solidFill>
          <a:ln w="19050">
            <a:solidFill>
              <a:srgbClr val="9A6A28"/>
            </a:solidFill>
            <a:prstDash val="solid"/>
          </a:ln>
        </p:spPr>
      </p:sp>
      <p:sp>
        <p:nvSpPr>
          <p:cNvPr id="7" name="Text 5"/>
          <p:cNvSpPr/>
          <p:nvPr/>
        </p:nvSpPr>
        <p:spPr>
          <a:xfrm>
            <a:off x="978408" y="1691640"/>
            <a:ext cx="10241280" cy="822960"/>
          </a:xfrm>
          <a:prstGeom prst="rect">
            <a:avLst/>
          </a:prstGeom>
          <a:noFill/>
          <a:ln/>
        </p:spPr>
        <p:txBody>
          <a:bodyPr wrap="square" lIns="0" tIns="0" rIns="0" bIns="0" rtlCol="0" anchor="ctr"/>
          <a:lstStyle/>
          <a:p>
            <a:pPr indent="0" marL="0">
              <a:lnSpc>
                <a:spcPts val="2400"/>
              </a:lnSpc>
              <a:buNone/>
            </a:pPr>
            <a:r>
              <a:rPr lang="en-US" sz="1500" dirty="0">
                <a:solidFill>
                  <a:srgbClr val="1C2530"/>
                </a:solidFill>
                <a:latin typeface="Calibri" pitchFamily="34" charset="0"/>
                <a:ea typeface="Calibri" pitchFamily="34" charset="-122"/>
                <a:cs typeface="Calibri" pitchFamily="34" charset="-120"/>
              </a:rPr>
              <a:t>The toy run peaked at ~275 MB at LogN 10, with limbs held identical to LogN 16. Linear ring-scaling (64×) puts a full-scale peak in the region of 16–19 GB, not 60 GB.</a:t>
            </a:r>
            <a:endParaRPr lang="en-US" sz="1500" dirty="0"/>
          </a:p>
        </p:txBody>
      </p:sp>
      <p:sp>
        <p:nvSpPr>
          <p:cNvPr id="8" name="Text 6"/>
          <p:cNvSpPr/>
          <p:nvPr/>
        </p:nvSpPr>
        <p:spPr>
          <a:xfrm>
            <a:off x="978408" y="2487168"/>
            <a:ext cx="10241280" cy="256032"/>
          </a:xfrm>
          <a:prstGeom prst="rect">
            <a:avLst/>
          </a:prstGeom>
          <a:noFill/>
          <a:ln/>
        </p:spPr>
        <p:txBody>
          <a:bodyPr wrap="square" lIns="0" tIns="0" rIns="0" bIns="0" rtlCol="0" anchor="ctr"/>
          <a:lstStyle/>
          <a:p>
            <a:pPr indent="0" marL="0">
              <a:buNone/>
            </a:pPr>
            <a:r>
              <a:rPr lang="en-US" sz="1100" b="1" spc="80" kern="0" dirty="0">
                <a:solidFill>
                  <a:srgbClr val="9A6A28"/>
                </a:solidFill>
                <a:latin typeface="Calibri" pitchFamily="34" charset="0"/>
                <a:ea typeface="Calibri" pitchFamily="34" charset="-122"/>
                <a:cs typeface="Calibri" pitchFamily="34" charset="-120"/>
              </a:rPr>
              <a:t>THIS IS AN ESTIMATE AWAITING MEASUREMENT. It is not a result.</a:t>
            </a:r>
            <a:endParaRPr lang="en-US" sz="1100" dirty="0"/>
          </a:p>
        </p:txBody>
      </p:sp>
      <p:sp>
        <p:nvSpPr>
          <p:cNvPr id="9" name="Text 7"/>
          <p:cNvSpPr/>
          <p:nvPr/>
        </p:nvSpPr>
        <p:spPr>
          <a:xfrm>
            <a:off x="658368" y="3154680"/>
            <a:ext cx="5486400" cy="274320"/>
          </a:xfrm>
          <a:prstGeom prst="rect">
            <a:avLst/>
          </a:prstGeom>
          <a:noFill/>
          <a:ln/>
        </p:spPr>
        <p:txBody>
          <a:bodyPr wrap="square" lIns="0" tIns="0" rIns="0" bIns="0" rtlCol="0" anchor="ctr"/>
          <a:lstStyle/>
          <a:p>
            <a:pPr indent="0" marL="0">
              <a:buNone/>
            </a:pPr>
            <a:r>
              <a:rPr lang="en-US" sz="1200" b="1" dirty="0">
                <a:solidFill>
                  <a:srgbClr val="1C2530"/>
                </a:solidFill>
                <a:latin typeface="Calibri" pitchFamily="34" charset="0"/>
                <a:ea typeface="Calibri" pitchFamily="34" charset="-122"/>
                <a:cs typeface="Calibri" pitchFamily="34" charset="-120"/>
              </a:rPr>
              <a:t>If it holds, two consequences</a:t>
            </a:r>
            <a:endParaRPr lang="en-US" sz="1200" dirty="0"/>
          </a:p>
        </p:txBody>
      </p:sp>
      <p:sp>
        <p:nvSpPr>
          <p:cNvPr id="10" name="Shape 8"/>
          <p:cNvSpPr/>
          <p:nvPr/>
        </p:nvSpPr>
        <p:spPr>
          <a:xfrm>
            <a:off x="658368" y="3520440"/>
            <a:ext cx="5257800" cy="1051560"/>
          </a:xfrm>
          <a:prstGeom prst="rect">
            <a:avLst/>
          </a:prstGeom>
          <a:solidFill>
            <a:srgbClr val="FFFFFF"/>
          </a:solidFill>
          <a:ln w="12700">
            <a:solidFill>
              <a:srgbClr val="D3CCC0"/>
            </a:solidFill>
            <a:prstDash val="solid"/>
          </a:ln>
        </p:spPr>
      </p:sp>
      <p:sp>
        <p:nvSpPr>
          <p:cNvPr id="11" name="Text 9"/>
          <p:cNvSpPr/>
          <p:nvPr/>
        </p:nvSpPr>
        <p:spPr>
          <a:xfrm>
            <a:off x="932688" y="3703320"/>
            <a:ext cx="4709160" cy="292608"/>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A 32 GB instance suffices</a:t>
            </a:r>
            <a:endParaRPr lang="en-US" sz="1300" dirty="0"/>
          </a:p>
        </p:txBody>
      </p:sp>
      <p:sp>
        <p:nvSpPr>
          <p:cNvPr id="12" name="Text 10"/>
          <p:cNvSpPr/>
          <p:nvPr/>
        </p:nvSpPr>
        <p:spPr>
          <a:xfrm>
            <a:off x="932688" y="4041648"/>
            <a:ext cx="4709160" cy="365760"/>
          </a:xfrm>
          <a:prstGeom prst="rect">
            <a:avLst/>
          </a:prstGeom>
          <a:noFill/>
          <a:ln/>
        </p:spPr>
        <p:txBody>
          <a:bodyPr wrap="square" lIns="0" tIns="0" rIns="0" bIns="0" rtlCol="0" anchor="ctr"/>
          <a:lstStyle/>
          <a:p>
            <a:pPr indent="0" marL="0">
              <a:buNone/>
            </a:pPr>
            <a:r>
              <a:rPr lang="en-US" sz="1100" dirty="0">
                <a:solidFill>
                  <a:srgbClr val="3B4650"/>
                </a:solidFill>
                <a:latin typeface="Calibri" pitchFamily="34" charset="0"/>
                <a:ea typeface="Calibri" pitchFamily="34" charset="-122"/>
                <a:cs typeface="Calibri" pitchFamily="34" charset="-120"/>
              </a:rPr>
              <a:t>instead of the 128 GB instance currently targeted</a:t>
            </a:r>
            <a:endParaRPr lang="en-US" sz="1100" dirty="0"/>
          </a:p>
        </p:txBody>
      </p:sp>
      <p:sp>
        <p:nvSpPr>
          <p:cNvPr id="13" name="Shape 11"/>
          <p:cNvSpPr/>
          <p:nvPr/>
        </p:nvSpPr>
        <p:spPr>
          <a:xfrm>
            <a:off x="6281928" y="3520440"/>
            <a:ext cx="5257800" cy="1051560"/>
          </a:xfrm>
          <a:prstGeom prst="rect">
            <a:avLst/>
          </a:prstGeom>
          <a:solidFill>
            <a:srgbClr val="FFFFFF"/>
          </a:solidFill>
          <a:ln w="12700">
            <a:solidFill>
              <a:srgbClr val="D3CCC0"/>
            </a:solidFill>
            <a:prstDash val="solid"/>
          </a:ln>
        </p:spPr>
      </p:sp>
      <p:sp>
        <p:nvSpPr>
          <p:cNvPr id="14" name="Text 12"/>
          <p:cNvSpPr/>
          <p:nvPr/>
        </p:nvSpPr>
        <p:spPr>
          <a:xfrm>
            <a:off x="6556248" y="3703320"/>
            <a:ext cx="4709160" cy="292608"/>
          </a:xfrm>
          <a:prstGeom prst="rect">
            <a:avLst/>
          </a:prstGeom>
          <a:noFill/>
          <a:ln/>
        </p:spPr>
        <p:txBody>
          <a:bodyPr wrap="square" lIns="0" tIns="0" rIns="0" bIns="0" rtlCol="0" anchor="ctr"/>
          <a:lstStyle/>
          <a:p>
            <a:pPr indent="0" marL="0">
              <a:buNone/>
            </a:pPr>
            <a:r>
              <a:rPr lang="en-US" sz="1300" b="1" dirty="0">
                <a:solidFill>
                  <a:srgbClr val="1C2530"/>
                </a:solidFill>
                <a:latin typeface="Calibri" pitchFamily="34" charset="0"/>
                <a:ea typeface="Calibri" pitchFamily="34" charset="-122"/>
                <a:cs typeface="Calibri" pitchFamily="34" charset="-120"/>
              </a:rPr>
              <a:t>The 90 GB preflight gate needs revisiting</a:t>
            </a:r>
            <a:endParaRPr lang="en-US" sz="1300" dirty="0"/>
          </a:p>
        </p:txBody>
      </p:sp>
      <p:sp>
        <p:nvSpPr>
          <p:cNvPr id="15" name="Text 13"/>
          <p:cNvSpPr/>
          <p:nvPr/>
        </p:nvSpPr>
        <p:spPr>
          <a:xfrm>
            <a:off x="6556248" y="4041648"/>
            <a:ext cx="4709160" cy="365760"/>
          </a:xfrm>
          <a:prstGeom prst="rect">
            <a:avLst/>
          </a:prstGeom>
          <a:noFill/>
          <a:ln/>
        </p:spPr>
        <p:txBody>
          <a:bodyPr wrap="square" lIns="0" tIns="0" rIns="0" bIns="0" rtlCol="0" anchor="ctr"/>
          <a:lstStyle/>
          <a:p>
            <a:pPr indent="0" marL="0">
              <a:buNone/>
            </a:pPr>
            <a:r>
              <a:rPr lang="en-US" sz="1100" dirty="0">
                <a:solidFill>
                  <a:srgbClr val="3B4650"/>
                </a:solidFill>
                <a:latin typeface="Calibri" pitchFamily="34" charset="0"/>
                <a:ea typeface="Calibri" pitchFamily="34" charset="-122"/>
                <a:cs typeface="Calibri" pitchFamily="34" charset="-120"/>
              </a:rPr>
              <a:t>run_benchmark.sh currently refuses to start below it</a:t>
            </a:r>
            <a:endParaRPr lang="en-US" sz="1100" dirty="0"/>
          </a:p>
        </p:txBody>
      </p:sp>
      <p:sp>
        <p:nvSpPr>
          <p:cNvPr id="16" name="Text 14"/>
          <p:cNvSpPr/>
          <p:nvPr/>
        </p:nvSpPr>
        <p:spPr>
          <a:xfrm>
            <a:off x="658368" y="4937760"/>
            <a:ext cx="10881360" cy="457200"/>
          </a:xfrm>
          <a:prstGeom prst="rect">
            <a:avLst/>
          </a:prstGeom>
          <a:noFill/>
          <a:ln/>
        </p:spPr>
        <p:txBody>
          <a:bodyPr wrap="square" lIns="0" tIns="0" rIns="0" bIns="0" rtlCol="0" anchor="ctr"/>
          <a:lstStyle/>
          <a:p>
            <a:pPr indent="0" marL="0">
              <a:lnSpc>
                <a:spcPts val="2000"/>
              </a:lnSpc>
              <a:buNone/>
            </a:pPr>
            <a:r>
              <a:rPr lang="en-US" sz="1300" i="1" dirty="0">
                <a:solidFill>
                  <a:srgbClr val="3B4650"/>
                </a:solidFill>
                <a:latin typeface="Calibri" pitchFamily="34" charset="0"/>
                <a:ea typeface="Calibri" pitchFamily="34" charset="-122"/>
                <a:cs typeface="Calibri" pitchFamily="34" charset="-120"/>
              </a:rPr>
              <a:t>The way to replace this estimate with a number is checkpointed RSS instrumentation of hera.Crypt, per round — runnable today on the existing 15 GB host.</a:t>
            </a:r>
            <a:endParaRPr lang="en-US" sz="1300" dirty="0"/>
          </a:p>
        </p:txBody>
      </p:sp>
      <p:sp>
        <p:nvSpPr>
          <p:cNvPr id="17" name="Text 15"/>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18" name="Text 16"/>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13 · THE REAL TRADE</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The architectural cost, stated plainly</a:t>
            </a:r>
            <a:endParaRPr lang="en-US" sz="2700" dirty="0"/>
          </a:p>
        </p:txBody>
      </p:sp>
      <p:sp>
        <p:nvSpPr>
          <p:cNvPr id="4" name="Text 2"/>
          <p:cNvSpPr/>
          <p:nvPr/>
        </p:nvSpPr>
        <p:spPr>
          <a:xfrm>
            <a:off x="658368" y="1463040"/>
            <a:ext cx="10241280" cy="457200"/>
          </a:xfrm>
          <a:prstGeom prst="rect">
            <a:avLst/>
          </a:prstGeom>
          <a:noFill/>
          <a:ln/>
        </p:spPr>
        <p:txBody>
          <a:bodyPr wrap="square" lIns="0" tIns="0" rIns="0" bIns="0" rtlCol="0" anchor="ctr"/>
          <a:lstStyle/>
          <a:p>
            <a:pPr algn="l" indent="0" marL="0">
              <a:lnSpc>
                <a:spcPts val="2200"/>
              </a:lnSpc>
              <a:buNone/>
            </a:pPr>
            <a:r>
              <a:rPr lang="en-US" sz="1450" dirty="0">
                <a:solidFill>
                  <a:srgbClr val="3B4650"/>
                </a:solidFill>
                <a:latin typeface="Calibri" pitchFamily="34" charset="0"/>
                <a:ea typeface="Calibri" pitchFamily="34" charset="-122"/>
                <a:cs typeface="Calibri" pitchFamily="34" charset="-120"/>
              </a:rPr>
              <a:t>HalfBoot only functions at substantially larger encryption parameters. Adopting transciphering does not bolt a stage onto the front of the pipeline.</a:t>
            </a:r>
            <a:endParaRPr lang="en-US" sz="1450" dirty="0"/>
          </a:p>
        </p:txBody>
      </p:sp>
      <p:sp>
        <p:nvSpPr>
          <p:cNvPr id="5" name="Shape 3"/>
          <p:cNvSpPr/>
          <p:nvPr/>
        </p:nvSpPr>
        <p:spPr>
          <a:xfrm>
            <a:off x="658368" y="2194560"/>
            <a:ext cx="10881360" cy="868680"/>
          </a:xfrm>
          <a:prstGeom prst="rect">
            <a:avLst/>
          </a:prstGeom>
          <a:solidFill>
            <a:srgbClr val="1C2530"/>
          </a:solidFill>
          <a:ln w="12700">
            <a:solidFill>
              <a:srgbClr val="1C2530"/>
            </a:solidFill>
            <a:prstDash val="solid"/>
          </a:ln>
        </p:spPr>
      </p:sp>
      <p:sp>
        <p:nvSpPr>
          <p:cNvPr id="6" name="Text 4"/>
          <p:cNvSpPr/>
          <p:nvPr/>
        </p:nvSpPr>
        <p:spPr>
          <a:xfrm>
            <a:off x="978408" y="2286000"/>
            <a:ext cx="10241280" cy="685800"/>
          </a:xfrm>
          <a:prstGeom prst="rect">
            <a:avLst/>
          </a:prstGeom>
          <a:noFill/>
          <a:ln/>
        </p:spPr>
        <p:txBody>
          <a:bodyPr wrap="square" lIns="0" tIns="0" rIns="0" bIns="0" rtlCol="0" anchor="ctr"/>
          <a:lstStyle/>
          <a:p>
            <a:pPr indent="0" marL="0">
              <a:lnSpc>
                <a:spcPts val="2200"/>
              </a:lnSpc>
              <a:buNone/>
            </a:pPr>
            <a:r>
              <a:rPr lang="en-US" sz="1450" dirty="0">
                <a:solidFill>
                  <a:srgbClr val="F6F3EC"/>
                </a:solidFill>
                <a:latin typeface="Calibri" pitchFamily="34" charset="0"/>
                <a:ea typeface="Calibri" pitchFamily="34" charset="-122"/>
                <a:cs typeface="Calibri" pitchFamily="34" charset="-120"/>
              </a:rPr>
              <a:t>It moves the entire downstream computation — the fraud model included — onto a bigger and slower parameter setting. Every operation after the conversion becomes more expensive, permanently.</a:t>
            </a:r>
            <a:endParaRPr lang="en-US" sz="1450" dirty="0"/>
          </a:p>
        </p:txBody>
      </p:sp>
      <p:sp>
        <p:nvSpPr>
          <p:cNvPr id="7" name="Text 5"/>
          <p:cNvSpPr/>
          <p:nvPr/>
        </p:nvSpPr>
        <p:spPr>
          <a:xfrm>
            <a:off x="658368" y="3401568"/>
            <a:ext cx="7315200" cy="274320"/>
          </a:xfrm>
          <a:prstGeom prst="rect">
            <a:avLst/>
          </a:prstGeom>
          <a:noFill/>
          <a:ln/>
        </p:spPr>
        <p:txBody>
          <a:bodyPr wrap="square" lIns="0" tIns="0" rIns="0" bIns="0" rtlCol="0" anchor="ctr"/>
          <a:lstStyle/>
          <a:p>
            <a:pPr indent="0" marL="0">
              <a:buNone/>
            </a:pPr>
            <a:r>
              <a:rPr lang="en-US" sz="1200" b="1" dirty="0">
                <a:solidFill>
                  <a:srgbClr val="9A6A28"/>
                </a:solidFill>
                <a:latin typeface="Calibri" pitchFamily="34" charset="0"/>
                <a:ea typeface="Calibri" pitchFamily="34" charset="-122"/>
                <a:cs typeface="Calibri" pitchFamily="34" charset="-120"/>
              </a:rPr>
              <a:t>The counterargument — an open question, not an answer</a:t>
            </a:r>
            <a:endParaRPr lang="en-US" sz="1200" dirty="0"/>
          </a:p>
        </p:txBody>
      </p:sp>
      <p:sp>
        <p:nvSpPr>
          <p:cNvPr id="8" name="Shape 6"/>
          <p:cNvSpPr/>
          <p:nvPr/>
        </p:nvSpPr>
        <p:spPr>
          <a:xfrm>
            <a:off x="658368" y="3749040"/>
            <a:ext cx="10881360" cy="1051560"/>
          </a:xfrm>
          <a:prstGeom prst="rect">
            <a:avLst/>
          </a:prstGeom>
          <a:solidFill>
            <a:srgbClr val="EFE7D6"/>
          </a:solidFill>
          <a:ln w="12700">
            <a:solidFill>
              <a:srgbClr val="9A6A28"/>
            </a:solidFill>
            <a:prstDash val="dash"/>
          </a:ln>
        </p:spPr>
      </p:sp>
      <p:sp>
        <p:nvSpPr>
          <p:cNvPr id="9" name="Text 7"/>
          <p:cNvSpPr/>
          <p:nvPr/>
        </p:nvSpPr>
        <p:spPr>
          <a:xfrm>
            <a:off x="978408" y="3877056"/>
            <a:ext cx="10241280" cy="822960"/>
          </a:xfrm>
          <a:prstGeom prst="rect">
            <a:avLst/>
          </a:prstGeom>
          <a:noFill/>
          <a:ln/>
        </p:spPr>
        <p:txBody>
          <a:bodyPr wrap="square" lIns="0" tIns="0" rIns="0" bIns="0" rtlCol="0" anchor="ctr"/>
          <a:lstStyle/>
          <a:p>
            <a:pPr indent="0" marL="0">
              <a:lnSpc>
                <a:spcPts val="2000"/>
              </a:lnSpc>
              <a:buNone/>
            </a:pPr>
            <a:r>
              <a:rPr lang="en-US" sz="1300" dirty="0">
                <a:solidFill>
                  <a:srgbClr val="3B4650"/>
                </a:solidFill>
                <a:latin typeface="Calibri" pitchFamily="34" charset="0"/>
                <a:ea typeface="Calibri" pitchFamily="34" charset="-122"/>
                <a:cs typeface="Calibri" pitchFamily="34" charset="-120"/>
              </a:rPr>
              <a:t>The larger setting also has far more SIMD slots, so many transactions can be scored in one ciphertext. Whether the throughput gain outweighs the per-operation penalty is exactly what the pending benchmark would settle.</a:t>
            </a:r>
            <a:endParaRPr lang="en-US" sz="1300" dirty="0"/>
          </a:p>
        </p:txBody>
      </p:sp>
      <p:sp>
        <p:nvSpPr>
          <p:cNvPr id="10" name="Text 8"/>
          <p:cNvSpPr/>
          <p:nvPr/>
        </p:nvSpPr>
        <p:spPr>
          <a:xfrm>
            <a:off x="658368" y="5074920"/>
            <a:ext cx="10881360" cy="457200"/>
          </a:xfrm>
          <a:prstGeom prst="rect">
            <a:avLst/>
          </a:prstGeom>
          <a:noFill/>
          <a:ln/>
        </p:spPr>
        <p:txBody>
          <a:bodyPr wrap="square" lIns="0" tIns="0" rIns="0" bIns="0" rtlCol="0" anchor="ctr"/>
          <a:lstStyle/>
          <a:p>
            <a:pPr indent="0" marL="0">
              <a:lnSpc>
                <a:spcPts val="2000"/>
              </a:lnSpc>
              <a:buNone/>
            </a:pPr>
            <a:r>
              <a:rPr lang="en-US" sz="1300" b="1" dirty="0">
                <a:solidFill>
                  <a:srgbClr val="1C2530"/>
                </a:solidFill>
                <a:latin typeface="Calibri" pitchFamily="34" charset="0"/>
                <a:ea typeface="Calibri" pitchFamily="34" charset="-122"/>
                <a:cs typeface="Calibri" pitchFamily="34" charset="-120"/>
              </a:rPr>
              <a:t>Transciphering may be better understood as a throughput optimisation than a bandwidth optimisation. I am not asserting that — it is what the benchmark is for.</a:t>
            </a:r>
            <a:endParaRPr lang="en-US" sz="1300" dirty="0"/>
          </a:p>
        </p:txBody>
      </p:sp>
      <p:sp>
        <p:nvSpPr>
          <p:cNvPr id="11" name="Text 9"/>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12" name="Text 10"/>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658368" y="384048"/>
            <a:ext cx="7315200" cy="201168"/>
          </a:xfrm>
          <a:prstGeom prst="rect">
            <a:avLst/>
          </a:prstGeom>
          <a:noFill/>
          <a:ln/>
        </p:spPr>
        <p:txBody>
          <a:bodyPr wrap="square" lIns="0" tIns="0" rIns="0" bIns="0" rtlCol="0" anchor="ctr"/>
          <a:lstStyle/>
          <a:p>
            <a:pPr indent="0" marL="0">
              <a:buNone/>
            </a:pPr>
            <a:r>
              <a:rPr lang="en-US" sz="950" b="1" spc="160" kern="0" dirty="0">
                <a:solidFill>
                  <a:srgbClr val="9A6A28"/>
                </a:solidFill>
                <a:latin typeface="Calibri" pitchFamily="34" charset="0"/>
                <a:ea typeface="Calibri" pitchFamily="34" charset="-122"/>
                <a:cs typeface="Calibri" pitchFamily="34" charset="-120"/>
              </a:rPr>
              <a:t>14 · NEXT</a:t>
            </a:r>
            <a:endParaRPr lang="en-US" sz="950" dirty="0"/>
          </a:p>
        </p:txBody>
      </p:sp>
      <p:sp>
        <p:nvSpPr>
          <p:cNvPr id="3" name="Text 1"/>
          <p:cNvSpPr/>
          <p:nvPr/>
        </p:nvSpPr>
        <p:spPr>
          <a:xfrm>
            <a:off x="658368" y="603504"/>
            <a:ext cx="9509760" cy="566928"/>
          </a:xfrm>
          <a:prstGeom prst="rect">
            <a:avLst/>
          </a:prstGeom>
          <a:noFill/>
          <a:ln/>
        </p:spPr>
        <p:txBody>
          <a:bodyPr wrap="square" lIns="0" tIns="0" rIns="0" bIns="0" rtlCol="0" anchor="t"/>
          <a:lstStyle/>
          <a:p>
            <a:pPr algn="l" indent="0" marL="0">
              <a:buNone/>
            </a:pPr>
            <a:r>
              <a:rPr lang="en-US" sz="2700" dirty="0">
                <a:solidFill>
                  <a:srgbClr val="1C2530"/>
                </a:solidFill>
                <a:latin typeface="Century Schoolbook" pitchFamily="34" charset="0"/>
                <a:ea typeface="Century Schoolbook" pitchFamily="34" charset="-122"/>
                <a:cs typeface="Century Schoolbook" pitchFamily="34" charset="-120"/>
              </a:rPr>
              <a:t>Open items, in priority order</a:t>
            </a:r>
            <a:endParaRPr lang="en-US" sz="2700" dirty="0"/>
          </a:p>
        </p:txBody>
      </p:sp>
      <p:sp>
        <p:nvSpPr>
          <p:cNvPr id="4" name="Shape 2"/>
          <p:cNvSpPr/>
          <p:nvPr/>
        </p:nvSpPr>
        <p:spPr>
          <a:xfrm>
            <a:off x="658368" y="1508760"/>
            <a:ext cx="10881360" cy="1078992"/>
          </a:xfrm>
          <a:prstGeom prst="rect">
            <a:avLst/>
          </a:prstGeom>
          <a:solidFill>
            <a:srgbClr val="EFE7D6"/>
          </a:solidFill>
          <a:ln w="19050">
            <a:solidFill>
              <a:srgbClr val="9A6A28"/>
            </a:solidFill>
            <a:prstDash val="solid"/>
          </a:ln>
        </p:spPr>
      </p:sp>
      <p:sp>
        <p:nvSpPr>
          <p:cNvPr id="5" name="Text 3"/>
          <p:cNvSpPr/>
          <p:nvPr/>
        </p:nvSpPr>
        <p:spPr>
          <a:xfrm>
            <a:off x="932688" y="1783080"/>
            <a:ext cx="457200" cy="457200"/>
          </a:xfrm>
          <a:prstGeom prst="rect">
            <a:avLst/>
          </a:prstGeom>
          <a:noFill/>
          <a:ln/>
        </p:spPr>
        <p:txBody>
          <a:bodyPr wrap="square" lIns="0" tIns="0" rIns="0" bIns="0" rtlCol="0" anchor="ctr"/>
          <a:lstStyle/>
          <a:p>
            <a:pPr indent="0" marL="0">
              <a:buNone/>
            </a:pPr>
            <a:r>
              <a:rPr lang="en-US" sz="2200" dirty="0">
                <a:solidFill>
                  <a:srgbClr val="9A6A28"/>
                </a:solidFill>
                <a:latin typeface="Century Schoolbook" pitchFamily="34" charset="0"/>
                <a:ea typeface="Century Schoolbook" pitchFamily="34" charset="-122"/>
                <a:cs typeface="Century Schoolbook" pitchFamily="34" charset="-120"/>
              </a:rPr>
              <a:t>1</a:t>
            </a:r>
            <a:endParaRPr lang="en-US" sz="2200" dirty="0"/>
          </a:p>
        </p:txBody>
      </p:sp>
      <p:sp>
        <p:nvSpPr>
          <p:cNvPr id="6" name="Text 4"/>
          <p:cNvSpPr/>
          <p:nvPr/>
        </p:nvSpPr>
        <p:spPr>
          <a:xfrm>
            <a:off x="1527048" y="1709928"/>
            <a:ext cx="365760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Instrument hera.Crypt</a:t>
            </a:r>
            <a:endParaRPr lang="en-US" sz="1400" dirty="0"/>
          </a:p>
        </p:txBody>
      </p:sp>
      <p:sp>
        <p:nvSpPr>
          <p:cNvPr id="7" name="Text 5"/>
          <p:cNvSpPr/>
          <p:nvPr/>
        </p:nvSpPr>
        <p:spPr>
          <a:xfrm>
            <a:off x="1527048" y="2039112"/>
            <a:ext cx="7863840" cy="45720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Checkpointed RSS per round, on the existing 15 GB host. Replaces the 60 GB guess with a number. Runnable now, no new hardware.</a:t>
            </a:r>
            <a:endParaRPr lang="en-US" sz="1050" dirty="0"/>
          </a:p>
        </p:txBody>
      </p:sp>
      <p:sp>
        <p:nvSpPr>
          <p:cNvPr id="8" name="Shape 6"/>
          <p:cNvSpPr/>
          <p:nvPr/>
        </p:nvSpPr>
        <p:spPr>
          <a:xfrm>
            <a:off x="658368" y="2715768"/>
            <a:ext cx="10881360" cy="1078992"/>
          </a:xfrm>
          <a:prstGeom prst="rect">
            <a:avLst/>
          </a:prstGeom>
          <a:solidFill>
            <a:srgbClr val="FFFFFF"/>
          </a:solidFill>
          <a:ln w="12700">
            <a:solidFill>
              <a:srgbClr val="D3CCC0"/>
            </a:solidFill>
            <a:prstDash val="solid"/>
          </a:ln>
        </p:spPr>
      </p:sp>
      <p:sp>
        <p:nvSpPr>
          <p:cNvPr id="9" name="Text 7"/>
          <p:cNvSpPr/>
          <p:nvPr/>
        </p:nvSpPr>
        <p:spPr>
          <a:xfrm>
            <a:off x="932688" y="2990088"/>
            <a:ext cx="457200" cy="457200"/>
          </a:xfrm>
          <a:prstGeom prst="rect">
            <a:avLst/>
          </a:prstGeom>
          <a:noFill/>
          <a:ln/>
        </p:spPr>
        <p:txBody>
          <a:bodyPr wrap="square" lIns="0" tIns="0" rIns="0" bIns="0" rtlCol="0" anchor="ctr"/>
          <a:lstStyle/>
          <a:p>
            <a:pPr indent="0" marL="0">
              <a:buNone/>
            </a:pPr>
            <a:r>
              <a:rPr lang="en-US" sz="2200" dirty="0">
                <a:solidFill>
                  <a:srgbClr val="7C848D"/>
                </a:solidFill>
                <a:latin typeface="Century Schoolbook" pitchFamily="34" charset="0"/>
                <a:ea typeface="Century Schoolbook" pitchFamily="34" charset="-122"/>
                <a:cs typeface="Century Schoolbook" pitchFamily="34" charset="-120"/>
              </a:rPr>
              <a:t>2</a:t>
            </a:r>
            <a:endParaRPr lang="en-US" sz="2200" dirty="0"/>
          </a:p>
        </p:txBody>
      </p:sp>
      <p:sp>
        <p:nvSpPr>
          <p:cNvPr id="10" name="Text 8"/>
          <p:cNvSpPr/>
          <p:nvPr/>
        </p:nvSpPr>
        <p:spPr>
          <a:xfrm>
            <a:off x="1527048" y="2916936"/>
            <a:ext cx="365760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Toy-validate 80as</a:t>
            </a:r>
            <a:endParaRPr lang="en-US" sz="1400" dirty="0"/>
          </a:p>
        </p:txBody>
      </p:sp>
      <p:sp>
        <p:nvSpPr>
          <p:cNvPr id="11" name="Text 9"/>
          <p:cNvSpPr/>
          <p:nvPr/>
        </p:nvSpPr>
        <p:spPr>
          <a:xfrm>
            <a:off x="1527048" y="3246120"/>
            <a:ext cx="7863840" cy="45720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Correctness passed on 128as; the staged cloud target is 80as. They differ in round count and secret distribution, not just size.</a:t>
            </a:r>
            <a:endParaRPr lang="en-US" sz="1050" dirty="0"/>
          </a:p>
        </p:txBody>
      </p:sp>
      <p:sp>
        <p:nvSpPr>
          <p:cNvPr id="12" name="Shape 10"/>
          <p:cNvSpPr/>
          <p:nvPr/>
        </p:nvSpPr>
        <p:spPr>
          <a:xfrm>
            <a:off x="658368" y="3922776"/>
            <a:ext cx="10881360" cy="1078992"/>
          </a:xfrm>
          <a:prstGeom prst="rect">
            <a:avLst/>
          </a:prstGeom>
          <a:solidFill>
            <a:srgbClr val="FFFFFF"/>
          </a:solidFill>
          <a:ln w="12700">
            <a:solidFill>
              <a:srgbClr val="D3CCC0"/>
            </a:solidFill>
            <a:prstDash val="solid"/>
          </a:ln>
        </p:spPr>
      </p:sp>
      <p:sp>
        <p:nvSpPr>
          <p:cNvPr id="13" name="Text 11"/>
          <p:cNvSpPr/>
          <p:nvPr/>
        </p:nvSpPr>
        <p:spPr>
          <a:xfrm>
            <a:off x="932688" y="4197096"/>
            <a:ext cx="457200" cy="457200"/>
          </a:xfrm>
          <a:prstGeom prst="rect">
            <a:avLst/>
          </a:prstGeom>
          <a:noFill/>
          <a:ln/>
        </p:spPr>
        <p:txBody>
          <a:bodyPr wrap="square" lIns="0" tIns="0" rIns="0" bIns="0" rtlCol="0" anchor="ctr"/>
          <a:lstStyle/>
          <a:p>
            <a:pPr indent="0" marL="0">
              <a:buNone/>
            </a:pPr>
            <a:r>
              <a:rPr lang="en-US" sz="2200" dirty="0">
                <a:solidFill>
                  <a:srgbClr val="7C848D"/>
                </a:solidFill>
                <a:latin typeface="Century Schoolbook" pitchFamily="34" charset="0"/>
                <a:ea typeface="Century Schoolbook" pitchFamily="34" charset="-122"/>
                <a:cs typeface="Century Schoolbook" pitchFamily="34" charset="-120"/>
              </a:rPr>
              <a:t>3</a:t>
            </a:r>
            <a:endParaRPr lang="en-US" sz="2200" dirty="0"/>
          </a:p>
        </p:txBody>
      </p:sp>
      <p:sp>
        <p:nvSpPr>
          <p:cNvPr id="14" name="Text 12"/>
          <p:cNvSpPr/>
          <p:nvPr/>
        </p:nvSpPr>
        <p:spPr>
          <a:xfrm>
            <a:off x="1527048" y="4123944"/>
            <a:ext cx="365760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Run the cloud benchmark</a:t>
            </a:r>
            <a:endParaRPr lang="en-US" sz="1400" dirty="0"/>
          </a:p>
        </p:txBody>
      </p:sp>
      <p:sp>
        <p:nvSpPr>
          <p:cNvPr id="15" name="Text 13"/>
          <p:cNvSpPr/>
          <p:nvPr/>
        </p:nvSpPr>
        <p:spPr>
          <a:xfrm>
            <a:off x="1527048" y="4453128"/>
            <a:ext cx="7863840" cy="45720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scripts/cloud_transcipher_bench/ is scaffolded against BenchmarkRtFHera80as but has never been executed.</a:t>
            </a:r>
            <a:endParaRPr lang="en-US" sz="1050" dirty="0"/>
          </a:p>
        </p:txBody>
      </p:sp>
      <p:sp>
        <p:nvSpPr>
          <p:cNvPr id="16" name="Shape 14"/>
          <p:cNvSpPr/>
          <p:nvPr/>
        </p:nvSpPr>
        <p:spPr>
          <a:xfrm>
            <a:off x="658368" y="5129784"/>
            <a:ext cx="10881360" cy="1078992"/>
          </a:xfrm>
          <a:prstGeom prst="rect">
            <a:avLst/>
          </a:prstGeom>
          <a:solidFill>
            <a:srgbClr val="FFFFFF"/>
          </a:solidFill>
          <a:ln w="12700">
            <a:solidFill>
              <a:srgbClr val="D3CCC0"/>
            </a:solidFill>
            <a:prstDash val="solid"/>
          </a:ln>
        </p:spPr>
      </p:sp>
      <p:sp>
        <p:nvSpPr>
          <p:cNvPr id="17" name="Text 15"/>
          <p:cNvSpPr/>
          <p:nvPr/>
        </p:nvSpPr>
        <p:spPr>
          <a:xfrm>
            <a:off x="932688" y="5404104"/>
            <a:ext cx="457200" cy="457200"/>
          </a:xfrm>
          <a:prstGeom prst="rect">
            <a:avLst/>
          </a:prstGeom>
          <a:noFill/>
          <a:ln/>
        </p:spPr>
        <p:txBody>
          <a:bodyPr wrap="square" lIns="0" tIns="0" rIns="0" bIns="0" rtlCol="0" anchor="ctr"/>
          <a:lstStyle/>
          <a:p>
            <a:pPr indent="0" marL="0">
              <a:buNone/>
            </a:pPr>
            <a:r>
              <a:rPr lang="en-US" sz="2200" dirty="0">
                <a:solidFill>
                  <a:srgbClr val="7C848D"/>
                </a:solidFill>
                <a:latin typeface="Century Schoolbook" pitchFamily="34" charset="0"/>
                <a:ea typeface="Century Schoolbook" pitchFamily="34" charset="-122"/>
                <a:cs typeface="Century Schoolbook" pitchFamily="34" charset="-120"/>
              </a:rPr>
              <a:t>4</a:t>
            </a:r>
            <a:endParaRPr lang="en-US" sz="2200" dirty="0"/>
          </a:p>
        </p:txBody>
      </p:sp>
      <p:sp>
        <p:nvSpPr>
          <p:cNvPr id="18" name="Text 16"/>
          <p:cNvSpPr/>
          <p:nvPr/>
        </p:nvSpPr>
        <p:spPr>
          <a:xfrm>
            <a:off x="1527048" y="5330952"/>
            <a:ext cx="3657600" cy="292608"/>
          </a:xfrm>
          <a:prstGeom prst="rect">
            <a:avLst/>
          </a:prstGeom>
          <a:noFill/>
          <a:ln/>
        </p:spPr>
        <p:txBody>
          <a:bodyPr wrap="square" lIns="0" tIns="0" rIns="0" bIns="0" rtlCol="0" anchor="ctr"/>
          <a:lstStyle/>
          <a:p>
            <a:pPr indent="0" marL="0">
              <a:buNone/>
            </a:pPr>
            <a:r>
              <a:rPr lang="en-US" sz="1400" b="1" dirty="0">
                <a:solidFill>
                  <a:srgbClr val="1C2530"/>
                </a:solidFill>
                <a:latin typeface="Calibri" pitchFamily="34" charset="0"/>
                <a:ea typeface="Calibri" pitchFamily="34" charset="-122"/>
                <a:cs typeface="Calibri" pitchFamily="34" charset="-120"/>
              </a:rPr>
              <a:t>Fill artifacts/hhe_breakeven.json</a:t>
            </a:r>
            <a:endParaRPr lang="en-US" sz="1400" dirty="0"/>
          </a:p>
        </p:txBody>
      </p:sp>
      <p:sp>
        <p:nvSpPr>
          <p:cNvPr id="19" name="Text 17"/>
          <p:cNvSpPr/>
          <p:nvPr/>
        </p:nvSpPr>
        <p:spPr>
          <a:xfrm>
            <a:off x="1527048" y="5660136"/>
            <a:ext cx="7863840" cy="457200"/>
          </a:xfrm>
          <a:prstGeom prst="rect">
            <a:avLst/>
          </a:prstGeom>
          <a:noFill/>
          <a:ln/>
        </p:spPr>
        <p:txBody>
          <a:bodyPr wrap="square" lIns="0" tIns="0" rIns="0" bIns="0" rtlCol="0" anchor="ctr"/>
          <a:lstStyle/>
          <a:p>
            <a:pPr indent="0" marL="0">
              <a:lnSpc>
                <a:spcPts val="1500"/>
              </a:lnSpc>
              <a:buNone/>
            </a:pPr>
            <a:r>
              <a:rPr lang="en-US" sz="1050" dirty="0">
                <a:solidFill>
                  <a:srgbClr val="3B4650"/>
                </a:solidFill>
                <a:latin typeface="Calibri" pitchFamily="34" charset="0"/>
                <a:ea typeface="Calibri" pitchFamily="34" charset="-122"/>
                <a:cs typeface="Calibri" pitchFamily="34" charset="-120"/>
              </a:rPr>
              <a:t>All cells still PENDING. There is no end-to-end HHE-vs-plain-CKKS timing result yet.</a:t>
            </a:r>
            <a:endParaRPr lang="en-US" sz="1050" dirty="0"/>
          </a:p>
        </p:txBody>
      </p:sp>
      <p:sp>
        <p:nvSpPr>
          <p:cNvPr id="20" name="Text 18"/>
          <p:cNvSpPr/>
          <p:nvPr/>
        </p:nvSpPr>
        <p:spPr>
          <a:xfrm>
            <a:off x="8869680" y="1764792"/>
            <a:ext cx="2560320" cy="219456"/>
          </a:xfrm>
          <a:prstGeom prst="rect">
            <a:avLst/>
          </a:prstGeom>
          <a:noFill/>
          <a:ln/>
        </p:spPr>
        <p:txBody>
          <a:bodyPr wrap="square" lIns="0" tIns="0" rIns="0" bIns="0" rtlCol="0" anchor="ctr"/>
          <a:lstStyle/>
          <a:p>
            <a:pPr algn="r" indent="0" marL="0">
              <a:buNone/>
            </a:pPr>
            <a:r>
              <a:rPr lang="en-US" sz="950" b="1" i="1" dirty="0">
                <a:solidFill>
                  <a:srgbClr val="9A6A28"/>
                </a:solidFill>
                <a:latin typeface="Calibri" pitchFamily="34" charset="0"/>
                <a:ea typeface="Calibri" pitchFamily="34" charset="-122"/>
                <a:cs typeface="Calibri" pitchFamily="34" charset="-120"/>
              </a:rPr>
              <a:t>blocker for everything below it</a:t>
            </a:r>
            <a:endParaRPr lang="en-US" sz="950" dirty="0"/>
          </a:p>
        </p:txBody>
      </p:sp>
      <p:sp>
        <p:nvSpPr>
          <p:cNvPr id="21" name="Text 19"/>
          <p:cNvSpPr/>
          <p:nvPr/>
        </p:nvSpPr>
        <p:spPr>
          <a:xfrm>
            <a:off x="658368" y="6455664"/>
            <a:ext cx="5486400" cy="219456"/>
          </a:xfrm>
          <a:prstGeom prst="rect">
            <a:avLst/>
          </a:prstGeom>
          <a:noFill/>
          <a:ln/>
        </p:spPr>
        <p:txBody>
          <a:bodyPr wrap="square" lIns="0" tIns="0" rIns="0" bIns="0" rtlCol="0" anchor="ctr"/>
          <a:lstStyle/>
          <a:p>
            <a:pPr indent="0" marL="0">
              <a:buNone/>
            </a:pPr>
            <a:r>
              <a:rPr lang="en-US" sz="850" dirty="0">
                <a:solidFill>
                  <a:srgbClr val="7C848D"/>
                </a:solidFill>
                <a:latin typeface="Calibri" pitchFamily="34" charset="0"/>
                <a:ea typeface="Calibri" pitchFamily="34" charset="-122"/>
                <a:cs typeface="Calibri" pitchFamily="34" charset="-120"/>
              </a:rPr>
              <a:t>RtF transciphering — progress report</a:t>
            </a:r>
            <a:endParaRPr lang="en-US" sz="850" dirty="0"/>
          </a:p>
        </p:txBody>
      </p:sp>
      <p:sp>
        <p:nvSpPr>
          <p:cNvPr id="22" name="Text 20"/>
          <p:cNvSpPr/>
          <p:nvPr/>
        </p:nvSpPr>
        <p:spPr>
          <a:xfrm>
            <a:off x="11094415" y="6455664"/>
            <a:ext cx="438912" cy="219456"/>
          </a:xfrm>
          <a:prstGeom prst="rect">
            <a:avLst/>
          </a:prstGeom>
          <a:noFill/>
          <a:ln/>
        </p:spPr>
        <p:txBody>
          <a:bodyPr wrap="square" lIns="0" tIns="0" rIns="0" bIns="0" rtlCol="0" anchor="ctr"/>
          <a:lstStyle/>
          <a:p>
            <a:pPr algn="r" indent="0" marL="0">
              <a:buNone/>
            </a:pPr>
            <a:r>
              <a:rPr lang="en-US" sz="850" dirty="0">
                <a:solidFill>
                  <a:srgbClr val="7C848D"/>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C2530"/>
        </a:solidFill>
      </p:bgPr>
    </p:bg>
    <p:spTree>
      <p:nvGrpSpPr>
        <p:cNvPr id="1" name=""/>
        <p:cNvGrpSpPr/>
        <p:nvPr/>
      </p:nvGrpSpPr>
      <p:grpSpPr>
        <a:xfrm>
          <a:off x="0" y="0"/>
          <a:ext cx="0" cy="0"/>
          <a:chOff x="0" y="0"/>
          <a:chExt cx="0" cy="0"/>
        </a:xfrm>
      </p:grpSpPr>
      <p:sp>
        <p:nvSpPr>
          <p:cNvPr id="2" name="Text 0"/>
          <p:cNvSpPr/>
          <p:nvPr/>
        </p:nvSpPr>
        <p:spPr>
          <a:xfrm>
            <a:off x="658368" y="1143000"/>
            <a:ext cx="8229600" cy="548640"/>
          </a:xfrm>
          <a:prstGeom prst="rect">
            <a:avLst/>
          </a:prstGeom>
          <a:noFill/>
          <a:ln/>
        </p:spPr>
        <p:txBody>
          <a:bodyPr wrap="square" lIns="0" tIns="0" rIns="0" bIns="0" rtlCol="0" anchor="ctr"/>
          <a:lstStyle/>
          <a:p>
            <a:pPr indent="0" marL="0">
              <a:buNone/>
            </a:pPr>
            <a:r>
              <a:rPr lang="en-US" sz="3000" dirty="0">
                <a:solidFill>
                  <a:srgbClr val="F6F3EC"/>
                </a:solidFill>
                <a:latin typeface="Century Schoolbook" pitchFamily="34" charset="0"/>
                <a:ea typeface="Century Schoolbook" pitchFamily="34" charset="-122"/>
                <a:cs typeface="Century Schoolbook" pitchFamily="34" charset="-120"/>
              </a:rPr>
              <a:t>What I need to proceed</a:t>
            </a:r>
            <a:endParaRPr lang="en-US" sz="3000" dirty="0"/>
          </a:p>
        </p:txBody>
      </p:sp>
      <p:sp>
        <p:nvSpPr>
          <p:cNvPr id="3" name="Shape 1"/>
          <p:cNvSpPr/>
          <p:nvPr/>
        </p:nvSpPr>
        <p:spPr>
          <a:xfrm>
            <a:off x="658368" y="1874520"/>
            <a:ext cx="3730752" cy="0"/>
          </a:xfrm>
          <a:prstGeom prst="line">
            <a:avLst/>
          </a:prstGeom>
          <a:noFill/>
          <a:ln w="12700">
            <a:solidFill>
              <a:srgbClr val="5A6472"/>
            </a:solidFill>
            <a:prstDash val="solid"/>
          </a:ln>
        </p:spPr>
      </p:sp>
      <p:sp>
        <p:nvSpPr>
          <p:cNvPr id="4" name="Shape 2"/>
          <p:cNvSpPr/>
          <p:nvPr/>
        </p:nvSpPr>
        <p:spPr>
          <a:xfrm>
            <a:off x="658368" y="2286000"/>
            <a:ext cx="10881360" cy="1325880"/>
          </a:xfrm>
          <a:prstGeom prst="rect">
            <a:avLst/>
          </a:prstGeom>
          <a:solidFill>
            <a:srgbClr val="27313D"/>
          </a:solidFill>
          <a:ln w="12700">
            <a:solidFill>
              <a:srgbClr val="3D4855"/>
            </a:solidFill>
            <a:prstDash val="solid"/>
          </a:ln>
        </p:spPr>
      </p:sp>
      <p:sp>
        <p:nvSpPr>
          <p:cNvPr id="5" name="Text 3"/>
          <p:cNvSpPr/>
          <p:nvPr/>
        </p:nvSpPr>
        <p:spPr>
          <a:xfrm>
            <a:off x="1024128" y="2487168"/>
            <a:ext cx="1463040" cy="237744"/>
          </a:xfrm>
          <a:prstGeom prst="rect">
            <a:avLst/>
          </a:prstGeom>
          <a:noFill/>
          <a:ln/>
        </p:spPr>
        <p:txBody>
          <a:bodyPr wrap="square" lIns="0" tIns="0" rIns="0" bIns="0" rtlCol="0" anchor="ctr"/>
          <a:lstStyle/>
          <a:p>
            <a:pPr indent="0" marL="0">
              <a:buNone/>
            </a:pPr>
            <a:r>
              <a:rPr lang="en-US" sz="950" b="1" spc="140" kern="0" dirty="0">
                <a:solidFill>
                  <a:srgbClr val="9A6A28"/>
                </a:solidFill>
                <a:latin typeface="Calibri" pitchFamily="34" charset="0"/>
                <a:ea typeface="Calibri" pitchFamily="34" charset="-122"/>
                <a:cs typeface="Calibri" pitchFamily="34" charset="-120"/>
              </a:rPr>
              <a:t>FIRST</a:t>
            </a:r>
            <a:endParaRPr lang="en-US" sz="950" dirty="0"/>
          </a:p>
        </p:txBody>
      </p:sp>
      <p:sp>
        <p:nvSpPr>
          <p:cNvPr id="6" name="Text 4"/>
          <p:cNvSpPr/>
          <p:nvPr/>
        </p:nvSpPr>
        <p:spPr>
          <a:xfrm>
            <a:off x="1024128" y="2761488"/>
            <a:ext cx="4572000" cy="310896"/>
          </a:xfrm>
          <a:prstGeom prst="rect">
            <a:avLst/>
          </a:prstGeom>
          <a:noFill/>
          <a:ln/>
        </p:spPr>
        <p:txBody>
          <a:bodyPr wrap="square" lIns="0" tIns="0" rIns="0" bIns="0" rtlCol="0" anchor="ctr"/>
          <a:lstStyle/>
          <a:p>
            <a:pPr indent="0" marL="0">
              <a:buNone/>
            </a:pPr>
            <a:r>
              <a:rPr lang="en-US" sz="1550" b="1" dirty="0">
                <a:solidFill>
                  <a:srgbClr val="F6F3EC"/>
                </a:solidFill>
                <a:latin typeface="Calibri" pitchFamily="34" charset="0"/>
                <a:ea typeface="Calibri" pitchFamily="34" charset="-122"/>
                <a:cs typeface="Calibri" pitchFamily="34" charset="-120"/>
              </a:rPr>
              <a:t>Time, not hardware</a:t>
            </a:r>
            <a:endParaRPr lang="en-US" sz="1550" dirty="0"/>
          </a:p>
        </p:txBody>
      </p:sp>
      <p:sp>
        <p:nvSpPr>
          <p:cNvPr id="7" name="Text 5"/>
          <p:cNvSpPr/>
          <p:nvPr/>
        </p:nvSpPr>
        <p:spPr>
          <a:xfrm>
            <a:off x="5577840" y="2560320"/>
            <a:ext cx="5760720" cy="822960"/>
          </a:xfrm>
          <a:prstGeom prst="rect">
            <a:avLst/>
          </a:prstGeom>
          <a:noFill/>
          <a:ln/>
        </p:spPr>
        <p:txBody>
          <a:bodyPr wrap="square" lIns="0" tIns="0" rIns="0" bIns="0" rtlCol="0" anchor="ctr"/>
          <a:lstStyle/>
          <a:p>
            <a:pPr indent="0" marL="0">
              <a:lnSpc>
                <a:spcPts val="1700"/>
              </a:lnSpc>
              <a:buNone/>
            </a:pPr>
            <a:r>
              <a:rPr lang="en-US" sz="1150" dirty="0">
                <a:solidFill>
                  <a:srgbClr val="B9C0C8"/>
                </a:solidFill>
                <a:latin typeface="Calibri" pitchFamily="34" charset="0"/>
                <a:ea typeface="Calibri" pitchFamily="34" charset="-122"/>
                <a:cs typeface="Calibri" pitchFamily="34" charset="-120"/>
              </a:rPr>
              <a:t>Instrumentation of hera.Crypt runs on the 15 GB host I already have. I would like agreement that this comes before any cloud spend.</a:t>
            </a:r>
            <a:endParaRPr lang="en-US" sz="1150" dirty="0"/>
          </a:p>
        </p:txBody>
      </p:sp>
      <p:sp>
        <p:nvSpPr>
          <p:cNvPr id="8" name="Shape 6"/>
          <p:cNvSpPr/>
          <p:nvPr/>
        </p:nvSpPr>
        <p:spPr>
          <a:xfrm>
            <a:off x="658368" y="3886200"/>
            <a:ext cx="10881360" cy="1325880"/>
          </a:xfrm>
          <a:prstGeom prst="rect">
            <a:avLst/>
          </a:prstGeom>
          <a:solidFill>
            <a:srgbClr val="27313D"/>
          </a:solidFill>
          <a:ln w="12700">
            <a:solidFill>
              <a:srgbClr val="3D4855"/>
            </a:solidFill>
            <a:prstDash val="solid"/>
          </a:ln>
        </p:spPr>
      </p:sp>
      <p:sp>
        <p:nvSpPr>
          <p:cNvPr id="9" name="Text 7"/>
          <p:cNvSpPr/>
          <p:nvPr/>
        </p:nvSpPr>
        <p:spPr>
          <a:xfrm>
            <a:off x="1024128" y="4087368"/>
            <a:ext cx="1463040" cy="237744"/>
          </a:xfrm>
          <a:prstGeom prst="rect">
            <a:avLst/>
          </a:prstGeom>
          <a:noFill/>
          <a:ln/>
        </p:spPr>
        <p:txBody>
          <a:bodyPr wrap="square" lIns="0" tIns="0" rIns="0" bIns="0" rtlCol="0" anchor="ctr"/>
          <a:lstStyle/>
          <a:p>
            <a:pPr indent="0" marL="0">
              <a:buNone/>
            </a:pPr>
            <a:r>
              <a:rPr lang="en-US" sz="950" b="1" spc="140" kern="0" dirty="0">
                <a:solidFill>
                  <a:srgbClr val="9A6A28"/>
                </a:solidFill>
                <a:latin typeface="Calibri" pitchFamily="34" charset="0"/>
                <a:ea typeface="Calibri" pitchFamily="34" charset="-122"/>
                <a:cs typeface="Calibri" pitchFamily="34" charset="-120"/>
              </a:rPr>
              <a:t>THEN</a:t>
            </a:r>
            <a:endParaRPr lang="en-US" sz="950" dirty="0"/>
          </a:p>
        </p:txBody>
      </p:sp>
      <p:sp>
        <p:nvSpPr>
          <p:cNvPr id="10" name="Text 8"/>
          <p:cNvSpPr/>
          <p:nvPr/>
        </p:nvSpPr>
        <p:spPr>
          <a:xfrm>
            <a:off x="1024128" y="4361688"/>
            <a:ext cx="4572000" cy="310896"/>
          </a:xfrm>
          <a:prstGeom prst="rect">
            <a:avLst/>
          </a:prstGeom>
          <a:noFill/>
          <a:ln/>
        </p:spPr>
        <p:txBody>
          <a:bodyPr wrap="square" lIns="0" tIns="0" rIns="0" bIns="0" rtlCol="0" anchor="ctr"/>
          <a:lstStyle/>
          <a:p>
            <a:pPr indent="0" marL="0">
              <a:buNone/>
            </a:pPr>
            <a:r>
              <a:rPr lang="en-US" sz="1550" b="1" dirty="0">
                <a:solidFill>
                  <a:srgbClr val="F6F3EC"/>
                </a:solidFill>
                <a:latin typeface="Calibri" pitchFamily="34" charset="0"/>
                <a:ea typeface="Calibri" pitchFamily="34" charset="-122"/>
                <a:cs typeface="Calibri" pitchFamily="34" charset="-120"/>
              </a:rPr>
              <a:t>A right-sized instance</a:t>
            </a:r>
            <a:endParaRPr lang="en-US" sz="1550" dirty="0"/>
          </a:p>
        </p:txBody>
      </p:sp>
      <p:sp>
        <p:nvSpPr>
          <p:cNvPr id="11" name="Text 9"/>
          <p:cNvSpPr/>
          <p:nvPr/>
        </p:nvSpPr>
        <p:spPr>
          <a:xfrm>
            <a:off x="5577840" y="4160520"/>
            <a:ext cx="5760720" cy="822960"/>
          </a:xfrm>
          <a:prstGeom prst="rect">
            <a:avLst/>
          </a:prstGeom>
          <a:noFill/>
          <a:ln/>
        </p:spPr>
        <p:txBody>
          <a:bodyPr wrap="square" lIns="0" tIns="0" rIns="0" bIns="0" rtlCol="0" anchor="ctr"/>
          <a:lstStyle/>
          <a:p>
            <a:pPr indent="0" marL="0">
              <a:lnSpc>
                <a:spcPts val="1700"/>
              </a:lnSpc>
              <a:buNone/>
            </a:pPr>
            <a:r>
              <a:rPr lang="en-US" sz="1150" dirty="0">
                <a:solidFill>
                  <a:srgbClr val="B9C0C8"/>
                </a:solidFill>
                <a:latin typeface="Calibri" pitchFamily="34" charset="0"/>
                <a:ea typeface="Calibri" pitchFamily="34" charset="-122"/>
                <a:cs typeface="Calibri" pitchFamily="34" charset="-120"/>
              </a:rPr>
              <a:t>Once there is a measured peak, a 32 GB instance may be sufficient. I would rather provision against a number than against the 60 GB estimate.</a:t>
            </a:r>
            <a:endParaRPr lang="en-US" sz="1150" dirty="0"/>
          </a:p>
        </p:txBody>
      </p:sp>
      <p:sp>
        <p:nvSpPr>
          <p:cNvPr id="12" name="Text 10"/>
          <p:cNvSpPr/>
          <p:nvPr/>
        </p:nvSpPr>
        <p:spPr>
          <a:xfrm>
            <a:off x="658368" y="5669280"/>
            <a:ext cx="10881360" cy="365760"/>
          </a:xfrm>
          <a:prstGeom prst="rect">
            <a:avLst/>
          </a:prstGeom>
          <a:noFill/>
          <a:ln/>
        </p:spPr>
        <p:txBody>
          <a:bodyPr wrap="square" lIns="0" tIns="0" rIns="0" bIns="0" rtlCol="0" anchor="ctr"/>
          <a:lstStyle/>
          <a:p>
            <a:pPr indent="0" marL="0">
              <a:buNone/>
            </a:pPr>
            <a:r>
              <a:rPr lang="en-US" sz="1200" i="1" dirty="0">
                <a:solidFill>
                  <a:srgbClr val="E4D8BF"/>
                </a:solidFill>
                <a:latin typeface="Calibri" pitchFamily="34" charset="0"/>
                <a:ea typeface="Calibri" pitchFamily="34" charset="-122"/>
                <a:cs typeface="Calibri" pitchFamily="34" charset="-120"/>
              </a:rPr>
              <a:t>Nothing in this deck is blocked on a decision except the cloud instance — and that decision gets cheaper if we measure first.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RtF Transciphering — Progress Report</dc:title>
  <dc:subject>PptxGenJS Presentation</dc:subject>
  <dc:creator>Raghav Pathak</dc:creator>
  <cp:lastModifiedBy>Raghav Pathak</cp:lastModifiedBy>
  <cp:revision>1</cp:revision>
  <dcterms:created xsi:type="dcterms:W3CDTF">2026-08-03T19:03:19Z</dcterms:created>
  <dcterms:modified xsi:type="dcterms:W3CDTF">2026-08-03T19:03:19Z</dcterms:modified>
</cp:coreProperties>
</file>